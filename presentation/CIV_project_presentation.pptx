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benchmarks and improves multi-object tracking for aerial thermal wildlife monitoring on the BAMBI dataset, and builds a reproducible detection-training stack on the same data. Team: Yasin, Ghaderian, Danjuma, Buinitskii.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dataset, two parallel problems. Tracking: given boxes, how well can we keep a stable identity on each animal across a thermal video? Detection: can we produce those boxes automatically with a trained thermal detector? Notebooks 06-07 handle tracking; the detection_models stack handles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Thermal aerial footage breaks most assumptions RGB trackers rely on. No color or texture, so classic Re-ID color histograms are useless. Thermal flickering and camouflage make detections blink in and out. Severe class imbalance — Wild Boar dominates. And tiny top-down targets with little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BAMBI in numbers. The tracking subset is 21,509 frames across 240 video sequences. The detection split is 17,684 train, 2,868 val, 3,277 test images at 1024 by 1024, three classes. Around 91% of sampled training frames contain at least one animal; the rest are intentional background frames so the detector learns to say nothing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methodology decision. To measure pure tracking quality, the benchmark deliberately bypasses the detector and feeds human-verified ground-truth boxes straight into the trackers. This cleanly separates the two error sources: a bad MOTA number now reflects the tracker's association logic — Kalman prediction, IoU matching, Re-ID — and not a weak upstream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configurations, all run through the BoxMOT framework. SORT is the baseline — Kalman plus IoU only. ByteTrack also recovers low-confidence detections. BoT-SORT adds camera-motion compensation and better matching. And BoT-SORT plus ReID adds deep appearance features via our custom OSNet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highlight A. Deep Re-ID libraries assume 3-channel RGB and crash on single-channel thermal. We wrote an OSNetReIDWrapper to bridge Torchreid's OSNet into BoxMOT: intercept 1-channel patches, stack to pseudo-RGB, normalize to 256x128, run FP16 CUDA inference, and flatten embeddings back to CPU float32. This is what makes appearance-based tracking possible on colorless thermal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highlight B — the single most impactful engineering change. The bug: all 21,509 frames were initially fed as one continuous video, so Kalman states and track IDs bled across completely different captures, killing tracks at every scene cut. The fix: parse the filename prefix to group frames into their 240 real sequences and reset the trackers at each boundary. Mean track lifetime went from 4.0 to 36.3 frames — a 9x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highlight C. Thermal noise produces blips — micro-tracks from transient hot spots. A diagnostic temporal filter discards any track shorter than 60 consecutive frames, leaving 29 true long-term wildlife trajectories out of hundreds of noisy IDs. These surviving paths are drawn onto a master thermal canvas with OpenCV, and on the right, predicted boxes converge tightly on the white ground-truth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results. BoT-SORT + ReID with the sequence fix wins on every quality metric. Compared to the SORT baseline it more than doubles true positives, from 11,470 to 29,216, and lifts MOTA by about 2.6x, from 0.139 to 0.356. The custom bars show MOTA and IDF1 climbing steadily from SORT through ByteTrack and BoT-SORT to the ReID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talking point: read the numbers carefully. SORT's low ID-switch count is deceptive — it has few switches only because it dropped most tracks entirely. BoT-SORT's higher IDSW is the price of actually maintaining tracks across thousands of textureless frames. BoT-SORT keeps false positives near zero, about 4 across 21k frames. And the stubbornly high false-negative count across all trackers — about 32k even for the best — is the honest signature of how hard thermal flickering is. The ceiling is set by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detection stack is a small but opinionated MLOps setup. One joined uv virtual environment shared by all four models, torch pinned to CUDA 12.4 wheels for reproducibility. Dockerized persistent MLflow with two separate experiments. Zero-copy dataset views via symlinks — the 16 GB image set is never copied. Two resolutions, 640 and 1024, benchmarked and trained. OOM is recorded not fatal, each model in its own process. And train_all is a fault-tolerant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Detector speed benchmark on an RTX 4070, one epoch on a 500-image subset, extrapolated to the full epoch. YOLO26-s at 640 is about 4x faster than RF-DETR-L at 1024 and uses the least memory — the obvious choice for fast iteration. Going 640 to 1024 roughly doubles the cost for every architecture. RF-DETR's DINOv2 backbone is memory-hungry, which is why batch sizes are tuned per model to fit the 12 GB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Detector accuracy — four models trained to convergence, probing two axes: model size and input resolution, with RF-DETR-L adding a transformer DINOv2 architecture. Bigger model helps: YOLO26 s to l at 640 lifts mAP50 by 50%. Higher resolution helps: 640 to 1024 lifts it 25%. Architecture helps most: RF-DETR-L at 1024 is the best overall at 0.186, plus 39% over the best YOLO. But all scores are low — even the best sits under 0.2. Thermal aerial detection is genuinely hard, and this is the detection bottleneck that sets the 32k false-negative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detectors fail — the normalized confusion matrices make the failure mode unmistakable: the dominant error is missing the animal entirely, predicting background, not confusing one species for another. Stronger model plus resolution plus architecture steadily recover recall: wild boar 0.13 to 0.22 to 0.37, red deer 0.01 to 0.18 to 0.34. But Roe deer is never detected — zero in all three — the severe class imbalance showing up directly. There simply aren't enough Roe deer examples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Conclusions. Tracking: BoT-SORT + ReID with per-sequence resets is the best configuration at MOTA 0.356, IDF1 0.388, but every tracker hits the same 32k false-negative wall — a detection ceiling, not an association one. Detection: the ranking is unambiguous — RF-DETR-L 1024 beats YOLO26-l 1024 beats YOLO26-l 640 beats YOLO26-s 640. Model size, resolution and a transformer backbone each add accuracy, in that order. And the dominant failure is missed detections, with Roe deer effectively undetectable — class imbalance is the binding constraint,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and close. Attack the class imbalance directly — oversample or augment Roe and Red deer, or add a class-balanced loss; the confusion matrices say this is the highest-leverage fix. Push detection with heavy thermal-contrast augmentation and longer schedules, and finish the RF-DETR runs. And close the loop: feed the best trained detector into BoT-SORT + ReID to attack the 32k false-negative floor that ground-truth isolation exposed. 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200150"/>
            <a:ext cx="16002000" cy="9525"/>
          </a:xfrm>
          <a:prstGeom prst="rect">
            <a:avLst/>
          </a:prstGeom>
          <a:solidFill>
            <a:srgbClr val="1A1814"/>
          </a:solidFill>
          <a:ln/>
        </p:spPr>
      </p:sp>
      <p:sp>
        <p:nvSpPr>
          <p:cNvPr id="3" name="Text 1"/>
          <p:cNvSpPr/>
          <p:nvPr/>
        </p:nvSpPr>
        <p:spPr>
          <a:xfrm>
            <a:off x="1143000" y="838200"/>
            <a:ext cx="2774900" cy="209550"/>
          </a:xfrm>
          <a:prstGeom prst="rect">
            <a:avLst/>
          </a:prstGeom>
          <a:noFill/>
          <a:ln/>
        </p:spPr>
        <p:txBody>
          <a:bodyPr wrap="square" lIns="25400" tIns="25400" rIns="25400" bIns="25400" rtlCol="0" anchor="t">
            <a:normAutofit/>
          </a:bodyPr>
          <a:lstStyle/>
          <a:p>
            <a:pPr algn="l" indent="0" marL="0">
              <a:buNone/>
            </a:pPr>
            <a:r>
              <a:rPr lang="en-US" sz="1125" b="1" spc="247" kern="0" dirty="0">
                <a:solidFill>
                  <a:srgbClr val="1A1814"/>
                </a:solidFill>
                <a:latin typeface="Libre Franklin" pitchFamily="34" charset="0"/>
                <a:ea typeface="Libre Franklin" pitchFamily="34" charset="-122"/>
                <a:cs typeface="Libre Franklin" pitchFamily="34" charset="-120"/>
              </a:rPr>
              <a:t>FH OÖ HAGENBERG · CIV4</a:t>
            </a:r>
            <a:endParaRPr lang="en-US" sz="1125" dirty="0"/>
          </a:p>
        </p:txBody>
      </p:sp>
      <p:sp>
        <p:nvSpPr>
          <p:cNvPr id="4" name="Text 2"/>
          <p:cNvSpPr/>
          <p:nvPr/>
        </p:nvSpPr>
        <p:spPr>
          <a:xfrm>
            <a:off x="15300350" y="838200"/>
            <a:ext cx="2029115" cy="209550"/>
          </a:xfrm>
          <a:prstGeom prst="rect">
            <a:avLst/>
          </a:prstGeom>
          <a:noFill/>
          <a:ln/>
        </p:spPr>
        <p:txBody>
          <a:bodyPr wrap="square" lIns="25400" tIns="25400" rIns="25400" bIns="25400" rtlCol="0" anchor="t">
            <a:normAutofit/>
          </a:bodyPr>
          <a:lstStyle/>
          <a:p>
            <a:pPr algn="l" indent="0" marL="0">
              <a:buNone/>
            </a:pPr>
            <a:r>
              <a:rPr lang="en-US" sz="1125" b="1" spc="247" kern="0" dirty="0">
                <a:solidFill>
                  <a:srgbClr val="0F7A57"/>
                </a:solidFill>
                <a:latin typeface="Libre Franklin" pitchFamily="34" charset="0"/>
                <a:ea typeface="Libre Franklin" pitchFamily="34" charset="-122"/>
                <a:cs typeface="Libre Franklin" pitchFamily="34" charset="-120"/>
              </a:rPr>
              <a:t>COMPUTER VISION</a:t>
            </a:r>
            <a:endParaRPr lang="en-US" sz="1125" dirty="0"/>
          </a:p>
        </p:txBody>
      </p:sp>
      <p:sp>
        <p:nvSpPr>
          <p:cNvPr id="5" name="Shape 3"/>
          <p:cNvSpPr/>
          <p:nvPr/>
        </p:nvSpPr>
        <p:spPr>
          <a:xfrm>
            <a:off x="1143000" y="1247775"/>
            <a:ext cx="16002000" cy="28575"/>
          </a:xfrm>
          <a:prstGeom prst="rect">
            <a:avLst/>
          </a:prstGeom>
          <a:solidFill>
            <a:srgbClr val="1A1814"/>
          </a:solidFill>
          <a:ln/>
        </p:spPr>
      </p:sp>
      <p:sp>
        <p:nvSpPr>
          <p:cNvPr id="6" name="Text 4"/>
          <p:cNvSpPr/>
          <p:nvPr/>
        </p:nvSpPr>
        <p:spPr>
          <a:xfrm>
            <a:off x="1143000" y="3087142"/>
            <a:ext cx="1760220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THERMAL DETECTION &amp; MULTI-OBJECT TRACKING</a:t>
            </a:r>
            <a:endParaRPr lang="en-US" sz="1125" dirty="0"/>
          </a:p>
        </p:txBody>
      </p:sp>
      <p:sp>
        <p:nvSpPr>
          <p:cNvPr id="7" name="Text 5"/>
          <p:cNvSpPr/>
          <p:nvPr/>
        </p:nvSpPr>
        <p:spPr>
          <a:xfrm>
            <a:off x="1143000" y="3544342"/>
            <a:ext cx="16482060" cy="2437507"/>
          </a:xfrm>
          <a:prstGeom prst="rect">
            <a:avLst/>
          </a:prstGeom>
          <a:noFill/>
          <a:ln/>
        </p:spPr>
        <p:txBody>
          <a:bodyPr wrap="square" lIns="25400" tIns="25400" rIns="25400" bIns="25400" rtlCol="0" anchor="t">
            <a:normAutofit/>
          </a:bodyPr>
          <a:lstStyle/>
          <a:p>
            <a:pPr algn="l" indent="0" marL="0">
              <a:lnSpc>
                <a:spcPct val="94000"/>
              </a:lnSpc>
              <a:buNone/>
            </a:pPr>
            <a:r>
              <a:rPr lang="en-US" sz="10050" b="1" i="1" spc="-201" kern="0" dirty="0">
                <a:solidFill>
                  <a:srgbClr val="0F7A57"/>
                </a:solidFill>
                <a:latin typeface="Newsreader" pitchFamily="34" charset="0"/>
                <a:ea typeface="Newsreader" pitchFamily="34" charset="-122"/>
                <a:cs typeface="Newsreader" pitchFamily="34" charset="-120"/>
              </a:rPr>
              <a:t>BAMBI </a:t>
            </a:r>
            <a:pPr algn="l" indent="0" marL="0">
              <a:lnSpc>
                <a:spcPct val="94000"/>
              </a:lnSpc>
              <a:buNone/>
            </a:pPr>
            <a:r>
              <a:rPr lang="en-US" sz="10050" spc="-201" kern="0" dirty="0">
                <a:solidFill>
                  <a:srgbClr val="1A1814"/>
                </a:solidFill>
                <a:latin typeface="Newsreader" pitchFamily="34" charset="0"/>
                <a:ea typeface="Newsreader" pitchFamily="34" charset="-122"/>
                <a:cs typeface="Newsreader" pitchFamily="34" charset="-120"/>
              </a:rPr>
              <a:t>Wildlife Tracking</a:t>
            </a:r>
            <a:endParaRPr lang="en-US" sz="10050" dirty="0"/>
          </a:p>
        </p:txBody>
      </p:sp>
      <p:sp>
        <p:nvSpPr>
          <p:cNvPr id="8" name="Text 6"/>
          <p:cNvSpPr/>
          <p:nvPr/>
        </p:nvSpPr>
        <p:spPr>
          <a:xfrm>
            <a:off x="1143000" y="6324749"/>
            <a:ext cx="10595610" cy="903684"/>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514B40"/>
                </a:solidFill>
                <a:latin typeface="Newsreader" pitchFamily="34" charset="0"/>
                <a:ea typeface="Newsreader" pitchFamily="34" charset="-122"/>
                <a:cs typeface="Newsreader" pitchFamily="34" charset="-120"/>
              </a:rPr>
              <a:t>Multi-object tracking on </a:t>
            </a:r>
            <a:pPr algn="l" indent="0" marL="0">
              <a:lnSpc>
                <a:spcPct val="142000"/>
              </a:lnSpc>
              <a:buNone/>
            </a:pPr>
            <a:r>
              <a:rPr lang="en-US" sz="2400" i="1" dirty="0">
                <a:solidFill>
                  <a:srgbClr val="1A1814"/>
                </a:solidFill>
                <a:latin typeface="Newsreader" pitchFamily="34" charset="0"/>
                <a:ea typeface="Newsreader" pitchFamily="34" charset="-122"/>
                <a:cs typeface="Newsreader" pitchFamily="34" charset="-120"/>
              </a:rPr>
              <a:t>aerial thermal </a:t>
            </a:r>
            <a:pPr algn="l" indent="0" marL="0">
              <a:lnSpc>
                <a:spcPct val="142000"/>
              </a:lnSpc>
              <a:buNone/>
            </a:pPr>
            <a:r>
              <a:rPr lang="en-US" sz="2400" dirty="0">
                <a:solidFill>
                  <a:srgbClr val="514B40"/>
                </a:solidFill>
                <a:latin typeface="Newsreader" pitchFamily="34" charset="0"/>
                <a:ea typeface="Newsreader" pitchFamily="34" charset="-122"/>
                <a:cs typeface="Newsreader" pitchFamily="34" charset="-120"/>
              </a:rPr>
              <a:t>drone footage — plus a reproducible YOLO26 + RF-DETR detection stack on the same data.</a:t>
            </a:r>
            <a:endParaRPr lang="en-US" sz="2400" dirty="0"/>
          </a:p>
        </p:txBody>
      </p:sp>
      <p:sp>
        <p:nvSpPr>
          <p:cNvPr id="9" name="Shape 7"/>
          <p:cNvSpPr/>
          <p:nvPr/>
        </p:nvSpPr>
        <p:spPr>
          <a:xfrm>
            <a:off x="1143000" y="9001125"/>
            <a:ext cx="16002000" cy="9525"/>
          </a:xfrm>
          <a:prstGeom prst="rect">
            <a:avLst/>
          </a:prstGeom>
          <a:solidFill>
            <a:srgbClr val="1A1814"/>
          </a:solidFill>
          <a:ln/>
        </p:spPr>
      </p:sp>
      <p:sp>
        <p:nvSpPr>
          <p:cNvPr id="10" name="Text 8"/>
          <p:cNvSpPr/>
          <p:nvPr/>
        </p:nvSpPr>
        <p:spPr>
          <a:xfrm>
            <a:off x="1143000" y="9220200"/>
            <a:ext cx="4413729" cy="266700"/>
          </a:xfrm>
          <a:prstGeom prst="rect">
            <a:avLst/>
          </a:prstGeom>
          <a:noFill/>
          <a:ln/>
        </p:spPr>
        <p:txBody>
          <a:bodyPr wrap="square" lIns="25400" tIns="25400" rIns="25400" bIns="25400" rtlCol="0" anchor="t">
            <a:normAutofit/>
          </a:bodyPr>
          <a:lstStyle/>
          <a:p>
            <a:pPr algn="l" indent="0" marL="0">
              <a:buNone/>
            </a:pPr>
            <a:r>
              <a:rPr lang="en-US" sz="1800" i="1" dirty="0">
                <a:solidFill>
                  <a:srgbClr val="8A8373"/>
                </a:solidFill>
                <a:latin typeface="Newsreader" pitchFamily="34" charset="0"/>
                <a:ea typeface="Newsreader" pitchFamily="34" charset="-122"/>
                <a:cs typeface="Newsreader" pitchFamily="34" charset="-120"/>
              </a:rPr>
              <a:t>By </a:t>
            </a:r>
            <a:pPr algn="l" indent="0" marL="0">
              <a:buNone/>
            </a:pPr>
            <a:r>
              <a:rPr lang="en-US" sz="1800" dirty="0">
                <a:solidFill>
                  <a:srgbClr val="1A1814"/>
                </a:solidFill>
                <a:latin typeface="Newsreader" pitchFamily="34" charset="0"/>
                <a:ea typeface="Newsreader" pitchFamily="34" charset="-122"/>
                <a:cs typeface="Newsreader" pitchFamily="34" charset="-120"/>
              </a:rPr>
              <a:t>Yasin · Ghaderian · Danjuma · Buinitskii</a:t>
            </a:r>
            <a:endParaRPr lang="en-US" sz="1800" dirty="0"/>
          </a:p>
        </p:txBody>
      </p:sp>
      <p:sp>
        <p:nvSpPr>
          <p:cNvPr id="11" name="Text 9"/>
          <p:cNvSpPr/>
          <p:nvPr/>
        </p:nvSpPr>
        <p:spPr>
          <a:xfrm>
            <a:off x="13956729" y="9267825"/>
            <a:ext cx="3507098" cy="185738"/>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8A8373"/>
                </a:solidFill>
                <a:latin typeface="Libre Franklin" pitchFamily="34" charset="0"/>
                <a:ea typeface="Libre Franklin" pitchFamily="34" charset="-122"/>
                <a:cs typeface="Libre Franklin" pitchFamily="34" charset="-120"/>
              </a:rPr>
              <a:t>BOXMOT · YOLO26 · RF-DETR · MLFLOW</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0413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01</a:t>
            </a:r>
            <a:endParaRPr lang="en-US" sz="1125" dirty="0"/>
          </a:p>
        </p:txBody>
      </p:sp>
      <p:sp>
        <p:nvSpPr>
          <p:cNvPr id="4" name="Text 2"/>
          <p:cNvSpPr/>
          <p:nvPr/>
        </p:nvSpPr>
        <p:spPr>
          <a:xfrm>
            <a:off x="1504280"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7253" y="800100"/>
            <a:ext cx="109991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THE PITCH</a:t>
            </a:r>
            <a:endParaRPr lang="en-US" sz="1125" dirty="0"/>
          </a:p>
        </p:txBody>
      </p:sp>
      <p:sp>
        <p:nvSpPr>
          <p:cNvPr id="6" name="Text 4"/>
          <p:cNvSpPr/>
          <p:nvPr/>
        </p:nvSpPr>
        <p:spPr>
          <a:xfrm>
            <a:off x="1143000" y="1419225"/>
            <a:ext cx="1341120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spc="-72" kern="0" dirty="0">
                <a:solidFill>
                  <a:srgbClr val="1A1814"/>
                </a:solidFill>
                <a:latin typeface="Newsreader" pitchFamily="34" charset="0"/>
                <a:ea typeface="Newsreader" pitchFamily="34" charset="-122"/>
                <a:cs typeface="Newsreader" pitchFamily="34" charset="-120"/>
              </a:rPr>
              <a:t>Two parallel problems, </a:t>
            </a:r>
            <a:pPr algn="l" indent="0" marL="0">
              <a:lnSpc>
                <a:spcPct val="102000"/>
              </a:lnSpc>
              <a:buNone/>
            </a:pPr>
            <a:r>
              <a:rPr lang="en-US" sz="4800" i="1" spc="-72" kern="0" dirty="0">
                <a:solidFill>
                  <a:srgbClr val="0F7A57"/>
                </a:solidFill>
                <a:latin typeface="Newsreader" pitchFamily="34" charset="0"/>
                <a:ea typeface="Newsreader" pitchFamily="34" charset="-122"/>
                <a:cs typeface="Newsreader" pitchFamily="34" charset="-120"/>
              </a:rPr>
              <a:t>one dataset.</a:t>
            </a:r>
            <a:endParaRPr lang="en-US" sz="4800" dirty="0"/>
          </a:p>
        </p:txBody>
      </p:sp>
      <p:sp>
        <p:nvSpPr>
          <p:cNvPr id="7" name="Shape 5"/>
          <p:cNvSpPr/>
          <p:nvPr/>
        </p:nvSpPr>
        <p:spPr>
          <a:xfrm>
            <a:off x="1143000" y="4520952"/>
            <a:ext cx="7810500" cy="2486025"/>
          </a:xfrm>
          <a:prstGeom prst="roundRect">
            <a:avLst>
              <a:gd name="adj" fmla="val 5364"/>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8" name="Text 6"/>
          <p:cNvSpPr/>
          <p:nvPr/>
        </p:nvSpPr>
        <p:spPr>
          <a:xfrm>
            <a:off x="1571625" y="5040064"/>
            <a:ext cx="421109" cy="323850"/>
          </a:xfrm>
          <a:prstGeom prst="rect">
            <a:avLst/>
          </a:prstGeom>
          <a:noFill/>
          <a:ln/>
        </p:spPr>
        <p:txBody>
          <a:bodyPr wrap="square" lIns="25400" tIns="25400" rIns="25400" bIns="25400" rtlCol="0" anchor="t">
            <a:normAutofit/>
          </a:bodyPr>
          <a:lstStyle/>
          <a:p>
            <a:pPr algn="l" indent="0" marL="0">
              <a:buNone/>
            </a:pPr>
            <a:r>
              <a:rPr lang="en-US" sz="2250" b="1" i="1" dirty="0">
                <a:solidFill>
                  <a:srgbClr val="0F7A57"/>
                </a:solidFill>
                <a:latin typeface="Newsreader" pitchFamily="34" charset="0"/>
                <a:ea typeface="Newsreader" pitchFamily="34" charset="-122"/>
                <a:cs typeface="Newsreader" pitchFamily="34" charset="-120"/>
              </a:rPr>
              <a:t>01</a:t>
            </a:r>
            <a:endParaRPr lang="en-US" sz="2250" dirty="0"/>
          </a:p>
        </p:txBody>
      </p:sp>
      <p:sp>
        <p:nvSpPr>
          <p:cNvPr id="9" name="Text 7"/>
          <p:cNvSpPr/>
          <p:nvPr/>
        </p:nvSpPr>
        <p:spPr>
          <a:xfrm>
            <a:off x="2068934" y="4968627"/>
            <a:ext cx="1677219" cy="419100"/>
          </a:xfrm>
          <a:prstGeom prst="rect">
            <a:avLst/>
          </a:prstGeom>
          <a:noFill/>
          <a:ln/>
        </p:spPr>
        <p:txBody>
          <a:bodyPr wrap="square" lIns="25400" tIns="25400" rIns="25400" bIns="25400" rtlCol="0" anchor="t">
            <a:normAutofit/>
          </a:bodyPr>
          <a:lstStyle/>
          <a:p>
            <a:pPr algn="l" indent="0" marL="0">
              <a:buNone/>
            </a:pPr>
            <a:r>
              <a:rPr lang="en-US" sz="3000" b="1" dirty="0">
                <a:solidFill>
                  <a:srgbClr val="1A1814"/>
                </a:solidFill>
                <a:latin typeface="Newsreader" pitchFamily="34" charset="0"/>
                <a:ea typeface="Newsreader" pitchFamily="34" charset="-122"/>
                <a:cs typeface="Newsreader" pitchFamily="34" charset="-120"/>
              </a:rPr>
              <a:t>Tracking</a:t>
            </a:r>
            <a:endParaRPr lang="en-US" sz="3000" dirty="0"/>
          </a:p>
        </p:txBody>
      </p:sp>
      <p:sp>
        <p:nvSpPr>
          <p:cNvPr id="10" name="Text 8"/>
          <p:cNvSpPr/>
          <p:nvPr/>
        </p:nvSpPr>
        <p:spPr>
          <a:xfrm>
            <a:off x="1571625" y="5540127"/>
            <a:ext cx="7161848"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14B40"/>
                </a:solidFill>
                <a:latin typeface="Libre Franklin" pitchFamily="34" charset="0"/>
                <a:ea typeface="Libre Franklin" pitchFamily="34" charset="-122"/>
                <a:cs typeface="Libre Franklin" pitchFamily="34" charset="-120"/>
              </a:rPr>
              <a:t>Given boxes, how well can we keep a </a:t>
            </a:r>
            <a:pPr algn="l" indent="0" marL="0">
              <a:lnSpc>
                <a:spcPct val="150000"/>
              </a:lnSpc>
              <a:buNone/>
            </a:pPr>
            <a:r>
              <a:rPr lang="en-US" sz="1650" b="1" dirty="0">
                <a:solidFill>
                  <a:srgbClr val="1A1814"/>
                </a:solidFill>
                <a:latin typeface="Libre Franklin" pitchFamily="34" charset="0"/>
                <a:ea typeface="Libre Franklin" pitchFamily="34" charset="-122"/>
                <a:cs typeface="Libre Franklin" pitchFamily="34" charset="-120"/>
              </a:rPr>
              <a:t>stable identity </a:t>
            </a:r>
            <a:pPr algn="l" indent="0" marL="0">
              <a:lnSpc>
                <a:spcPct val="150000"/>
              </a:lnSpc>
              <a:buNone/>
            </a:pPr>
            <a:r>
              <a:rPr lang="en-US" sz="1650" dirty="0">
                <a:solidFill>
                  <a:srgbClr val="514B40"/>
                </a:solidFill>
                <a:latin typeface="Libre Franklin" pitchFamily="34" charset="0"/>
                <a:ea typeface="Libre Franklin" pitchFamily="34" charset="-122"/>
                <a:cs typeface="Libre Franklin" pitchFamily="34" charset="-120"/>
              </a:rPr>
              <a:t>on each animal across a thermal video?</a:t>
            </a:r>
            <a:endParaRPr lang="en-US" sz="1650" dirty="0"/>
          </a:p>
        </p:txBody>
      </p:sp>
      <p:sp>
        <p:nvSpPr>
          <p:cNvPr id="11" name="Text 9"/>
          <p:cNvSpPr/>
          <p:nvPr/>
        </p:nvSpPr>
        <p:spPr>
          <a:xfrm>
            <a:off x="1571625" y="6397377"/>
            <a:ext cx="7648575" cy="200025"/>
          </a:xfrm>
          <a:prstGeom prst="rect">
            <a:avLst/>
          </a:prstGeom>
          <a:noFill/>
          <a:ln/>
        </p:spPr>
        <p:txBody>
          <a:bodyPr wrap="square" lIns="25400" tIns="25400" rIns="25400" bIns="25400" rtlCol="0" anchor="t">
            <a:normAutofit/>
          </a:bodyPr>
          <a:lstStyle/>
          <a:p>
            <a:pPr algn="l" indent="0" marL="0">
              <a:buNone/>
            </a:pPr>
            <a:r>
              <a:rPr lang="en-US" sz="1050" b="1" spc="105" kern="0" dirty="0">
                <a:solidFill>
                  <a:srgbClr val="A89F8C"/>
                </a:solidFill>
                <a:latin typeface="Libre Franklin" pitchFamily="34" charset="0"/>
                <a:ea typeface="Libre Franklin" pitchFamily="34" charset="-122"/>
                <a:cs typeface="Libre Franklin" pitchFamily="34" charset="-120"/>
              </a:rPr>
              <a:t>NOTEBOOKS 06 – 07 · BOXMOT</a:t>
            </a:r>
            <a:endParaRPr lang="en-US" sz="1050" dirty="0"/>
          </a:p>
        </p:txBody>
      </p:sp>
      <p:sp>
        <p:nvSpPr>
          <p:cNvPr id="12" name="Shape 10"/>
          <p:cNvSpPr/>
          <p:nvPr/>
        </p:nvSpPr>
        <p:spPr>
          <a:xfrm>
            <a:off x="9334500" y="4520952"/>
            <a:ext cx="7810500" cy="2486025"/>
          </a:xfrm>
          <a:prstGeom prst="roundRect">
            <a:avLst>
              <a:gd name="adj" fmla="val 5364"/>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3" name="Text 11"/>
          <p:cNvSpPr/>
          <p:nvPr/>
        </p:nvSpPr>
        <p:spPr>
          <a:xfrm>
            <a:off x="9763125" y="5040064"/>
            <a:ext cx="421109" cy="323850"/>
          </a:xfrm>
          <a:prstGeom prst="rect">
            <a:avLst/>
          </a:prstGeom>
          <a:noFill/>
          <a:ln/>
        </p:spPr>
        <p:txBody>
          <a:bodyPr wrap="square" lIns="25400" tIns="25400" rIns="25400" bIns="25400" rtlCol="0" anchor="t">
            <a:normAutofit/>
          </a:bodyPr>
          <a:lstStyle/>
          <a:p>
            <a:pPr algn="l" indent="0" marL="0">
              <a:buNone/>
            </a:pPr>
            <a:r>
              <a:rPr lang="en-US" sz="2250" b="1" i="1" dirty="0">
                <a:solidFill>
                  <a:srgbClr val="0F7A57"/>
                </a:solidFill>
                <a:latin typeface="Newsreader" pitchFamily="34" charset="0"/>
                <a:ea typeface="Newsreader" pitchFamily="34" charset="-122"/>
                <a:cs typeface="Newsreader" pitchFamily="34" charset="-120"/>
              </a:rPr>
              <a:t>02</a:t>
            </a:r>
            <a:endParaRPr lang="en-US" sz="2250" dirty="0"/>
          </a:p>
        </p:txBody>
      </p:sp>
      <p:sp>
        <p:nvSpPr>
          <p:cNvPr id="14" name="Text 12"/>
          <p:cNvSpPr/>
          <p:nvPr/>
        </p:nvSpPr>
        <p:spPr>
          <a:xfrm>
            <a:off x="10260434" y="4968627"/>
            <a:ext cx="1846741" cy="419100"/>
          </a:xfrm>
          <a:prstGeom prst="rect">
            <a:avLst/>
          </a:prstGeom>
          <a:noFill/>
          <a:ln/>
        </p:spPr>
        <p:txBody>
          <a:bodyPr wrap="square" lIns="25400" tIns="25400" rIns="25400" bIns="25400" rtlCol="0" anchor="t">
            <a:normAutofit/>
          </a:bodyPr>
          <a:lstStyle/>
          <a:p>
            <a:pPr algn="l" indent="0" marL="0">
              <a:buNone/>
            </a:pPr>
            <a:r>
              <a:rPr lang="en-US" sz="3000" b="1" dirty="0">
                <a:solidFill>
                  <a:srgbClr val="1A1814"/>
                </a:solidFill>
                <a:latin typeface="Newsreader" pitchFamily="34" charset="0"/>
                <a:ea typeface="Newsreader" pitchFamily="34" charset="-122"/>
                <a:cs typeface="Newsreader" pitchFamily="34" charset="-120"/>
              </a:rPr>
              <a:t>Detection</a:t>
            </a:r>
            <a:endParaRPr lang="en-US" sz="3000" dirty="0"/>
          </a:p>
        </p:txBody>
      </p:sp>
      <p:sp>
        <p:nvSpPr>
          <p:cNvPr id="15" name="Text 13"/>
          <p:cNvSpPr/>
          <p:nvPr/>
        </p:nvSpPr>
        <p:spPr>
          <a:xfrm>
            <a:off x="9763125" y="5540127"/>
            <a:ext cx="7161848"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14B40"/>
                </a:solidFill>
                <a:latin typeface="Libre Franklin" pitchFamily="34" charset="0"/>
                <a:ea typeface="Libre Franklin" pitchFamily="34" charset="-122"/>
                <a:cs typeface="Libre Franklin" pitchFamily="34" charset="-120"/>
              </a:rPr>
              <a:t>Can we produce those boxes </a:t>
            </a:r>
            <a:pPr algn="l" indent="0" marL="0">
              <a:lnSpc>
                <a:spcPct val="150000"/>
              </a:lnSpc>
              <a:buNone/>
            </a:pPr>
            <a:r>
              <a:rPr lang="en-US" sz="1650" b="1" dirty="0">
                <a:solidFill>
                  <a:srgbClr val="1A1814"/>
                </a:solidFill>
                <a:latin typeface="Libre Franklin" pitchFamily="34" charset="0"/>
                <a:ea typeface="Libre Franklin" pitchFamily="34" charset="-122"/>
                <a:cs typeface="Libre Franklin" pitchFamily="34" charset="-120"/>
              </a:rPr>
              <a:t>automatically </a:t>
            </a:r>
            <a:pPr algn="l" indent="0" marL="0">
              <a:lnSpc>
                <a:spcPct val="150000"/>
              </a:lnSpc>
              <a:buNone/>
            </a:pPr>
            <a:r>
              <a:rPr lang="en-US" sz="1650" dirty="0">
                <a:solidFill>
                  <a:srgbClr val="514B40"/>
                </a:solidFill>
                <a:latin typeface="Libre Franklin" pitchFamily="34" charset="0"/>
                <a:ea typeface="Libre Franklin" pitchFamily="34" charset="-122"/>
                <a:cs typeface="Libre Franklin" pitchFamily="34" charset="-120"/>
              </a:rPr>
              <a:t>with a trained thermal detector?</a:t>
            </a:r>
            <a:endParaRPr lang="en-US" sz="1650" dirty="0"/>
          </a:p>
        </p:txBody>
      </p:sp>
      <p:sp>
        <p:nvSpPr>
          <p:cNvPr id="16" name="Text 14"/>
          <p:cNvSpPr/>
          <p:nvPr/>
        </p:nvSpPr>
        <p:spPr>
          <a:xfrm>
            <a:off x="9763125" y="6397377"/>
            <a:ext cx="7648575" cy="200025"/>
          </a:xfrm>
          <a:prstGeom prst="rect">
            <a:avLst/>
          </a:prstGeom>
          <a:noFill/>
          <a:ln/>
        </p:spPr>
        <p:txBody>
          <a:bodyPr wrap="square" lIns="25400" tIns="25400" rIns="25400" bIns="25400" rtlCol="0" anchor="t">
            <a:normAutofit/>
          </a:bodyPr>
          <a:lstStyle/>
          <a:p>
            <a:pPr algn="l" indent="0" marL="0">
              <a:buNone/>
            </a:pPr>
            <a:r>
              <a:rPr lang="en-US" sz="1050" b="1" spc="105" kern="0" dirty="0">
                <a:solidFill>
                  <a:srgbClr val="A89F8C"/>
                </a:solidFill>
                <a:latin typeface="Libre Franklin" pitchFamily="34" charset="0"/>
                <a:ea typeface="Libre Franklin" pitchFamily="34" charset="-122"/>
                <a:cs typeface="Libre Franklin" pitchFamily="34" charset="-120"/>
              </a:rPr>
              <a:t>DETECTION_MODELS/ · MLOPS</a:t>
            </a:r>
            <a:endParaRPr lang="en-US" sz="1050" dirty="0"/>
          </a:p>
        </p:txBody>
      </p:sp>
      <p:sp>
        <p:nvSpPr>
          <p:cNvPr id="17" name="Text 15"/>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18" name="Text 16"/>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085850"/>
            <a:ext cx="16002000" cy="9525"/>
          </a:xfrm>
          <a:prstGeom prst="rect">
            <a:avLst/>
          </a:prstGeom>
          <a:solidFill>
            <a:srgbClr val="1A1814"/>
          </a:solidFill>
          <a:ln/>
        </p:spPr>
      </p:sp>
      <p:sp>
        <p:nvSpPr>
          <p:cNvPr id="3" name="Text 1"/>
          <p:cNvSpPr/>
          <p:nvPr/>
        </p:nvSpPr>
        <p:spPr>
          <a:xfrm>
            <a:off x="1143000" y="762000"/>
            <a:ext cx="32340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02</a:t>
            </a:r>
            <a:endParaRPr lang="en-US" sz="1125" dirty="0"/>
          </a:p>
        </p:txBody>
      </p:sp>
      <p:sp>
        <p:nvSpPr>
          <p:cNvPr id="4" name="Text 2"/>
          <p:cNvSpPr/>
          <p:nvPr/>
        </p:nvSpPr>
        <p:spPr>
          <a:xfrm>
            <a:off x="1523554" y="7620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36527" y="762000"/>
            <a:ext cx="1747942"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THE CHALLENGE</a:t>
            </a:r>
            <a:endParaRPr lang="en-US" sz="1125" dirty="0"/>
          </a:p>
        </p:txBody>
      </p:sp>
      <p:sp>
        <p:nvSpPr>
          <p:cNvPr id="6" name="Text 4"/>
          <p:cNvSpPr/>
          <p:nvPr/>
        </p:nvSpPr>
        <p:spPr>
          <a:xfrm>
            <a:off x="1143000" y="1343025"/>
            <a:ext cx="1152525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67" kern="0" dirty="0">
                <a:solidFill>
                  <a:srgbClr val="1A1814"/>
                </a:solidFill>
                <a:latin typeface="Newsreader" pitchFamily="34" charset="0"/>
                <a:ea typeface="Newsreader" pitchFamily="34" charset="-122"/>
                <a:cs typeface="Newsreader" pitchFamily="34" charset="-120"/>
              </a:rPr>
              <a:t>Why thermal wildlife tracking is </a:t>
            </a:r>
            <a:pPr algn="l" indent="0" marL="0">
              <a:lnSpc>
                <a:spcPct val="100000"/>
              </a:lnSpc>
              <a:buNone/>
            </a:pPr>
            <a:r>
              <a:rPr lang="en-US" sz="4500" i="1" spc="-67" kern="0" dirty="0">
                <a:solidFill>
                  <a:srgbClr val="0F7A57"/>
                </a:solidFill>
                <a:latin typeface="Newsreader" pitchFamily="34" charset="0"/>
                <a:ea typeface="Newsreader" pitchFamily="34" charset="-122"/>
                <a:cs typeface="Newsreader" pitchFamily="34" charset="-120"/>
              </a:rPr>
              <a:t>hard</a:t>
            </a:r>
            <a:endParaRPr lang="en-US" sz="4500" dirty="0"/>
          </a:p>
        </p:txBody>
      </p:sp>
      <p:sp>
        <p:nvSpPr>
          <p:cNvPr id="7" name="Shape 5"/>
          <p:cNvSpPr/>
          <p:nvPr/>
        </p:nvSpPr>
        <p:spPr>
          <a:xfrm>
            <a:off x="1143000" y="3354884"/>
            <a:ext cx="8131001" cy="1268611"/>
          </a:xfrm>
          <a:prstGeom prst="roundRect">
            <a:avLst>
              <a:gd name="adj" fmla="val 9010"/>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8" name="Text 6"/>
          <p:cNvSpPr/>
          <p:nvPr/>
        </p:nvSpPr>
        <p:spPr>
          <a:xfrm>
            <a:off x="1438275" y="3593009"/>
            <a:ext cx="8294497" cy="276225"/>
          </a:xfrm>
          <a:prstGeom prst="rect">
            <a:avLst/>
          </a:prstGeom>
          <a:noFill/>
          <a:ln/>
        </p:spPr>
        <p:txBody>
          <a:bodyPr wrap="square" lIns="25400" tIns="25400" rIns="25400" bIns="25400" rtlCol="0" anchor="t">
            <a:normAutofit/>
          </a:bodyPr>
          <a:lstStyle/>
          <a:p>
            <a:pPr algn="l" indent="0" marL="0">
              <a:buNone/>
            </a:pPr>
            <a:r>
              <a:rPr lang="en-US" sz="1875" b="1" dirty="0">
                <a:solidFill>
                  <a:srgbClr val="1A1814"/>
                </a:solidFill>
                <a:latin typeface="Newsreader" pitchFamily="34" charset="0"/>
                <a:ea typeface="Newsreader" pitchFamily="34" charset="-122"/>
                <a:cs typeface="Newsreader" pitchFamily="34" charset="-120"/>
              </a:rPr>
              <a:t>No color, no texture</a:t>
            </a:r>
            <a:endParaRPr lang="en-US" sz="1875" dirty="0"/>
          </a:p>
        </p:txBody>
      </p:sp>
      <p:sp>
        <p:nvSpPr>
          <p:cNvPr id="9" name="Text 7"/>
          <p:cNvSpPr/>
          <p:nvPr/>
        </p:nvSpPr>
        <p:spPr>
          <a:xfrm>
            <a:off x="1438275" y="3888284"/>
            <a:ext cx="7766665"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Color-histogram Re-ID is useless on a grayscale heat blob — association falls back on motion, shape &amp; deep features.</a:t>
            </a:r>
            <a:endParaRPr lang="en-US" sz="1350" dirty="0"/>
          </a:p>
        </p:txBody>
      </p:sp>
      <p:sp>
        <p:nvSpPr>
          <p:cNvPr id="10" name="Shape 8"/>
          <p:cNvSpPr/>
          <p:nvPr/>
        </p:nvSpPr>
        <p:spPr>
          <a:xfrm>
            <a:off x="1143000" y="4794945"/>
            <a:ext cx="8131001" cy="1268611"/>
          </a:xfrm>
          <a:prstGeom prst="roundRect">
            <a:avLst>
              <a:gd name="adj" fmla="val 9010"/>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1" name="Text 9"/>
          <p:cNvSpPr/>
          <p:nvPr/>
        </p:nvSpPr>
        <p:spPr>
          <a:xfrm>
            <a:off x="1438275" y="5033070"/>
            <a:ext cx="8294497" cy="276225"/>
          </a:xfrm>
          <a:prstGeom prst="rect">
            <a:avLst/>
          </a:prstGeom>
          <a:noFill/>
          <a:ln/>
        </p:spPr>
        <p:txBody>
          <a:bodyPr wrap="square" lIns="25400" tIns="25400" rIns="25400" bIns="25400" rtlCol="0" anchor="t">
            <a:normAutofit/>
          </a:bodyPr>
          <a:lstStyle/>
          <a:p>
            <a:pPr algn="l" indent="0" marL="0">
              <a:buNone/>
            </a:pPr>
            <a:r>
              <a:rPr lang="en-US" sz="1875" b="1" dirty="0">
                <a:solidFill>
                  <a:srgbClr val="1A1814"/>
                </a:solidFill>
                <a:latin typeface="Newsreader" pitchFamily="34" charset="0"/>
                <a:ea typeface="Newsreader" pitchFamily="34" charset="-122"/>
                <a:cs typeface="Newsreader" pitchFamily="34" charset="-120"/>
              </a:rPr>
              <a:t>Thermal flicker &amp; camouflage</a:t>
            </a:r>
            <a:endParaRPr lang="en-US" sz="1875" dirty="0"/>
          </a:p>
        </p:txBody>
      </p:sp>
      <p:sp>
        <p:nvSpPr>
          <p:cNvPr id="12" name="Text 10"/>
          <p:cNvSpPr/>
          <p:nvPr/>
        </p:nvSpPr>
        <p:spPr>
          <a:xfrm>
            <a:off x="1438275" y="5328345"/>
            <a:ext cx="7766665"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Heat signatures fluctuate and blend into sun-warmed soil, so detections flicker in and out and tracks die.</a:t>
            </a:r>
            <a:endParaRPr lang="en-US" sz="1350" dirty="0"/>
          </a:p>
        </p:txBody>
      </p:sp>
      <p:sp>
        <p:nvSpPr>
          <p:cNvPr id="13" name="Shape 11"/>
          <p:cNvSpPr/>
          <p:nvPr/>
        </p:nvSpPr>
        <p:spPr>
          <a:xfrm>
            <a:off x="1143000" y="6235005"/>
            <a:ext cx="8131001" cy="1020068"/>
          </a:xfrm>
          <a:prstGeom prst="roundRect">
            <a:avLst>
              <a:gd name="adj" fmla="val 11205"/>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4" name="Text 12"/>
          <p:cNvSpPr/>
          <p:nvPr/>
        </p:nvSpPr>
        <p:spPr>
          <a:xfrm>
            <a:off x="1438275" y="6473130"/>
            <a:ext cx="8294497" cy="276225"/>
          </a:xfrm>
          <a:prstGeom prst="rect">
            <a:avLst/>
          </a:prstGeom>
          <a:noFill/>
          <a:ln/>
        </p:spPr>
        <p:txBody>
          <a:bodyPr wrap="square" lIns="25400" tIns="25400" rIns="25400" bIns="25400" rtlCol="0" anchor="t">
            <a:normAutofit/>
          </a:bodyPr>
          <a:lstStyle/>
          <a:p>
            <a:pPr algn="l" indent="0" marL="0">
              <a:buNone/>
            </a:pPr>
            <a:r>
              <a:rPr lang="en-US" sz="1875" b="1" dirty="0">
                <a:solidFill>
                  <a:srgbClr val="1A1814"/>
                </a:solidFill>
                <a:latin typeface="Newsreader" pitchFamily="34" charset="0"/>
                <a:ea typeface="Newsreader" pitchFamily="34" charset="-122"/>
                <a:cs typeface="Newsreader" pitchFamily="34" charset="-120"/>
              </a:rPr>
              <a:t>Severe class imbalance</a:t>
            </a:r>
            <a:endParaRPr lang="en-US" sz="1875" dirty="0"/>
          </a:p>
        </p:txBody>
      </p:sp>
      <p:sp>
        <p:nvSpPr>
          <p:cNvPr id="15" name="Text 13"/>
          <p:cNvSpPr/>
          <p:nvPr/>
        </p:nvSpPr>
        <p:spPr>
          <a:xfrm>
            <a:off x="1438275" y="6768405"/>
            <a:ext cx="829449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Wild Boar dominates; far fewer Roe / Red Deer across different body shapes.</a:t>
            </a:r>
            <a:endParaRPr lang="en-US" sz="1350" dirty="0"/>
          </a:p>
        </p:txBody>
      </p:sp>
      <p:sp>
        <p:nvSpPr>
          <p:cNvPr id="16" name="Shape 14"/>
          <p:cNvSpPr/>
          <p:nvPr/>
        </p:nvSpPr>
        <p:spPr>
          <a:xfrm>
            <a:off x="1143000" y="7426523"/>
            <a:ext cx="8131001" cy="1020068"/>
          </a:xfrm>
          <a:prstGeom prst="roundRect">
            <a:avLst>
              <a:gd name="adj" fmla="val 11205"/>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7" name="Text 15"/>
          <p:cNvSpPr/>
          <p:nvPr/>
        </p:nvSpPr>
        <p:spPr>
          <a:xfrm>
            <a:off x="1438275" y="7664648"/>
            <a:ext cx="8294497" cy="276225"/>
          </a:xfrm>
          <a:prstGeom prst="rect">
            <a:avLst/>
          </a:prstGeom>
          <a:noFill/>
          <a:ln/>
        </p:spPr>
        <p:txBody>
          <a:bodyPr wrap="square" lIns="25400" tIns="25400" rIns="25400" bIns="25400" rtlCol="0" anchor="t">
            <a:normAutofit/>
          </a:bodyPr>
          <a:lstStyle/>
          <a:p>
            <a:pPr algn="l" indent="0" marL="0">
              <a:buNone/>
            </a:pPr>
            <a:r>
              <a:rPr lang="en-US" sz="1875" b="1" dirty="0">
                <a:solidFill>
                  <a:srgbClr val="1A1814"/>
                </a:solidFill>
                <a:latin typeface="Newsreader" pitchFamily="34" charset="0"/>
                <a:ea typeface="Newsreader" pitchFamily="34" charset="-122"/>
                <a:cs typeface="Newsreader" pitchFamily="34" charset="-120"/>
              </a:rPr>
              <a:t>Tiny, top-down targets</a:t>
            </a:r>
            <a:endParaRPr lang="en-US" sz="1875" dirty="0"/>
          </a:p>
        </p:txBody>
      </p:sp>
      <p:sp>
        <p:nvSpPr>
          <p:cNvPr id="18" name="Text 16"/>
          <p:cNvSpPr/>
          <p:nvPr/>
        </p:nvSpPr>
        <p:spPr>
          <a:xfrm>
            <a:off x="1438275" y="7959923"/>
            <a:ext cx="829449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Nadir UAV perspective means small, low-detail objects.</a:t>
            </a:r>
            <a:endParaRPr lang="en-US" sz="1350" dirty="0"/>
          </a:p>
        </p:txBody>
      </p:sp>
      <p:sp>
        <p:nvSpPr>
          <p:cNvPr id="19" name="Shape 17"/>
          <p:cNvSpPr/>
          <p:nvPr/>
        </p:nvSpPr>
        <p:spPr>
          <a:xfrm>
            <a:off x="9788351" y="3289027"/>
            <a:ext cx="7356574" cy="4629150"/>
          </a:xfrm>
          <a:prstGeom prst="roundRect">
            <a:avLst>
              <a:gd name="adj" fmla="val 2469"/>
            </a:avLst>
          </a:prstGeom>
          <a:ln w="9525">
            <a:solidFill>
              <a:srgbClr val="1A1814"/>
            </a:solidFill>
            <a:prstDash val="solid"/>
          </a:ln>
        </p:spPr>
      </p:sp>
      <p:pic>
        <p:nvPicPr>
          <p:cNvPr id="20" name="Image 0" descr="preencoded.png">    </p:cNvPr>
          <p:cNvPicPr>
            <a:picLocks noChangeAspect="1"/>
          </p:cNvPicPr>
          <p:nvPr/>
        </p:nvPicPr>
        <p:blipFill>
          <a:blip r:embed="rId1"/>
          <a:srcRect l="0" r="0" t="18537" b="18537"/>
          <a:stretch/>
        </p:blipFill>
        <p:spPr>
          <a:xfrm>
            <a:off x="9788351" y="3289027"/>
            <a:ext cx="7356574" cy="4629150"/>
          </a:xfrm>
          <a:prstGeom prst="rect">
            <a:avLst/>
          </a:prstGeom>
        </p:spPr>
      </p:pic>
      <p:sp>
        <p:nvSpPr>
          <p:cNvPr id="21" name="Text 18"/>
          <p:cNvSpPr/>
          <p:nvPr/>
        </p:nvSpPr>
        <p:spPr>
          <a:xfrm>
            <a:off x="9788351" y="8032477"/>
            <a:ext cx="7577271" cy="518071"/>
          </a:xfrm>
          <a:prstGeom prst="rect">
            <a:avLst/>
          </a:prstGeom>
          <a:noFill/>
          <a:ln/>
        </p:spPr>
        <p:txBody>
          <a:bodyPr wrap="square" lIns="25400" tIns="25400" rIns="25400" bIns="25400" rtlCol="0" anchor="t">
            <a:normAutofit/>
          </a:bodyPr>
          <a:lstStyle/>
          <a:p>
            <a:pPr algn="l" indent="0" marL="0">
              <a:lnSpc>
                <a:spcPct val="140000"/>
              </a:lnSpc>
              <a:buNone/>
            </a:pPr>
            <a:r>
              <a:rPr lang="en-US" sz="1350" i="1" dirty="0">
                <a:solidFill>
                  <a:srgbClr val="8A8373"/>
                </a:solidFill>
                <a:latin typeface="Newsreader" pitchFamily="34" charset="0"/>
                <a:ea typeface="Newsreader" pitchFamily="34" charset="-122"/>
                <a:cs typeface="Newsreader" pitchFamily="34" charset="-120"/>
              </a:rPr>
              <a:t>A BAMBI thermal frame with a ground-truth box — note the low contrast and the single small target, bottom-center.</a:t>
            </a:r>
            <a:endParaRPr lang="en-US" sz="1350" dirty="0"/>
          </a:p>
        </p:txBody>
      </p:sp>
      <p:sp>
        <p:nvSpPr>
          <p:cNvPr id="22" name="Text 19"/>
          <p:cNvSpPr/>
          <p:nvPr/>
        </p:nvSpPr>
        <p:spPr>
          <a:xfrm>
            <a:off x="1143000" y="97488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23" name="Text 20"/>
          <p:cNvSpPr/>
          <p:nvPr/>
        </p:nvSpPr>
        <p:spPr>
          <a:xfrm>
            <a:off x="15177195" y="97488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27645"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03</a:t>
            </a:r>
            <a:endParaRPr lang="en-US" sz="1125" dirty="0"/>
          </a:p>
        </p:txBody>
      </p:sp>
      <p:sp>
        <p:nvSpPr>
          <p:cNvPr id="4" name="Text 2"/>
          <p:cNvSpPr/>
          <p:nvPr/>
        </p:nvSpPr>
        <p:spPr>
          <a:xfrm>
            <a:off x="1527795"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0768" y="800100"/>
            <a:ext cx="142846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THE DATASET</a:t>
            </a:r>
            <a:endParaRPr lang="en-US" sz="1125" dirty="0"/>
          </a:p>
        </p:txBody>
      </p:sp>
      <p:sp>
        <p:nvSpPr>
          <p:cNvPr id="6" name="Text 4"/>
          <p:cNvSpPr/>
          <p:nvPr/>
        </p:nvSpPr>
        <p:spPr>
          <a:xfrm>
            <a:off x="1143000" y="1381125"/>
            <a:ext cx="17602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67" kern="0" dirty="0">
                <a:solidFill>
                  <a:srgbClr val="1A1814"/>
                </a:solidFill>
                <a:latin typeface="Newsreader" pitchFamily="34" charset="0"/>
                <a:ea typeface="Newsreader" pitchFamily="34" charset="-122"/>
                <a:cs typeface="Newsreader" pitchFamily="34" charset="-120"/>
              </a:rPr>
              <a:t>BAMBI, in numbers</a:t>
            </a:r>
            <a:endParaRPr lang="en-US" sz="4500" dirty="0"/>
          </a:p>
        </p:txBody>
      </p:sp>
      <p:sp>
        <p:nvSpPr>
          <p:cNvPr id="7" name="Shape 5"/>
          <p:cNvSpPr/>
          <p:nvPr/>
        </p:nvSpPr>
        <p:spPr>
          <a:xfrm>
            <a:off x="1143000" y="2371725"/>
            <a:ext cx="3814763" cy="1701105"/>
          </a:xfrm>
          <a:prstGeom prst="roundRect">
            <a:avLst>
              <a:gd name="adj" fmla="val 783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8" name="Text 6"/>
          <p:cNvSpPr/>
          <p:nvPr/>
        </p:nvSpPr>
        <p:spPr>
          <a:xfrm>
            <a:off x="1457325" y="2705100"/>
            <a:ext cx="3504724" cy="562868"/>
          </a:xfrm>
          <a:prstGeom prst="rect">
            <a:avLst/>
          </a:prstGeom>
          <a:noFill/>
          <a:ln/>
        </p:spPr>
        <p:txBody>
          <a:bodyPr wrap="square" lIns="25400" tIns="25400" rIns="25400" bIns="25400" rtlCol="0" anchor="t">
            <a:normAutofit/>
          </a:bodyPr>
          <a:lstStyle/>
          <a:p>
            <a:pPr algn="l" indent="0" marL="0">
              <a:lnSpc>
                <a:spcPct val="95000"/>
              </a:lnSpc>
              <a:buNone/>
            </a:pPr>
            <a:r>
              <a:rPr lang="en-US" sz="4350" b="1" dirty="0">
                <a:solidFill>
                  <a:srgbClr val="0F7A57"/>
                </a:solidFill>
                <a:latin typeface="Newsreader" pitchFamily="34" charset="0"/>
                <a:ea typeface="Newsreader" pitchFamily="34" charset="-122"/>
                <a:cs typeface="Newsreader" pitchFamily="34" charset="-120"/>
              </a:rPr>
              <a:t>21,509</a:t>
            </a:r>
            <a:endParaRPr lang="en-US" sz="4350" dirty="0"/>
          </a:p>
        </p:txBody>
      </p:sp>
      <p:sp>
        <p:nvSpPr>
          <p:cNvPr id="9" name="Text 7"/>
          <p:cNvSpPr/>
          <p:nvPr/>
        </p:nvSpPr>
        <p:spPr>
          <a:xfrm>
            <a:off x="1457325" y="3344168"/>
            <a:ext cx="3504724"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6E6757"/>
                </a:solidFill>
                <a:latin typeface="Libre Franklin" pitchFamily="34" charset="0"/>
                <a:ea typeface="Libre Franklin" pitchFamily="34" charset="-122"/>
                <a:cs typeface="Libre Franklin" pitchFamily="34" charset="-120"/>
              </a:rPr>
              <a:t>FRAMES TRACKED</a:t>
            </a:r>
            <a:endParaRPr lang="en-US" sz="1050" dirty="0"/>
          </a:p>
        </p:txBody>
      </p:sp>
      <p:sp>
        <p:nvSpPr>
          <p:cNvPr id="10" name="Text 8"/>
          <p:cNvSpPr/>
          <p:nvPr/>
        </p:nvSpPr>
        <p:spPr>
          <a:xfrm>
            <a:off x="1457325" y="3544193"/>
            <a:ext cx="3504724" cy="233362"/>
          </a:xfrm>
          <a:prstGeom prst="rect">
            <a:avLst/>
          </a:prstGeom>
          <a:noFill/>
          <a:ln/>
        </p:spPr>
        <p:txBody>
          <a:bodyPr wrap="square" lIns="25400" tIns="25400" rIns="25400" bIns="25400" rtlCol="0" anchor="t">
            <a:normAutofit/>
          </a:bodyPr>
          <a:lstStyle/>
          <a:p>
            <a:pPr algn="l" indent="0" marL="0">
              <a:buNone/>
            </a:pPr>
            <a:r>
              <a:rPr lang="en-US" sz="1275" dirty="0">
                <a:solidFill>
                  <a:srgbClr val="8A8373"/>
                </a:solidFill>
                <a:latin typeface="Libre Franklin" pitchFamily="34" charset="0"/>
                <a:ea typeface="Libre Franklin" pitchFamily="34" charset="-122"/>
                <a:cs typeface="Libre Franklin" pitchFamily="34" charset="-120"/>
              </a:rPr>
              <a:t>across 240 sequences</a:t>
            </a:r>
            <a:endParaRPr lang="en-US" sz="1275" dirty="0"/>
          </a:p>
        </p:txBody>
      </p:sp>
      <p:sp>
        <p:nvSpPr>
          <p:cNvPr id="11" name="Shape 9"/>
          <p:cNvSpPr/>
          <p:nvPr/>
        </p:nvSpPr>
        <p:spPr>
          <a:xfrm>
            <a:off x="5205413" y="2371725"/>
            <a:ext cx="3814763" cy="1701105"/>
          </a:xfrm>
          <a:prstGeom prst="roundRect">
            <a:avLst>
              <a:gd name="adj" fmla="val 783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2" name="Text 10"/>
          <p:cNvSpPr/>
          <p:nvPr/>
        </p:nvSpPr>
        <p:spPr>
          <a:xfrm>
            <a:off x="5519738" y="2705100"/>
            <a:ext cx="3504724" cy="562868"/>
          </a:xfrm>
          <a:prstGeom prst="rect">
            <a:avLst/>
          </a:prstGeom>
          <a:noFill/>
          <a:ln/>
        </p:spPr>
        <p:txBody>
          <a:bodyPr wrap="square" lIns="25400" tIns="25400" rIns="25400" bIns="25400" rtlCol="0" anchor="t">
            <a:normAutofit/>
          </a:bodyPr>
          <a:lstStyle/>
          <a:p>
            <a:pPr algn="l" indent="0" marL="0">
              <a:lnSpc>
                <a:spcPct val="95000"/>
              </a:lnSpc>
              <a:buNone/>
            </a:pPr>
            <a:r>
              <a:rPr lang="en-US" sz="4350" b="1" dirty="0">
                <a:solidFill>
                  <a:srgbClr val="0F7A57"/>
                </a:solidFill>
                <a:latin typeface="Newsreader" pitchFamily="34" charset="0"/>
                <a:ea typeface="Newsreader" pitchFamily="34" charset="-122"/>
                <a:cs typeface="Newsreader" pitchFamily="34" charset="-120"/>
              </a:rPr>
              <a:t>240</a:t>
            </a:r>
            <a:endParaRPr lang="en-US" sz="4350" dirty="0"/>
          </a:p>
        </p:txBody>
      </p:sp>
      <p:sp>
        <p:nvSpPr>
          <p:cNvPr id="13" name="Text 11"/>
          <p:cNvSpPr/>
          <p:nvPr/>
        </p:nvSpPr>
        <p:spPr>
          <a:xfrm>
            <a:off x="5519738" y="3344168"/>
            <a:ext cx="3504724"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6E6757"/>
                </a:solidFill>
                <a:latin typeface="Libre Franklin" pitchFamily="34" charset="0"/>
                <a:ea typeface="Libre Franklin" pitchFamily="34" charset="-122"/>
                <a:cs typeface="Libre Franklin" pitchFamily="34" charset="-120"/>
              </a:rPr>
              <a:t>VIDEO SEQUENCES</a:t>
            </a:r>
            <a:endParaRPr lang="en-US" sz="1050" dirty="0"/>
          </a:p>
        </p:txBody>
      </p:sp>
      <p:sp>
        <p:nvSpPr>
          <p:cNvPr id="14" name="Text 12"/>
          <p:cNvSpPr/>
          <p:nvPr/>
        </p:nvSpPr>
        <p:spPr>
          <a:xfrm>
            <a:off x="5519738" y="3544193"/>
            <a:ext cx="3504724" cy="233362"/>
          </a:xfrm>
          <a:prstGeom prst="rect">
            <a:avLst/>
          </a:prstGeom>
          <a:noFill/>
          <a:ln/>
        </p:spPr>
        <p:txBody>
          <a:bodyPr wrap="square" lIns="25400" tIns="25400" rIns="25400" bIns="25400" rtlCol="0" anchor="t">
            <a:normAutofit/>
          </a:bodyPr>
          <a:lstStyle/>
          <a:p>
            <a:pPr algn="l" indent="0" marL="0">
              <a:buNone/>
            </a:pPr>
            <a:r>
              <a:rPr lang="en-US" sz="1275" dirty="0">
                <a:solidFill>
                  <a:srgbClr val="8A8373"/>
                </a:solidFill>
                <a:latin typeface="Libre Franklin" pitchFamily="34" charset="0"/>
                <a:ea typeface="Libre Franklin" pitchFamily="34" charset="-122"/>
                <a:cs typeface="Libre Franklin" pitchFamily="34" charset="-120"/>
              </a:rPr>
              <a:t>distinct captures</a:t>
            </a:r>
            <a:endParaRPr lang="en-US" sz="1275" dirty="0"/>
          </a:p>
        </p:txBody>
      </p:sp>
      <p:sp>
        <p:nvSpPr>
          <p:cNvPr id="15" name="Shape 13"/>
          <p:cNvSpPr/>
          <p:nvPr/>
        </p:nvSpPr>
        <p:spPr>
          <a:xfrm>
            <a:off x="9267825" y="2371725"/>
            <a:ext cx="3814763" cy="1701105"/>
          </a:xfrm>
          <a:prstGeom prst="roundRect">
            <a:avLst>
              <a:gd name="adj" fmla="val 783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6" name="Text 14"/>
          <p:cNvSpPr/>
          <p:nvPr/>
        </p:nvSpPr>
        <p:spPr>
          <a:xfrm>
            <a:off x="9582150" y="2705100"/>
            <a:ext cx="3504724" cy="562868"/>
          </a:xfrm>
          <a:prstGeom prst="rect">
            <a:avLst/>
          </a:prstGeom>
          <a:noFill/>
          <a:ln/>
        </p:spPr>
        <p:txBody>
          <a:bodyPr wrap="square" lIns="25400" tIns="25400" rIns="25400" bIns="25400" rtlCol="0" anchor="t">
            <a:normAutofit/>
          </a:bodyPr>
          <a:lstStyle/>
          <a:p>
            <a:pPr algn="l" indent="0" marL="0">
              <a:lnSpc>
                <a:spcPct val="95000"/>
              </a:lnSpc>
              <a:buNone/>
            </a:pPr>
            <a:r>
              <a:rPr lang="en-US" sz="4350" b="1" dirty="0">
                <a:solidFill>
                  <a:srgbClr val="0F7A57"/>
                </a:solidFill>
                <a:latin typeface="Newsreader" pitchFamily="34" charset="0"/>
                <a:ea typeface="Newsreader" pitchFamily="34" charset="-122"/>
                <a:cs typeface="Newsreader" pitchFamily="34" charset="-120"/>
              </a:rPr>
              <a:t>1024²</a:t>
            </a:r>
            <a:endParaRPr lang="en-US" sz="4350" dirty="0"/>
          </a:p>
        </p:txBody>
      </p:sp>
      <p:sp>
        <p:nvSpPr>
          <p:cNvPr id="17" name="Text 15"/>
          <p:cNvSpPr/>
          <p:nvPr/>
        </p:nvSpPr>
        <p:spPr>
          <a:xfrm>
            <a:off x="9582150" y="3344168"/>
            <a:ext cx="3504724"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6E6757"/>
                </a:solidFill>
                <a:latin typeface="Libre Franklin" pitchFamily="34" charset="0"/>
                <a:ea typeface="Libre Franklin" pitchFamily="34" charset="-122"/>
                <a:cs typeface="Libre Franklin" pitchFamily="34" charset="-120"/>
              </a:rPr>
              <a:t>RESOLUTION</a:t>
            </a:r>
            <a:endParaRPr lang="en-US" sz="1050" dirty="0"/>
          </a:p>
        </p:txBody>
      </p:sp>
      <p:sp>
        <p:nvSpPr>
          <p:cNvPr id="18" name="Text 16"/>
          <p:cNvSpPr/>
          <p:nvPr/>
        </p:nvSpPr>
        <p:spPr>
          <a:xfrm>
            <a:off x="9582150" y="3544193"/>
            <a:ext cx="3504724" cy="233362"/>
          </a:xfrm>
          <a:prstGeom prst="rect">
            <a:avLst/>
          </a:prstGeom>
          <a:noFill/>
          <a:ln/>
        </p:spPr>
        <p:txBody>
          <a:bodyPr wrap="square" lIns="25400" tIns="25400" rIns="25400" bIns="25400" rtlCol="0" anchor="t">
            <a:normAutofit/>
          </a:bodyPr>
          <a:lstStyle/>
          <a:p>
            <a:pPr algn="l" indent="0" marL="0">
              <a:buNone/>
            </a:pPr>
            <a:r>
              <a:rPr lang="en-US" sz="1275" dirty="0">
                <a:solidFill>
                  <a:srgbClr val="8A8373"/>
                </a:solidFill>
                <a:latin typeface="Libre Franklin" pitchFamily="34" charset="0"/>
                <a:ea typeface="Libre Franklin" pitchFamily="34" charset="-122"/>
                <a:cs typeface="Libre Franklin" pitchFamily="34" charset="-120"/>
              </a:rPr>
              <a:t>~16 GB raw on disk</a:t>
            </a:r>
            <a:endParaRPr lang="en-US" sz="1275" dirty="0"/>
          </a:p>
        </p:txBody>
      </p:sp>
      <p:sp>
        <p:nvSpPr>
          <p:cNvPr id="19" name="Shape 17"/>
          <p:cNvSpPr/>
          <p:nvPr/>
        </p:nvSpPr>
        <p:spPr>
          <a:xfrm>
            <a:off x="13330238" y="2371725"/>
            <a:ext cx="3814763" cy="1701105"/>
          </a:xfrm>
          <a:prstGeom prst="roundRect">
            <a:avLst>
              <a:gd name="adj" fmla="val 783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20" name="Text 18"/>
          <p:cNvSpPr/>
          <p:nvPr/>
        </p:nvSpPr>
        <p:spPr>
          <a:xfrm>
            <a:off x="13644563" y="2705100"/>
            <a:ext cx="3504724" cy="562868"/>
          </a:xfrm>
          <a:prstGeom prst="rect">
            <a:avLst/>
          </a:prstGeom>
          <a:noFill/>
          <a:ln/>
        </p:spPr>
        <p:txBody>
          <a:bodyPr wrap="square" lIns="25400" tIns="25400" rIns="25400" bIns="25400" rtlCol="0" anchor="t">
            <a:normAutofit/>
          </a:bodyPr>
          <a:lstStyle/>
          <a:p>
            <a:pPr algn="l" indent="0" marL="0">
              <a:lnSpc>
                <a:spcPct val="95000"/>
              </a:lnSpc>
              <a:buNone/>
            </a:pPr>
            <a:r>
              <a:rPr lang="en-US" sz="4350" b="1" dirty="0">
                <a:solidFill>
                  <a:srgbClr val="0F7A57"/>
                </a:solidFill>
                <a:latin typeface="Newsreader" pitchFamily="34" charset="0"/>
                <a:ea typeface="Newsreader" pitchFamily="34" charset="-122"/>
                <a:cs typeface="Newsreader" pitchFamily="34" charset="-120"/>
              </a:rPr>
              <a:t>3</a:t>
            </a:r>
            <a:endParaRPr lang="en-US" sz="4350" dirty="0"/>
          </a:p>
        </p:txBody>
      </p:sp>
      <p:sp>
        <p:nvSpPr>
          <p:cNvPr id="21" name="Text 19"/>
          <p:cNvSpPr/>
          <p:nvPr/>
        </p:nvSpPr>
        <p:spPr>
          <a:xfrm>
            <a:off x="13644563" y="3344168"/>
            <a:ext cx="3504724"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6E6757"/>
                </a:solidFill>
                <a:latin typeface="Libre Franklin" pitchFamily="34" charset="0"/>
                <a:ea typeface="Libre Franklin" pitchFamily="34" charset="-122"/>
                <a:cs typeface="Libre Franklin" pitchFamily="34" charset="-120"/>
              </a:rPr>
              <a:t>CLASSES</a:t>
            </a:r>
            <a:endParaRPr lang="en-US" sz="1050" dirty="0"/>
          </a:p>
        </p:txBody>
      </p:sp>
      <p:sp>
        <p:nvSpPr>
          <p:cNvPr id="22" name="Text 20"/>
          <p:cNvSpPr/>
          <p:nvPr/>
        </p:nvSpPr>
        <p:spPr>
          <a:xfrm>
            <a:off x="13644563" y="3544193"/>
            <a:ext cx="3504724" cy="233362"/>
          </a:xfrm>
          <a:prstGeom prst="rect">
            <a:avLst/>
          </a:prstGeom>
          <a:noFill/>
          <a:ln/>
        </p:spPr>
        <p:txBody>
          <a:bodyPr wrap="square" lIns="25400" tIns="25400" rIns="25400" bIns="25400" rtlCol="0" anchor="t">
            <a:normAutofit/>
          </a:bodyPr>
          <a:lstStyle/>
          <a:p>
            <a:pPr algn="l" indent="0" marL="0">
              <a:buNone/>
            </a:pPr>
            <a:r>
              <a:rPr lang="en-US" sz="1275" dirty="0">
                <a:solidFill>
                  <a:srgbClr val="8A8373"/>
                </a:solidFill>
                <a:latin typeface="Libre Franklin" pitchFamily="34" charset="0"/>
                <a:ea typeface="Libre Franklin" pitchFamily="34" charset="-122"/>
                <a:cs typeface="Libre Franklin" pitchFamily="34" charset="-120"/>
              </a:rPr>
              <a:t>boar · red · roe deer</a:t>
            </a:r>
            <a:endParaRPr lang="en-US" sz="1275" dirty="0"/>
          </a:p>
        </p:txBody>
      </p:sp>
      <p:sp>
        <p:nvSpPr>
          <p:cNvPr id="23" name="Shape 21"/>
          <p:cNvSpPr/>
          <p:nvPr/>
        </p:nvSpPr>
        <p:spPr>
          <a:xfrm>
            <a:off x="1143000" y="4472880"/>
            <a:ext cx="16002000" cy="1954485"/>
          </a:xfrm>
          <a:prstGeom prst="roundRect">
            <a:avLst>
              <a:gd name="adj" fmla="val 6823"/>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24" name="Text 22"/>
          <p:cNvSpPr/>
          <p:nvPr/>
        </p:nvSpPr>
        <p:spPr>
          <a:xfrm>
            <a:off x="1533525" y="4825305"/>
            <a:ext cx="3781068" cy="285750"/>
          </a:xfrm>
          <a:prstGeom prst="rect">
            <a:avLst/>
          </a:prstGeom>
          <a:noFill/>
          <a:ln/>
        </p:spPr>
        <p:txBody>
          <a:bodyPr wrap="square" lIns="25400" tIns="25400" rIns="25400" bIns="25400" rtlCol="0" anchor="t">
            <a:normAutofit/>
          </a:bodyPr>
          <a:lstStyle/>
          <a:p>
            <a:pPr algn="l" indent="0" marL="0">
              <a:buNone/>
            </a:pPr>
            <a:r>
              <a:rPr lang="en-US" sz="1950" b="1" dirty="0">
                <a:solidFill>
                  <a:srgbClr val="1A1814"/>
                </a:solidFill>
                <a:latin typeface="Newsreader" pitchFamily="34" charset="0"/>
                <a:ea typeface="Newsreader" pitchFamily="34" charset="-122"/>
                <a:cs typeface="Newsreader" pitchFamily="34" charset="-120"/>
              </a:rPr>
              <a:t>Detection split · 23,829 images</a:t>
            </a:r>
            <a:endParaRPr lang="en-US" sz="1950" dirty="0"/>
          </a:p>
        </p:txBody>
      </p:sp>
      <p:sp>
        <p:nvSpPr>
          <p:cNvPr id="25" name="Text 23"/>
          <p:cNvSpPr/>
          <p:nvPr/>
        </p:nvSpPr>
        <p:spPr>
          <a:xfrm>
            <a:off x="14811970" y="4868168"/>
            <a:ext cx="2136755" cy="209550"/>
          </a:xfrm>
          <a:prstGeom prst="rect">
            <a:avLst/>
          </a:prstGeom>
          <a:noFill/>
          <a:ln/>
        </p:spPr>
        <p:txBody>
          <a:bodyPr wrap="square" lIns="25400" tIns="25400" rIns="25400" bIns="25400" rtlCol="0" anchor="t">
            <a:normAutofit/>
          </a:bodyPr>
          <a:lstStyle/>
          <a:p>
            <a:pPr algn="l" indent="0" marL="0">
              <a:buNone/>
            </a:pPr>
            <a:r>
              <a:rPr lang="en-US" sz="1125" dirty="0">
                <a:solidFill>
                  <a:srgbClr val="8A8373"/>
                </a:solidFill>
                <a:latin typeface="Libre Franklin" pitchFamily="34" charset="0"/>
                <a:ea typeface="Libre Franklin" pitchFamily="34" charset="-122"/>
                <a:cs typeface="Libre Franklin" pitchFamily="34" charset="-120"/>
              </a:rPr>
              <a:t>COCO / BAMBI MOT → YOLO</a:t>
            </a:r>
            <a:endParaRPr lang="en-US" sz="1125" dirty="0"/>
          </a:p>
        </p:txBody>
      </p:sp>
      <p:sp>
        <p:nvSpPr>
          <p:cNvPr id="26" name="Shape 24"/>
          <p:cNvSpPr/>
          <p:nvPr/>
        </p:nvSpPr>
        <p:spPr>
          <a:xfrm>
            <a:off x="1533525" y="5263455"/>
            <a:ext cx="11293897" cy="400050"/>
          </a:xfrm>
          <a:prstGeom prst="rect">
            <a:avLst/>
          </a:prstGeom>
          <a:solidFill>
            <a:srgbClr val="0F7A57"/>
          </a:solidFill>
          <a:ln/>
        </p:spPr>
      </p:sp>
      <p:sp>
        <p:nvSpPr>
          <p:cNvPr id="27" name="Text 25"/>
          <p:cNvSpPr/>
          <p:nvPr/>
        </p:nvSpPr>
        <p:spPr>
          <a:xfrm>
            <a:off x="1704975" y="5263455"/>
            <a:ext cx="11461264" cy="438150"/>
          </a:xfrm>
          <a:prstGeom prst="rect">
            <a:avLst/>
          </a:prstGeom>
          <a:noFill/>
          <a:ln/>
        </p:spPr>
        <p:txBody>
          <a:bodyPr wrap="square" lIns="25400" tIns="25400" rIns="25400" bIns="25400" rtlCol="0" anchor="ctr">
            <a:normAutofit/>
          </a:bodyPr>
          <a:lstStyle/>
          <a:p>
            <a:pPr algn="l" indent="0" marL="0">
              <a:buNone/>
            </a:pPr>
            <a:r>
              <a:rPr lang="en-US" sz="1125" b="1" dirty="0">
                <a:solidFill>
                  <a:srgbClr val="FFFFFF"/>
                </a:solidFill>
                <a:latin typeface="Libre Franklin" pitchFamily="34" charset="0"/>
                <a:ea typeface="Libre Franklin" pitchFamily="34" charset="-122"/>
                <a:cs typeface="Libre Franklin" pitchFamily="34" charset="-120"/>
              </a:rPr>
              <a:t>Train · 17,684</a:t>
            </a:r>
            <a:endParaRPr lang="en-US" sz="1125" dirty="0"/>
          </a:p>
        </p:txBody>
      </p:sp>
      <p:sp>
        <p:nvSpPr>
          <p:cNvPr id="28" name="Shape 26"/>
          <p:cNvSpPr/>
          <p:nvPr/>
        </p:nvSpPr>
        <p:spPr>
          <a:xfrm>
            <a:off x="12827422" y="5263455"/>
            <a:ext cx="1826493" cy="400050"/>
          </a:xfrm>
          <a:prstGeom prst="rect">
            <a:avLst/>
          </a:prstGeom>
          <a:solidFill>
            <a:srgbClr val="18936A"/>
          </a:solidFill>
          <a:ln/>
        </p:spPr>
      </p:sp>
      <p:sp>
        <p:nvSpPr>
          <p:cNvPr id="29" name="Text 27"/>
          <p:cNvSpPr/>
          <p:nvPr/>
        </p:nvSpPr>
        <p:spPr>
          <a:xfrm>
            <a:off x="12960772" y="5263455"/>
            <a:ext cx="1769343" cy="438150"/>
          </a:xfrm>
          <a:prstGeom prst="rect">
            <a:avLst/>
          </a:prstGeom>
          <a:noFill/>
          <a:ln/>
        </p:spPr>
        <p:txBody>
          <a:bodyPr wrap="square" lIns="25400" tIns="25400" rIns="25400" bIns="25400" rtlCol="0" anchor="ctr">
            <a:normAutofit/>
          </a:bodyPr>
          <a:lstStyle/>
          <a:p>
            <a:pPr algn="l" indent="0" marL="0">
              <a:buNone/>
            </a:pPr>
            <a:r>
              <a:rPr lang="en-US" sz="1125" b="1" dirty="0">
                <a:solidFill>
                  <a:srgbClr val="FFFFFF"/>
                </a:solidFill>
                <a:latin typeface="Libre Franklin" pitchFamily="34" charset="0"/>
                <a:ea typeface="Libre Franklin" pitchFamily="34" charset="-122"/>
                <a:cs typeface="Libre Franklin" pitchFamily="34" charset="-120"/>
              </a:rPr>
              <a:t>Val · 2,868</a:t>
            </a:r>
            <a:endParaRPr lang="en-US" sz="1125" dirty="0"/>
          </a:p>
        </p:txBody>
      </p:sp>
      <p:sp>
        <p:nvSpPr>
          <p:cNvPr id="30" name="Shape 28"/>
          <p:cNvSpPr/>
          <p:nvPr/>
        </p:nvSpPr>
        <p:spPr>
          <a:xfrm>
            <a:off x="14653915" y="5263455"/>
            <a:ext cx="2100486" cy="400050"/>
          </a:xfrm>
          <a:prstGeom prst="rect">
            <a:avLst/>
          </a:prstGeom>
          <a:solidFill>
            <a:srgbClr val="7FB59E"/>
          </a:solidFill>
          <a:ln/>
        </p:spPr>
      </p:sp>
      <p:sp>
        <p:nvSpPr>
          <p:cNvPr id="31" name="Text 29"/>
          <p:cNvSpPr/>
          <p:nvPr/>
        </p:nvSpPr>
        <p:spPr>
          <a:xfrm>
            <a:off x="14787265" y="5263455"/>
            <a:ext cx="2043336" cy="438150"/>
          </a:xfrm>
          <a:prstGeom prst="rect">
            <a:avLst/>
          </a:prstGeom>
          <a:noFill/>
          <a:ln/>
        </p:spPr>
        <p:txBody>
          <a:bodyPr wrap="square" lIns="25400" tIns="25400" rIns="25400" bIns="25400" rtlCol="0" anchor="ctr">
            <a:normAutofit/>
          </a:bodyPr>
          <a:lstStyle/>
          <a:p>
            <a:pPr algn="l" indent="0" marL="0">
              <a:buNone/>
            </a:pPr>
            <a:r>
              <a:rPr lang="en-US" sz="1125" b="1" dirty="0">
                <a:solidFill>
                  <a:srgbClr val="0A4733"/>
                </a:solidFill>
                <a:latin typeface="Libre Franklin" pitchFamily="34" charset="0"/>
                <a:ea typeface="Libre Franklin" pitchFamily="34" charset="-122"/>
                <a:cs typeface="Libre Franklin" pitchFamily="34" charset="-120"/>
              </a:rPr>
              <a:t>Test · 3,277</a:t>
            </a:r>
            <a:endParaRPr lang="en-US" sz="1125" dirty="0"/>
          </a:p>
        </p:txBody>
      </p:sp>
      <p:sp>
        <p:nvSpPr>
          <p:cNvPr id="32" name="Text 30"/>
          <p:cNvSpPr/>
          <p:nvPr/>
        </p:nvSpPr>
        <p:spPr>
          <a:xfrm>
            <a:off x="1533525" y="5834955"/>
            <a:ext cx="16743045" cy="278085"/>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A1814"/>
                </a:solidFill>
                <a:latin typeface="Libre Franklin" pitchFamily="34" charset="0"/>
                <a:ea typeface="Libre Franklin" pitchFamily="34" charset="-122"/>
                <a:cs typeface="Libre Franklin" pitchFamily="34" charset="-120"/>
              </a:rPr>
              <a:t>~91% </a:t>
            </a:r>
            <a:pPr algn="l" indent="0" marL="0">
              <a:lnSpc>
                <a:spcPct val="140000"/>
              </a:lnSpc>
              <a:buNone/>
            </a:pPr>
            <a:r>
              <a:rPr lang="en-US" sz="1350" dirty="0">
                <a:solidFill>
                  <a:srgbClr val="6E6757"/>
                </a:solidFill>
                <a:latin typeface="Libre Franklin" pitchFamily="34" charset="0"/>
                <a:ea typeface="Libre Franklin" pitchFamily="34" charset="-122"/>
                <a:cs typeface="Libre Franklin" pitchFamily="34" charset="-120"/>
              </a:rPr>
              <a:t>of sampled training frames contain at least one animal box — the rest are intentional </a:t>
            </a:r>
            <a:pPr algn="l" indent="0" marL="0">
              <a:lnSpc>
                <a:spcPct val="140000"/>
              </a:lnSpc>
              <a:buNone/>
            </a:pPr>
            <a:r>
              <a:rPr lang="en-US" sz="1350" i="1" dirty="0">
                <a:solidFill>
                  <a:srgbClr val="6E6757"/>
                </a:solidFill>
                <a:latin typeface="Libre Franklin" pitchFamily="34" charset="0"/>
                <a:ea typeface="Libre Franklin" pitchFamily="34" charset="-122"/>
                <a:cs typeface="Libre Franklin" pitchFamily="34" charset="-120"/>
              </a:rPr>
              <a:t>background frames </a:t>
            </a:r>
            <a:pPr algn="l" indent="0" marL="0">
              <a:lnSpc>
                <a:spcPct val="140000"/>
              </a:lnSpc>
              <a:buNone/>
            </a:pPr>
            <a:r>
              <a:rPr lang="en-US" sz="1350" dirty="0">
                <a:solidFill>
                  <a:srgbClr val="6E6757"/>
                </a:solidFill>
                <a:latin typeface="Libre Franklin" pitchFamily="34" charset="0"/>
                <a:ea typeface="Libre Franklin" pitchFamily="34" charset="-122"/>
                <a:cs typeface="Libre Franklin" pitchFamily="34" charset="-120"/>
              </a:rPr>
              <a:t>so the detector learns to say “nothing here.”</a:t>
            </a:r>
            <a:endParaRPr lang="en-US" sz="1350" dirty="0"/>
          </a:p>
        </p:txBody>
      </p:sp>
      <p:sp>
        <p:nvSpPr>
          <p:cNvPr id="33" name="Text 31"/>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34" name="Text 32"/>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814"/>
        </a:solidFill>
      </p:bgPr>
    </p:bg>
    <p:spTree>
      <p:nvGrpSpPr>
        <p:cNvPr id="1" name=""/>
        <p:cNvGrpSpPr/>
        <p:nvPr/>
      </p:nvGrpSpPr>
      <p:grpSpPr>
        <a:xfrm>
          <a:off x="0" y="0"/>
          <a:ext cx="0" cy="0"/>
          <a:chOff x="0" y="0"/>
          <a:chExt cx="0" cy="0"/>
        </a:xfrm>
      </p:grpSpPr>
      <p:sp>
        <p:nvSpPr>
          <p:cNvPr id="2" name="Shape 0"/>
          <p:cNvSpPr/>
          <p:nvPr/>
        </p:nvSpPr>
        <p:spPr>
          <a:xfrm>
            <a:off x="1143000" y="1162050"/>
            <a:ext cx="16002000" cy="9525"/>
          </a:xfrm>
          <a:prstGeom prst="rect">
            <a:avLst/>
          </a:prstGeom>
          <a:solidFill>
            <a:srgbClr val="5A5446"/>
          </a:solidFill>
          <a:ln/>
        </p:spPr>
      </p:sp>
      <p:sp>
        <p:nvSpPr>
          <p:cNvPr id="3" name="Text 1"/>
          <p:cNvSpPr/>
          <p:nvPr/>
        </p:nvSpPr>
        <p:spPr>
          <a:xfrm>
            <a:off x="1143000" y="838200"/>
            <a:ext cx="330101"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6FC79E"/>
                </a:solidFill>
                <a:latin typeface="Libre Franklin" pitchFamily="34" charset="0"/>
                <a:ea typeface="Libre Franklin" pitchFamily="34" charset="-122"/>
                <a:cs typeface="Libre Franklin" pitchFamily="34" charset="-120"/>
              </a:rPr>
              <a:t>04</a:t>
            </a:r>
            <a:endParaRPr lang="en-US" sz="1125" dirty="0"/>
          </a:p>
        </p:txBody>
      </p:sp>
      <p:sp>
        <p:nvSpPr>
          <p:cNvPr id="4" name="Text 2"/>
          <p:cNvSpPr/>
          <p:nvPr/>
        </p:nvSpPr>
        <p:spPr>
          <a:xfrm>
            <a:off x="1530251" y="8382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6E6757"/>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3224" y="838200"/>
            <a:ext cx="1605677"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F6F3EB"/>
                </a:solidFill>
                <a:latin typeface="Libre Franklin" pitchFamily="34" charset="0"/>
                <a:ea typeface="Libre Franklin" pitchFamily="34" charset="-122"/>
                <a:cs typeface="Libre Franklin" pitchFamily="34" charset="-120"/>
              </a:rPr>
              <a:t>METHODOLOGY</a:t>
            </a:r>
            <a:endParaRPr lang="en-US" sz="1125" dirty="0"/>
          </a:p>
        </p:txBody>
      </p:sp>
      <p:sp>
        <p:nvSpPr>
          <p:cNvPr id="6" name="Text 4"/>
          <p:cNvSpPr/>
          <p:nvPr/>
        </p:nvSpPr>
        <p:spPr>
          <a:xfrm>
            <a:off x="1143000" y="3339703"/>
            <a:ext cx="14668500" cy="209550"/>
          </a:xfrm>
          <a:prstGeom prst="rect">
            <a:avLst/>
          </a:prstGeom>
          <a:noFill/>
          <a:ln/>
        </p:spPr>
        <p:txBody>
          <a:bodyPr wrap="square" lIns="25400" tIns="25400" rIns="25400" bIns="25400" rtlCol="0" anchor="t">
            <a:normAutofit/>
          </a:bodyPr>
          <a:lstStyle/>
          <a:p>
            <a:pPr algn="l" indent="0" marL="0">
              <a:buNone/>
            </a:pPr>
            <a:r>
              <a:rPr lang="en-US" sz="1125" b="1" spc="180" kern="0" dirty="0">
                <a:solidFill>
                  <a:srgbClr val="6FC79E"/>
                </a:solidFill>
                <a:latin typeface="Libre Franklin" pitchFamily="34" charset="0"/>
                <a:ea typeface="Libre Franklin" pitchFamily="34" charset="-122"/>
                <a:cs typeface="Libre Franklin" pitchFamily="34" charset="-120"/>
              </a:rPr>
              <a:t>THE DECISION · GROUND-TRUTH ISOLATION</a:t>
            </a:r>
            <a:endParaRPr lang="en-US" sz="1125" dirty="0"/>
          </a:p>
        </p:txBody>
      </p:sp>
      <p:sp>
        <p:nvSpPr>
          <p:cNvPr id="7" name="Text 5"/>
          <p:cNvSpPr/>
          <p:nvPr/>
        </p:nvSpPr>
        <p:spPr>
          <a:xfrm>
            <a:off x="1143000" y="3739753"/>
            <a:ext cx="13735050" cy="1464469"/>
          </a:xfrm>
          <a:prstGeom prst="rect">
            <a:avLst/>
          </a:prstGeom>
          <a:noFill/>
          <a:ln/>
        </p:spPr>
        <p:txBody>
          <a:bodyPr wrap="square" lIns="25400" tIns="25400" rIns="25400" bIns="25400" rtlCol="0" anchor="t">
            <a:normAutofit/>
          </a:bodyPr>
          <a:lstStyle/>
          <a:p>
            <a:pPr algn="l" indent="0" marL="0">
              <a:lnSpc>
                <a:spcPct val="104000"/>
              </a:lnSpc>
              <a:buNone/>
            </a:pPr>
            <a:r>
              <a:rPr lang="en-US" sz="5400" spc="-108" kern="0" dirty="0">
                <a:solidFill>
                  <a:srgbClr val="F6F3EB"/>
                </a:solidFill>
                <a:latin typeface="Newsreader" pitchFamily="34" charset="0"/>
                <a:ea typeface="Newsreader" pitchFamily="34" charset="-122"/>
                <a:cs typeface="Newsreader" pitchFamily="34" charset="-120"/>
              </a:rPr>
              <a:t>To measure </a:t>
            </a:r>
            <a:pPr algn="l" indent="0" marL="0">
              <a:lnSpc>
                <a:spcPct val="104000"/>
              </a:lnSpc>
              <a:buNone/>
            </a:pPr>
            <a:r>
              <a:rPr lang="en-US" sz="5400" i="1" spc="-108" kern="0" dirty="0">
                <a:solidFill>
                  <a:srgbClr val="6FC79E"/>
                </a:solidFill>
                <a:latin typeface="Newsreader" pitchFamily="34" charset="0"/>
                <a:ea typeface="Newsreader" pitchFamily="34" charset="-122"/>
                <a:cs typeface="Newsreader" pitchFamily="34" charset="-120"/>
              </a:rPr>
              <a:t>pure tracking </a:t>
            </a:r>
            <a:pPr algn="l" indent="0" marL="0">
              <a:lnSpc>
                <a:spcPct val="104000"/>
              </a:lnSpc>
              <a:buNone/>
            </a:pPr>
            <a:r>
              <a:rPr lang="en-US" sz="5400" spc="-108" kern="0" dirty="0">
                <a:solidFill>
                  <a:srgbClr val="F6F3EB"/>
                </a:solidFill>
                <a:latin typeface="Newsreader" pitchFamily="34" charset="0"/>
                <a:ea typeface="Newsreader" pitchFamily="34" charset="-122"/>
                <a:cs typeface="Newsreader" pitchFamily="34" charset="-120"/>
              </a:rPr>
              <a:t>, bypass the detector entirely.</a:t>
            </a:r>
            <a:endParaRPr lang="en-US" sz="5400" dirty="0"/>
          </a:p>
        </p:txBody>
      </p:sp>
      <p:sp>
        <p:nvSpPr>
          <p:cNvPr id="8" name="Text 6"/>
          <p:cNvSpPr/>
          <p:nvPr/>
        </p:nvSpPr>
        <p:spPr>
          <a:xfrm>
            <a:off x="1143000" y="5509022"/>
            <a:ext cx="12165330"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9C3B6"/>
                </a:solidFill>
                <a:latin typeface="Newsreader" pitchFamily="34" charset="0"/>
                <a:ea typeface="Newsreader" pitchFamily="34" charset="-122"/>
                <a:cs typeface="Newsreader" pitchFamily="34" charset="-120"/>
              </a:rPr>
              <a:t>The benchmark feeds </a:t>
            </a:r>
            <a:pPr algn="l" indent="0" marL="0">
              <a:lnSpc>
                <a:spcPct val="150000"/>
              </a:lnSpc>
              <a:buNone/>
            </a:pPr>
            <a:r>
              <a:rPr lang="en-US" sz="2100" dirty="0">
                <a:solidFill>
                  <a:srgbClr val="F6F3EB"/>
                </a:solidFill>
                <a:latin typeface="Newsreader" pitchFamily="34" charset="0"/>
                <a:ea typeface="Newsreader" pitchFamily="34" charset="-122"/>
                <a:cs typeface="Newsreader" pitchFamily="34" charset="-120"/>
              </a:rPr>
              <a:t>human-verified ground-truth boxes </a:t>
            </a:r>
            <a:pPr algn="l" indent="0" marL="0">
              <a:lnSpc>
                <a:spcPct val="150000"/>
              </a:lnSpc>
              <a:buNone/>
            </a:pPr>
            <a:r>
              <a:rPr lang="en-US" sz="2100" dirty="0">
                <a:solidFill>
                  <a:srgbClr val="C9C3B6"/>
                </a:solidFill>
                <a:latin typeface="Newsreader" pitchFamily="34" charset="0"/>
                <a:ea typeface="Newsreader" pitchFamily="34" charset="-122"/>
                <a:cs typeface="Newsreader" pitchFamily="34" charset="-120"/>
              </a:rPr>
              <a:t>straight into the trackers. A bad MOTA now reflects the tracker's </a:t>
            </a:r>
            <a:pPr algn="l" indent="0" marL="0">
              <a:lnSpc>
                <a:spcPct val="150000"/>
              </a:lnSpc>
              <a:buNone/>
            </a:pPr>
            <a:r>
              <a:rPr lang="en-US" sz="2100" i="1" dirty="0">
                <a:solidFill>
                  <a:srgbClr val="F6F3EB"/>
                </a:solidFill>
                <a:latin typeface="Newsreader" pitchFamily="34" charset="0"/>
                <a:ea typeface="Newsreader" pitchFamily="34" charset="-122"/>
                <a:cs typeface="Newsreader" pitchFamily="34" charset="-120"/>
              </a:rPr>
              <a:t>association logic </a:t>
            </a:r>
            <a:pPr algn="l" indent="0" marL="0">
              <a:lnSpc>
                <a:spcPct val="150000"/>
              </a:lnSpc>
              <a:buNone/>
            </a:pPr>
            <a:r>
              <a:rPr lang="en-US" sz="2100" dirty="0">
                <a:solidFill>
                  <a:srgbClr val="C9C3B6"/>
                </a:solidFill>
                <a:latin typeface="Newsreader" pitchFamily="34" charset="0"/>
                <a:ea typeface="Newsreader" pitchFamily="34" charset="-122"/>
                <a:cs typeface="Newsreader" pitchFamily="34" charset="-120"/>
              </a:rPr>
              <a:t>— Kalman prediction, IoU matching, Re-ID — and not a weak upstream detector.</a:t>
            </a:r>
            <a:endParaRPr lang="en-US" sz="2100" dirty="0"/>
          </a:p>
        </p:txBody>
      </p:sp>
      <p:sp>
        <p:nvSpPr>
          <p:cNvPr id="9" name="Shape 7"/>
          <p:cNvSpPr/>
          <p:nvPr/>
        </p:nvSpPr>
        <p:spPr>
          <a:xfrm>
            <a:off x="1143000" y="8877300"/>
            <a:ext cx="2361233" cy="571500"/>
          </a:xfrm>
          <a:prstGeom prst="roundRect">
            <a:avLst>
              <a:gd name="adj" fmla="val 16667"/>
            </a:avLst>
          </a:prstGeom>
          <a:solidFill>
            <a:srgbClr val="F6F3EB">
              <a:alpha val="6000"/>
            </a:srgbClr>
          </a:solidFill>
          <a:ln w="9525">
            <a:solidFill>
              <a:srgbClr val="5A5446"/>
            </a:solidFill>
            <a:prstDash val="solid"/>
          </a:ln>
        </p:spPr>
      </p:sp>
      <p:sp>
        <p:nvSpPr>
          <p:cNvPr id="10" name="Text 8"/>
          <p:cNvSpPr/>
          <p:nvPr/>
        </p:nvSpPr>
        <p:spPr>
          <a:xfrm>
            <a:off x="1419225" y="9058275"/>
            <a:ext cx="1884983" cy="247650"/>
          </a:xfrm>
          <a:prstGeom prst="rect">
            <a:avLst/>
          </a:prstGeom>
          <a:noFill/>
          <a:ln/>
        </p:spPr>
        <p:txBody>
          <a:bodyPr wrap="square" lIns="25400" tIns="25400" rIns="25400" bIns="25400" rtlCol="0" anchor="t">
            <a:normAutofit/>
          </a:bodyPr>
          <a:lstStyle/>
          <a:p>
            <a:pPr algn="l" indent="0" marL="0">
              <a:buNone/>
            </a:pPr>
            <a:r>
              <a:rPr lang="en-US" sz="1650" dirty="0">
                <a:solidFill>
                  <a:srgbClr val="F6F3EB"/>
                </a:solidFill>
                <a:latin typeface="Newsreader" pitchFamily="34" charset="0"/>
                <a:ea typeface="Newsreader" pitchFamily="34" charset="-122"/>
                <a:cs typeface="Newsreader" pitchFamily="34" charset="-120"/>
              </a:rPr>
              <a:t>Ground-truth boxes</a:t>
            </a:r>
            <a:endParaRPr lang="en-US" sz="1650" dirty="0"/>
          </a:p>
        </p:txBody>
      </p:sp>
      <p:sp>
        <p:nvSpPr>
          <p:cNvPr id="11" name="Text 9"/>
          <p:cNvSpPr/>
          <p:nvPr/>
        </p:nvSpPr>
        <p:spPr>
          <a:xfrm>
            <a:off x="3656633" y="8998744"/>
            <a:ext cx="342900" cy="366713"/>
          </a:xfrm>
          <a:prstGeom prst="rect">
            <a:avLst/>
          </a:prstGeom>
          <a:noFill/>
          <a:ln/>
        </p:spPr>
        <p:txBody>
          <a:bodyPr wrap="square" lIns="25400" tIns="25400" rIns="25400" bIns="25400" rtlCol="0" anchor="t">
            <a:normAutofit/>
          </a:bodyPr>
          <a:lstStyle/>
          <a:p>
            <a:pPr algn="l" indent="0" marL="0">
              <a:buNone/>
            </a:pPr>
            <a:r>
              <a:rPr lang="en-US" sz="2100" dirty="0">
                <a:solidFill>
                  <a:srgbClr val="6FC79E"/>
                </a:solidFill>
                <a:latin typeface="Newsreader" pitchFamily="34" charset="0"/>
                <a:ea typeface="Newsreader" pitchFamily="34" charset="-122"/>
                <a:cs typeface="Newsreader" pitchFamily="34" charset="-120"/>
              </a:rPr>
              <a:t>→</a:t>
            </a:r>
            <a:endParaRPr lang="en-US" sz="2100" dirty="0"/>
          </a:p>
        </p:txBody>
      </p:sp>
      <p:sp>
        <p:nvSpPr>
          <p:cNvPr id="12" name="Shape 10"/>
          <p:cNvSpPr/>
          <p:nvPr/>
        </p:nvSpPr>
        <p:spPr>
          <a:xfrm>
            <a:off x="4075733" y="8877300"/>
            <a:ext cx="2284809" cy="571500"/>
          </a:xfrm>
          <a:prstGeom prst="roundRect">
            <a:avLst>
              <a:gd name="adj" fmla="val 16667"/>
            </a:avLst>
          </a:prstGeom>
          <a:solidFill>
            <a:srgbClr val="6FC79E">
              <a:alpha val="14000"/>
            </a:srgbClr>
          </a:solidFill>
          <a:ln w="9525">
            <a:solidFill>
              <a:srgbClr val="6FC79E"/>
            </a:solidFill>
            <a:prstDash val="solid"/>
          </a:ln>
        </p:spPr>
      </p:sp>
      <p:sp>
        <p:nvSpPr>
          <p:cNvPr id="13" name="Text 11"/>
          <p:cNvSpPr/>
          <p:nvPr/>
        </p:nvSpPr>
        <p:spPr>
          <a:xfrm>
            <a:off x="4351958" y="9058275"/>
            <a:ext cx="1808559" cy="247650"/>
          </a:xfrm>
          <a:prstGeom prst="rect">
            <a:avLst/>
          </a:prstGeom>
          <a:noFill/>
          <a:ln/>
        </p:spPr>
        <p:txBody>
          <a:bodyPr wrap="square" lIns="25400" tIns="25400" rIns="25400" bIns="25400" rtlCol="0" anchor="t">
            <a:normAutofit/>
          </a:bodyPr>
          <a:lstStyle/>
          <a:p>
            <a:pPr algn="l" indent="0" marL="0">
              <a:buNone/>
            </a:pPr>
            <a:r>
              <a:rPr lang="en-US" sz="1650" dirty="0">
                <a:solidFill>
                  <a:srgbClr val="6FC79E"/>
                </a:solidFill>
                <a:latin typeface="Newsreader" pitchFamily="34" charset="0"/>
                <a:ea typeface="Newsreader" pitchFamily="34" charset="-122"/>
                <a:cs typeface="Newsreader" pitchFamily="34" charset="-120"/>
              </a:rPr>
              <a:t>Tracker (BoxMOT)</a:t>
            </a:r>
            <a:endParaRPr lang="en-US" sz="1650" dirty="0"/>
          </a:p>
        </p:txBody>
      </p:sp>
      <p:sp>
        <p:nvSpPr>
          <p:cNvPr id="14" name="Text 12"/>
          <p:cNvSpPr/>
          <p:nvPr/>
        </p:nvSpPr>
        <p:spPr>
          <a:xfrm>
            <a:off x="6512942" y="8998744"/>
            <a:ext cx="342900" cy="366713"/>
          </a:xfrm>
          <a:prstGeom prst="rect">
            <a:avLst/>
          </a:prstGeom>
          <a:noFill/>
          <a:ln/>
        </p:spPr>
        <p:txBody>
          <a:bodyPr wrap="square" lIns="25400" tIns="25400" rIns="25400" bIns="25400" rtlCol="0" anchor="t">
            <a:normAutofit/>
          </a:bodyPr>
          <a:lstStyle/>
          <a:p>
            <a:pPr algn="l" indent="0" marL="0">
              <a:buNone/>
            </a:pPr>
            <a:r>
              <a:rPr lang="en-US" sz="2100" dirty="0">
                <a:solidFill>
                  <a:srgbClr val="6FC79E"/>
                </a:solidFill>
                <a:latin typeface="Newsreader" pitchFamily="34" charset="0"/>
                <a:ea typeface="Newsreader" pitchFamily="34" charset="-122"/>
                <a:cs typeface="Newsreader" pitchFamily="34" charset="-120"/>
              </a:rPr>
              <a:t>→</a:t>
            </a:r>
            <a:endParaRPr lang="en-US" sz="2100" dirty="0"/>
          </a:p>
        </p:txBody>
      </p:sp>
      <p:sp>
        <p:nvSpPr>
          <p:cNvPr id="15" name="Shape 13"/>
          <p:cNvSpPr/>
          <p:nvPr/>
        </p:nvSpPr>
        <p:spPr>
          <a:xfrm>
            <a:off x="6932042" y="8877300"/>
            <a:ext cx="2565202" cy="571500"/>
          </a:xfrm>
          <a:prstGeom prst="roundRect">
            <a:avLst>
              <a:gd name="adj" fmla="val 16667"/>
            </a:avLst>
          </a:prstGeom>
          <a:solidFill>
            <a:srgbClr val="F6F3EB">
              <a:alpha val="6000"/>
            </a:srgbClr>
          </a:solidFill>
          <a:ln w="9525">
            <a:solidFill>
              <a:srgbClr val="5A5446"/>
            </a:solidFill>
            <a:prstDash val="solid"/>
          </a:ln>
        </p:spPr>
      </p:sp>
      <p:sp>
        <p:nvSpPr>
          <p:cNvPr id="16" name="Text 14"/>
          <p:cNvSpPr/>
          <p:nvPr/>
        </p:nvSpPr>
        <p:spPr>
          <a:xfrm>
            <a:off x="7208267" y="9058275"/>
            <a:ext cx="2089708" cy="247650"/>
          </a:xfrm>
          <a:prstGeom prst="rect">
            <a:avLst/>
          </a:prstGeom>
          <a:noFill/>
          <a:ln/>
        </p:spPr>
        <p:txBody>
          <a:bodyPr wrap="square" lIns="25400" tIns="25400" rIns="25400" bIns="25400" rtlCol="0" anchor="t">
            <a:normAutofit/>
          </a:bodyPr>
          <a:lstStyle/>
          <a:p>
            <a:pPr algn="l" indent="0" marL="0">
              <a:buNone/>
            </a:pPr>
            <a:r>
              <a:rPr lang="en-US" sz="1650" dirty="0">
                <a:solidFill>
                  <a:srgbClr val="F6F3EB"/>
                </a:solidFill>
                <a:latin typeface="Newsreader" pitchFamily="34" charset="0"/>
                <a:ea typeface="Newsreader" pitchFamily="34" charset="-122"/>
                <a:cs typeface="Newsreader" pitchFamily="34" charset="-120"/>
              </a:rPr>
              <a:t>HOTA · MOTA · IDF1</a:t>
            </a:r>
            <a:endParaRPr lang="en-US" sz="1650" dirty="0"/>
          </a:p>
        </p:txBody>
      </p:sp>
      <p:sp>
        <p:nvSpPr>
          <p:cNvPr id="17" name="Text 15"/>
          <p:cNvSpPr/>
          <p:nvPr/>
        </p:nvSpPr>
        <p:spPr>
          <a:xfrm>
            <a:off x="13907453" y="8949705"/>
            <a:ext cx="3237548" cy="464790"/>
          </a:xfrm>
          <a:prstGeom prst="rect">
            <a:avLst/>
          </a:prstGeom>
          <a:noFill/>
          <a:ln/>
        </p:spPr>
        <p:txBody>
          <a:bodyPr wrap="square" lIns="25400" tIns="25400" rIns="25400" bIns="25400" rtlCol="0" anchor="t">
            <a:normAutofit/>
          </a:bodyPr>
          <a:lstStyle/>
          <a:p>
            <a:pPr algn="r" indent="0" marL="0">
              <a:lnSpc>
                <a:spcPct val="140000"/>
              </a:lnSpc>
              <a:buNone/>
            </a:pPr>
            <a:r>
              <a:rPr lang="en-US" sz="1200" dirty="0">
                <a:solidFill>
                  <a:srgbClr val="9A9384"/>
                </a:solidFill>
                <a:latin typeface="Libre Franklin" pitchFamily="34" charset="0"/>
                <a:ea typeface="Libre Franklin" pitchFamily="34" charset="-122"/>
                <a:cs typeface="Libre Franklin" pitchFamily="34" charset="-120"/>
              </a:rPr>
              <a:t>Isolates the one variable we actually study: association.</a:t>
            </a:r>
            <a:endParaRPr lang="en-US" sz="1200" dirty="0"/>
          </a:p>
        </p:txBody>
      </p:sp>
      <p:sp>
        <p:nvSpPr>
          <p:cNvPr id="18" name="Text 16"/>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6E6757"/>
                </a:solidFill>
                <a:latin typeface="Libre Franklin" pitchFamily="34" charset="0"/>
                <a:ea typeface="Libre Franklin" pitchFamily="34" charset="-122"/>
                <a:cs typeface="Libre Franklin" pitchFamily="34" charset="-120"/>
              </a:rPr>
              <a:t>BAMBI WILDLIFE MOT</a:t>
            </a:r>
            <a:endParaRPr lang="en-US" sz="900" dirty="0"/>
          </a:p>
        </p:txBody>
      </p:sp>
      <p:sp>
        <p:nvSpPr>
          <p:cNvPr id="19" name="Text 17"/>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6E6757"/>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2913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05</a:t>
            </a:r>
            <a:endParaRPr lang="en-US" sz="1125" dirty="0"/>
          </a:p>
        </p:txBody>
      </p:sp>
      <p:sp>
        <p:nvSpPr>
          <p:cNvPr id="4" name="Text 2"/>
          <p:cNvSpPr/>
          <p:nvPr/>
        </p:nvSpPr>
        <p:spPr>
          <a:xfrm>
            <a:off x="1529283"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2256" y="800100"/>
            <a:ext cx="160379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THE TRACKERS</a:t>
            </a:r>
            <a:endParaRPr lang="en-US" sz="1125" dirty="0"/>
          </a:p>
        </p:txBody>
      </p:sp>
      <p:sp>
        <p:nvSpPr>
          <p:cNvPr id="6" name="Text 4"/>
          <p:cNvSpPr/>
          <p:nvPr/>
        </p:nvSpPr>
        <p:spPr>
          <a:xfrm>
            <a:off x="1143000" y="1381125"/>
            <a:ext cx="17602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67" kern="0" dirty="0">
                <a:solidFill>
                  <a:srgbClr val="1A1814"/>
                </a:solidFill>
                <a:latin typeface="Newsreader" pitchFamily="34" charset="0"/>
                <a:ea typeface="Newsreader" pitchFamily="34" charset="-122"/>
                <a:cs typeface="Newsreader" pitchFamily="34" charset="-120"/>
              </a:rPr>
              <a:t>Four configurations, one framework</a:t>
            </a:r>
            <a:endParaRPr lang="en-US" sz="4500" dirty="0"/>
          </a:p>
        </p:txBody>
      </p:sp>
      <p:sp>
        <p:nvSpPr>
          <p:cNvPr id="7" name="Shape 5"/>
          <p:cNvSpPr/>
          <p:nvPr/>
        </p:nvSpPr>
        <p:spPr>
          <a:xfrm>
            <a:off x="1143000" y="3671888"/>
            <a:ext cx="3829050" cy="4095750"/>
          </a:xfrm>
          <a:prstGeom prst="roundRect">
            <a:avLst>
              <a:gd name="adj" fmla="val 3483"/>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8" name="Text 6"/>
          <p:cNvSpPr/>
          <p:nvPr/>
        </p:nvSpPr>
        <p:spPr>
          <a:xfrm>
            <a:off x="1438275" y="4005262"/>
            <a:ext cx="3562350" cy="185738"/>
          </a:xfrm>
          <a:prstGeom prst="rect">
            <a:avLst/>
          </a:prstGeom>
          <a:noFill/>
          <a:ln/>
        </p:spPr>
        <p:txBody>
          <a:bodyPr wrap="square" lIns="25400" tIns="25400" rIns="25400" bIns="25400" rtlCol="0" anchor="t">
            <a:normAutofit/>
          </a:bodyPr>
          <a:lstStyle/>
          <a:p>
            <a:pPr algn="l" indent="0" marL="0">
              <a:buNone/>
            </a:pPr>
            <a:r>
              <a:rPr lang="en-US" sz="975" b="1" spc="117" kern="0" dirty="0">
                <a:solidFill>
                  <a:srgbClr val="A89F8C"/>
                </a:solidFill>
                <a:latin typeface="Libre Franklin" pitchFamily="34" charset="0"/>
                <a:ea typeface="Libre Franklin" pitchFamily="34" charset="-122"/>
                <a:cs typeface="Libre Franklin" pitchFamily="34" charset="-120"/>
              </a:rPr>
              <a:t>BASELINE</a:t>
            </a:r>
            <a:endParaRPr lang="en-US" sz="975" dirty="0"/>
          </a:p>
        </p:txBody>
      </p:sp>
      <p:sp>
        <p:nvSpPr>
          <p:cNvPr id="9" name="Text 7"/>
          <p:cNvSpPr/>
          <p:nvPr/>
        </p:nvSpPr>
        <p:spPr>
          <a:xfrm>
            <a:off x="1438275" y="4248150"/>
            <a:ext cx="3562350" cy="361950"/>
          </a:xfrm>
          <a:prstGeom prst="rect">
            <a:avLst/>
          </a:prstGeom>
          <a:noFill/>
          <a:ln/>
        </p:spPr>
        <p:txBody>
          <a:bodyPr wrap="square" lIns="25400" tIns="25400" rIns="25400" bIns="25400" rtlCol="0" anchor="t">
            <a:normAutofit/>
          </a:bodyPr>
          <a:lstStyle/>
          <a:p>
            <a:pPr algn="l" indent="0" marL="0">
              <a:buNone/>
            </a:pPr>
            <a:r>
              <a:rPr lang="en-US" sz="2550" b="1" dirty="0">
                <a:solidFill>
                  <a:srgbClr val="1A1814"/>
                </a:solidFill>
                <a:latin typeface="Newsreader" pitchFamily="34" charset="0"/>
                <a:ea typeface="Newsreader" pitchFamily="34" charset="-122"/>
                <a:cs typeface="Newsreader" pitchFamily="34" charset="-120"/>
              </a:rPr>
              <a:t>SORT</a:t>
            </a:r>
            <a:endParaRPr lang="en-US" sz="2550" dirty="0"/>
          </a:p>
        </p:txBody>
      </p:sp>
      <p:sp>
        <p:nvSpPr>
          <p:cNvPr id="10" name="Text 8"/>
          <p:cNvSpPr/>
          <p:nvPr/>
        </p:nvSpPr>
        <p:spPr>
          <a:xfrm>
            <a:off x="1438275" y="4705350"/>
            <a:ext cx="3562350"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Kalman + IoU only.</a:t>
            </a:r>
            <a:endParaRPr lang="en-US" sz="1350" dirty="0"/>
          </a:p>
        </p:txBody>
      </p:sp>
      <p:sp>
        <p:nvSpPr>
          <p:cNvPr id="11" name="Shape 9"/>
          <p:cNvSpPr/>
          <p:nvPr/>
        </p:nvSpPr>
        <p:spPr>
          <a:xfrm>
            <a:off x="1438275" y="7072313"/>
            <a:ext cx="3238500" cy="9525"/>
          </a:xfrm>
          <a:prstGeom prst="rect">
            <a:avLst/>
          </a:prstGeom>
          <a:solidFill>
            <a:srgbClr val="ECE6D9"/>
          </a:solidFill>
          <a:ln/>
        </p:spPr>
      </p:sp>
      <p:sp>
        <p:nvSpPr>
          <p:cNvPr id="12" name="Text 10"/>
          <p:cNvSpPr/>
          <p:nvPr/>
        </p:nvSpPr>
        <p:spPr>
          <a:xfrm>
            <a:off x="1438275" y="7272338"/>
            <a:ext cx="3335655" cy="200025"/>
          </a:xfrm>
          <a:prstGeom prst="rect">
            <a:avLst/>
          </a:prstGeom>
          <a:noFill/>
          <a:ln/>
        </p:spPr>
        <p:txBody>
          <a:bodyPr wrap="square" lIns="25400" tIns="25400" rIns="25400" bIns="25400" rtlCol="0" anchor="t">
            <a:normAutofit/>
          </a:bodyPr>
          <a:lstStyle/>
          <a:p>
            <a:pPr algn="l" indent="0" marL="0">
              <a:buNone/>
            </a:pPr>
            <a:r>
              <a:rPr lang="en-US" sz="1050" dirty="0">
                <a:solidFill>
                  <a:srgbClr val="A89F8C"/>
                </a:solidFill>
                <a:latin typeface="Libre Franklin" pitchFamily="34" charset="0"/>
                <a:ea typeface="Libre Franklin" pitchFamily="34" charset="-122"/>
                <a:cs typeface="Libre Franklin" pitchFamily="34" charset="-120"/>
              </a:rPr>
              <a:t>Re-ID — none</a:t>
            </a:r>
            <a:endParaRPr lang="en-US" sz="1050" dirty="0"/>
          </a:p>
        </p:txBody>
      </p:sp>
      <p:sp>
        <p:nvSpPr>
          <p:cNvPr id="13" name="Shape 11"/>
          <p:cNvSpPr/>
          <p:nvPr/>
        </p:nvSpPr>
        <p:spPr>
          <a:xfrm>
            <a:off x="5200650" y="3671888"/>
            <a:ext cx="3829050" cy="4095750"/>
          </a:xfrm>
          <a:prstGeom prst="roundRect">
            <a:avLst>
              <a:gd name="adj" fmla="val 3483"/>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4" name="Text 12"/>
          <p:cNvSpPr/>
          <p:nvPr/>
        </p:nvSpPr>
        <p:spPr>
          <a:xfrm>
            <a:off x="5495925" y="4005262"/>
            <a:ext cx="3562350" cy="185738"/>
          </a:xfrm>
          <a:prstGeom prst="rect">
            <a:avLst/>
          </a:prstGeom>
          <a:noFill/>
          <a:ln/>
        </p:spPr>
        <p:txBody>
          <a:bodyPr wrap="square" lIns="25400" tIns="25400" rIns="25400" bIns="25400" rtlCol="0" anchor="t">
            <a:normAutofit/>
          </a:bodyPr>
          <a:lstStyle/>
          <a:p>
            <a:pPr algn="l" indent="0" marL="0">
              <a:buNone/>
            </a:pPr>
            <a:r>
              <a:rPr lang="en-US" sz="975" b="1" spc="117" kern="0" dirty="0">
                <a:solidFill>
                  <a:srgbClr val="A89F8C"/>
                </a:solidFill>
                <a:latin typeface="Libre Franklin" pitchFamily="34" charset="0"/>
                <a:ea typeface="Libre Franklin" pitchFamily="34" charset="-122"/>
                <a:cs typeface="Libre Franklin" pitchFamily="34" charset="-120"/>
              </a:rPr>
              <a:t>RECOVERY</a:t>
            </a:r>
            <a:endParaRPr lang="en-US" sz="975" dirty="0"/>
          </a:p>
        </p:txBody>
      </p:sp>
      <p:sp>
        <p:nvSpPr>
          <p:cNvPr id="15" name="Text 13"/>
          <p:cNvSpPr/>
          <p:nvPr/>
        </p:nvSpPr>
        <p:spPr>
          <a:xfrm>
            <a:off x="5495925" y="4248150"/>
            <a:ext cx="3562350" cy="361950"/>
          </a:xfrm>
          <a:prstGeom prst="rect">
            <a:avLst/>
          </a:prstGeom>
          <a:noFill/>
          <a:ln/>
        </p:spPr>
        <p:txBody>
          <a:bodyPr wrap="square" lIns="25400" tIns="25400" rIns="25400" bIns="25400" rtlCol="0" anchor="t">
            <a:normAutofit/>
          </a:bodyPr>
          <a:lstStyle/>
          <a:p>
            <a:pPr algn="l" indent="0" marL="0">
              <a:buNone/>
            </a:pPr>
            <a:r>
              <a:rPr lang="en-US" sz="2550" b="1" dirty="0">
                <a:solidFill>
                  <a:srgbClr val="1A1814"/>
                </a:solidFill>
                <a:latin typeface="Newsreader" pitchFamily="34" charset="0"/>
                <a:ea typeface="Newsreader" pitchFamily="34" charset="-122"/>
                <a:cs typeface="Newsreader" pitchFamily="34" charset="-120"/>
              </a:rPr>
              <a:t>ByteTrack</a:t>
            </a:r>
            <a:endParaRPr lang="en-US" sz="2550" dirty="0"/>
          </a:p>
        </p:txBody>
      </p:sp>
      <p:sp>
        <p:nvSpPr>
          <p:cNvPr id="16" name="Text 14"/>
          <p:cNvSpPr/>
          <p:nvPr/>
        </p:nvSpPr>
        <p:spPr>
          <a:xfrm>
            <a:off x="5495925" y="4705350"/>
            <a:ext cx="3335655"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Also recovers low-confidence detections.</a:t>
            </a:r>
            <a:endParaRPr lang="en-US" sz="1350" dirty="0"/>
          </a:p>
        </p:txBody>
      </p:sp>
      <p:sp>
        <p:nvSpPr>
          <p:cNvPr id="17" name="Shape 15"/>
          <p:cNvSpPr/>
          <p:nvPr/>
        </p:nvSpPr>
        <p:spPr>
          <a:xfrm>
            <a:off x="5495925" y="7072313"/>
            <a:ext cx="3238500" cy="9525"/>
          </a:xfrm>
          <a:prstGeom prst="rect">
            <a:avLst/>
          </a:prstGeom>
          <a:solidFill>
            <a:srgbClr val="ECE6D9"/>
          </a:solidFill>
          <a:ln/>
        </p:spPr>
      </p:sp>
      <p:sp>
        <p:nvSpPr>
          <p:cNvPr id="18" name="Text 16"/>
          <p:cNvSpPr/>
          <p:nvPr/>
        </p:nvSpPr>
        <p:spPr>
          <a:xfrm>
            <a:off x="5495925" y="7272338"/>
            <a:ext cx="3335655" cy="200025"/>
          </a:xfrm>
          <a:prstGeom prst="rect">
            <a:avLst/>
          </a:prstGeom>
          <a:noFill/>
          <a:ln/>
        </p:spPr>
        <p:txBody>
          <a:bodyPr wrap="square" lIns="25400" tIns="25400" rIns="25400" bIns="25400" rtlCol="0" anchor="t">
            <a:normAutofit/>
          </a:bodyPr>
          <a:lstStyle/>
          <a:p>
            <a:pPr algn="l" indent="0" marL="0">
              <a:buNone/>
            </a:pPr>
            <a:r>
              <a:rPr lang="en-US" sz="1050" dirty="0">
                <a:solidFill>
                  <a:srgbClr val="A89F8C"/>
                </a:solidFill>
                <a:latin typeface="Libre Franklin" pitchFamily="34" charset="0"/>
                <a:ea typeface="Libre Franklin" pitchFamily="34" charset="-122"/>
                <a:cs typeface="Libre Franklin" pitchFamily="34" charset="-120"/>
              </a:rPr>
              <a:t>Re-ID — none</a:t>
            </a:r>
            <a:endParaRPr lang="en-US" sz="1050" dirty="0"/>
          </a:p>
        </p:txBody>
      </p:sp>
      <p:sp>
        <p:nvSpPr>
          <p:cNvPr id="19" name="Shape 17"/>
          <p:cNvSpPr/>
          <p:nvPr/>
        </p:nvSpPr>
        <p:spPr>
          <a:xfrm>
            <a:off x="9258300" y="3671888"/>
            <a:ext cx="3829050" cy="4095750"/>
          </a:xfrm>
          <a:prstGeom prst="roundRect">
            <a:avLst>
              <a:gd name="adj" fmla="val 3483"/>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20" name="Text 18"/>
          <p:cNvSpPr/>
          <p:nvPr/>
        </p:nvSpPr>
        <p:spPr>
          <a:xfrm>
            <a:off x="9553575" y="4005262"/>
            <a:ext cx="3562350" cy="185738"/>
          </a:xfrm>
          <a:prstGeom prst="rect">
            <a:avLst/>
          </a:prstGeom>
          <a:noFill/>
          <a:ln/>
        </p:spPr>
        <p:txBody>
          <a:bodyPr wrap="square" lIns="25400" tIns="25400" rIns="25400" bIns="25400" rtlCol="0" anchor="t">
            <a:normAutofit/>
          </a:bodyPr>
          <a:lstStyle/>
          <a:p>
            <a:pPr algn="l" indent="0" marL="0">
              <a:buNone/>
            </a:pPr>
            <a:r>
              <a:rPr lang="en-US" sz="975" b="1" spc="117" kern="0" dirty="0">
                <a:solidFill>
                  <a:srgbClr val="A89F8C"/>
                </a:solidFill>
                <a:latin typeface="Libre Franklin" pitchFamily="34" charset="0"/>
                <a:ea typeface="Libre Franklin" pitchFamily="34" charset="-122"/>
                <a:cs typeface="Libre Franklin" pitchFamily="34" charset="-120"/>
              </a:rPr>
              <a:t>MOTION-AWARE</a:t>
            </a:r>
            <a:endParaRPr lang="en-US" sz="975" dirty="0"/>
          </a:p>
        </p:txBody>
      </p:sp>
      <p:sp>
        <p:nvSpPr>
          <p:cNvPr id="21" name="Text 19"/>
          <p:cNvSpPr/>
          <p:nvPr/>
        </p:nvSpPr>
        <p:spPr>
          <a:xfrm>
            <a:off x="9553575" y="4248150"/>
            <a:ext cx="3562350" cy="361950"/>
          </a:xfrm>
          <a:prstGeom prst="rect">
            <a:avLst/>
          </a:prstGeom>
          <a:noFill/>
          <a:ln/>
        </p:spPr>
        <p:txBody>
          <a:bodyPr wrap="square" lIns="25400" tIns="25400" rIns="25400" bIns="25400" rtlCol="0" anchor="t">
            <a:normAutofit/>
          </a:bodyPr>
          <a:lstStyle/>
          <a:p>
            <a:pPr algn="l" indent="0" marL="0">
              <a:buNone/>
            </a:pPr>
            <a:r>
              <a:rPr lang="en-US" sz="2550" b="1" dirty="0">
                <a:solidFill>
                  <a:srgbClr val="1A1814"/>
                </a:solidFill>
                <a:latin typeface="Newsreader" pitchFamily="34" charset="0"/>
                <a:ea typeface="Newsreader" pitchFamily="34" charset="-122"/>
                <a:cs typeface="Newsreader" pitchFamily="34" charset="-120"/>
              </a:rPr>
              <a:t>BoT-SORT</a:t>
            </a:r>
            <a:endParaRPr lang="en-US" sz="2550" dirty="0"/>
          </a:p>
        </p:txBody>
      </p:sp>
      <p:sp>
        <p:nvSpPr>
          <p:cNvPr id="22" name="Text 20"/>
          <p:cNvSpPr/>
          <p:nvPr/>
        </p:nvSpPr>
        <p:spPr>
          <a:xfrm>
            <a:off x="9553575" y="4705350"/>
            <a:ext cx="3335655"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Camera-motion compensation + better matching.</a:t>
            </a:r>
            <a:endParaRPr lang="en-US" sz="1350" dirty="0"/>
          </a:p>
        </p:txBody>
      </p:sp>
      <p:sp>
        <p:nvSpPr>
          <p:cNvPr id="23" name="Shape 21"/>
          <p:cNvSpPr/>
          <p:nvPr/>
        </p:nvSpPr>
        <p:spPr>
          <a:xfrm>
            <a:off x="9553575" y="7072313"/>
            <a:ext cx="3238500" cy="9525"/>
          </a:xfrm>
          <a:prstGeom prst="rect">
            <a:avLst/>
          </a:prstGeom>
          <a:solidFill>
            <a:srgbClr val="ECE6D9"/>
          </a:solidFill>
          <a:ln/>
        </p:spPr>
      </p:sp>
      <p:sp>
        <p:nvSpPr>
          <p:cNvPr id="24" name="Text 22"/>
          <p:cNvSpPr/>
          <p:nvPr/>
        </p:nvSpPr>
        <p:spPr>
          <a:xfrm>
            <a:off x="9553575" y="7272338"/>
            <a:ext cx="3335655" cy="200025"/>
          </a:xfrm>
          <a:prstGeom prst="rect">
            <a:avLst/>
          </a:prstGeom>
          <a:noFill/>
          <a:ln/>
        </p:spPr>
        <p:txBody>
          <a:bodyPr wrap="square" lIns="25400" tIns="25400" rIns="25400" bIns="25400" rtlCol="0" anchor="t">
            <a:normAutofit/>
          </a:bodyPr>
          <a:lstStyle/>
          <a:p>
            <a:pPr algn="l" indent="0" marL="0">
              <a:buNone/>
            </a:pPr>
            <a:r>
              <a:rPr lang="en-US" sz="1050" dirty="0">
                <a:solidFill>
                  <a:srgbClr val="A89F8C"/>
                </a:solidFill>
                <a:latin typeface="Libre Franklin" pitchFamily="34" charset="0"/>
                <a:ea typeface="Libre Franklin" pitchFamily="34" charset="-122"/>
                <a:cs typeface="Libre Franklin" pitchFamily="34" charset="-120"/>
              </a:rPr>
              <a:t>Re-ID — none</a:t>
            </a:r>
            <a:endParaRPr lang="en-US" sz="1050" dirty="0"/>
          </a:p>
        </p:txBody>
      </p:sp>
      <p:sp>
        <p:nvSpPr>
          <p:cNvPr id="25" name="Shape 23"/>
          <p:cNvSpPr/>
          <p:nvPr/>
        </p:nvSpPr>
        <p:spPr>
          <a:xfrm>
            <a:off x="13315950" y="3671888"/>
            <a:ext cx="3829050" cy="4095750"/>
          </a:xfrm>
          <a:prstGeom prst="roundRect">
            <a:avLst>
              <a:gd name="adj" fmla="val 3483"/>
            </a:avLst>
          </a:prstGeom>
          <a:solidFill>
            <a:srgbClr val="ECF6F1"/>
          </a:solidFill>
          <a:ln w="14288">
            <a:solidFill>
              <a:srgbClr val="18936A"/>
            </a:solidFill>
            <a:prstDash val="solid"/>
          </a:ln>
        </p:spPr>
      </p:sp>
      <p:sp>
        <p:nvSpPr>
          <p:cNvPr id="26" name="Text 24"/>
          <p:cNvSpPr/>
          <p:nvPr/>
        </p:nvSpPr>
        <p:spPr>
          <a:xfrm>
            <a:off x="13615988" y="4010025"/>
            <a:ext cx="3551873" cy="185738"/>
          </a:xfrm>
          <a:prstGeom prst="rect">
            <a:avLst/>
          </a:prstGeom>
          <a:noFill/>
          <a:ln/>
        </p:spPr>
        <p:txBody>
          <a:bodyPr wrap="square" lIns="25400" tIns="25400" rIns="25400" bIns="25400" rtlCol="0" anchor="t">
            <a:normAutofit/>
          </a:bodyPr>
          <a:lstStyle/>
          <a:p>
            <a:pPr algn="l" indent="0" marL="0">
              <a:buNone/>
            </a:pPr>
            <a:r>
              <a:rPr lang="en-US" sz="975" b="1" spc="117" kern="0" dirty="0">
                <a:solidFill>
                  <a:srgbClr val="0F7A57"/>
                </a:solidFill>
                <a:latin typeface="Libre Franklin" pitchFamily="34" charset="0"/>
                <a:ea typeface="Libre Franklin" pitchFamily="34" charset="-122"/>
                <a:cs typeface="Libre Franklin" pitchFamily="34" charset="-120"/>
              </a:rPr>
              <a:t>WINNER</a:t>
            </a:r>
            <a:endParaRPr lang="en-US" sz="975" dirty="0"/>
          </a:p>
        </p:txBody>
      </p:sp>
      <p:sp>
        <p:nvSpPr>
          <p:cNvPr id="27" name="Text 25"/>
          <p:cNvSpPr/>
          <p:nvPr/>
        </p:nvSpPr>
        <p:spPr>
          <a:xfrm>
            <a:off x="13615988" y="4252913"/>
            <a:ext cx="3325844" cy="678061"/>
          </a:xfrm>
          <a:prstGeom prst="rect">
            <a:avLst/>
          </a:prstGeom>
          <a:noFill/>
          <a:ln/>
        </p:spPr>
        <p:txBody>
          <a:bodyPr wrap="square" lIns="25400" tIns="25400" rIns="25400" bIns="25400" rtlCol="0" anchor="t">
            <a:normAutofit/>
          </a:bodyPr>
          <a:lstStyle/>
          <a:p>
            <a:pPr algn="l" indent="0" marL="0">
              <a:lnSpc>
                <a:spcPct val="105000"/>
              </a:lnSpc>
              <a:buNone/>
            </a:pPr>
            <a:r>
              <a:rPr lang="en-US" sz="2400" b="1" dirty="0">
                <a:solidFill>
                  <a:srgbClr val="0F7A57"/>
                </a:solidFill>
                <a:latin typeface="Newsreader" pitchFamily="34" charset="0"/>
                <a:ea typeface="Newsreader" pitchFamily="34" charset="-122"/>
                <a:cs typeface="Newsreader" pitchFamily="34" charset="-120"/>
              </a:rPr>
              <a:t>BoT-SORT + ReID</a:t>
            </a:r>
            <a:endParaRPr lang="en-US" sz="2400" dirty="0"/>
          </a:p>
        </p:txBody>
      </p:sp>
      <p:sp>
        <p:nvSpPr>
          <p:cNvPr id="28" name="Text 26"/>
          <p:cNvSpPr/>
          <p:nvPr/>
        </p:nvSpPr>
        <p:spPr>
          <a:xfrm>
            <a:off x="13615988" y="5026223"/>
            <a:ext cx="355187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F5249"/>
                </a:solidFill>
                <a:latin typeface="Libre Franklin" pitchFamily="34" charset="0"/>
                <a:ea typeface="Libre Franklin" pitchFamily="34" charset="-122"/>
                <a:cs typeface="Libre Franklin" pitchFamily="34" charset="-120"/>
              </a:rPr>
              <a:t>Adds deep appearance features.</a:t>
            </a:r>
            <a:endParaRPr lang="en-US" sz="1350" dirty="0"/>
          </a:p>
        </p:txBody>
      </p:sp>
      <p:sp>
        <p:nvSpPr>
          <p:cNvPr id="29" name="Shape 27"/>
          <p:cNvSpPr/>
          <p:nvPr/>
        </p:nvSpPr>
        <p:spPr>
          <a:xfrm>
            <a:off x="13615988" y="7067550"/>
            <a:ext cx="3228975" cy="9525"/>
          </a:xfrm>
          <a:prstGeom prst="rect">
            <a:avLst/>
          </a:prstGeom>
          <a:solidFill>
            <a:srgbClr val="BBE0CE"/>
          </a:solidFill>
          <a:ln/>
        </p:spPr>
      </p:sp>
      <p:sp>
        <p:nvSpPr>
          <p:cNvPr id="30" name="Text 28"/>
          <p:cNvSpPr/>
          <p:nvPr/>
        </p:nvSpPr>
        <p:spPr>
          <a:xfrm>
            <a:off x="13615988" y="7267575"/>
            <a:ext cx="3325844" cy="200025"/>
          </a:xfrm>
          <a:prstGeom prst="rect">
            <a:avLst/>
          </a:prstGeom>
          <a:noFill/>
          <a:ln/>
        </p:spPr>
        <p:txBody>
          <a:bodyPr wrap="square" lIns="25400" tIns="25400" rIns="25400" bIns="25400" rtlCol="0" anchor="t">
            <a:normAutofit/>
          </a:bodyPr>
          <a:lstStyle/>
          <a:p>
            <a:pPr algn="l" indent="0" marL="0">
              <a:buNone/>
            </a:pPr>
            <a:r>
              <a:rPr lang="en-US" sz="1050" b="1" dirty="0">
                <a:solidFill>
                  <a:srgbClr val="0F7A57"/>
                </a:solidFill>
                <a:latin typeface="Libre Franklin" pitchFamily="34" charset="0"/>
                <a:ea typeface="Libre Franklin" pitchFamily="34" charset="-122"/>
                <a:cs typeface="Libre Franklin" pitchFamily="34" charset="-120"/>
              </a:rPr>
              <a:t>Re-ID — OSNet wrapper</a:t>
            </a:r>
            <a:endParaRPr lang="en-US" sz="1050" dirty="0"/>
          </a:p>
        </p:txBody>
      </p:sp>
      <p:sp>
        <p:nvSpPr>
          <p:cNvPr id="31" name="Text 29"/>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32" name="Text 30"/>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3032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06</a:t>
            </a:r>
            <a:endParaRPr lang="en-US" sz="1125" dirty="0"/>
          </a:p>
        </p:txBody>
      </p:sp>
      <p:sp>
        <p:nvSpPr>
          <p:cNvPr id="4" name="Text 2"/>
          <p:cNvSpPr/>
          <p:nvPr/>
        </p:nvSpPr>
        <p:spPr>
          <a:xfrm>
            <a:off x="1530474"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3447" y="800100"/>
            <a:ext cx="3118612"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HIGHLIGHT A · CUSTOM RE-ID</a:t>
            </a:r>
            <a:endParaRPr lang="en-US" sz="1125" dirty="0"/>
          </a:p>
        </p:txBody>
      </p:sp>
      <p:sp>
        <p:nvSpPr>
          <p:cNvPr id="6" name="Text 4"/>
          <p:cNvSpPr/>
          <p:nvPr/>
        </p:nvSpPr>
        <p:spPr>
          <a:xfrm>
            <a:off x="1143000" y="1381125"/>
            <a:ext cx="125730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spc="-65" kern="0" dirty="0">
                <a:solidFill>
                  <a:srgbClr val="1A1814"/>
                </a:solidFill>
                <a:latin typeface="Newsreader" pitchFamily="34" charset="0"/>
                <a:ea typeface="Newsreader" pitchFamily="34" charset="-122"/>
                <a:cs typeface="Newsreader" pitchFamily="34" charset="-120"/>
              </a:rPr>
              <a:t>Making deep Re-ID work on </a:t>
            </a:r>
            <a:pPr algn="l" indent="0" marL="0">
              <a:lnSpc>
                <a:spcPct val="100000"/>
              </a:lnSpc>
              <a:buNone/>
            </a:pPr>
            <a:r>
              <a:rPr lang="en-US" sz="4350" i="1" spc="-65" kern="0" dirty="0">
                <a:solidFill>
                  <a:srgbClr val="0F7A57"/>
                </a:solidFill>
                <a:latin typeface="Newsreader" pitchFamily="34" charset="0"/>
                <a:ea typeface="Newsreader" pitchFamily="34" charset="-122"/>
                <a:cs typeface="Newsreader" pitchFamily="34" charset="-120"/>
              </a:rPr>
              <a:t>1-channel thermal</a:t>
            </a:r>
            <a:endParaRPr lang="en-US" sz="4350" dirty="0"/>
          </a:p>
        </p:txBody>
      </p:sp>
      <p:sp>
        <p:nvSpPr>
          <p:cNvPr id="7" name="Text 5"/>
          <p:cNvSpPr/>
          <p:nvPr/>
        </p:nvSpPr>
        <p:spPr>
          <a:xfrm>
            <a:off x="1143000" y="2143125"/>
            <a:ext cx="11576685"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514B40"/>
                </a:solidFill>
                <a:latin typeface="Newsreader" pitchFamily="34" charset="0"/>
                <a:ea typeface="Newsreader" pitchFamily="34" charset="-122"/>
                <a:cs typeface="Newsreader" pitchFamily="34" charset="-120"/>
              </a:rPr>
              <a:t>Re-ID libraries assume 3-channel RGB and </a:t>
            </a:r>
            <a:pPr algn="l" indent="0" marL="0">
              <a:lnSpc>
                <a:spcPct val="145000"/>
              </a:lnSpc>
              <a:buNone/>
            </a:pPr>
            <a:r>
              <a:rPr lang="en-US" sz="1875" b="1" dirty="0">
                <a:solidFill>
                  <a:srgbClr val="C24A35"/>
                </a:solidFill>
                <a:latin typeface="Newsreader" pitchFamily="34" charset="0"/>
                <a:ea typeface="Newsreader" pitchFamily="34" charset="-122"/>
                <a:cs typeface="Newsreader" pitchFamily="34" charset="-120"/>
              </a:rPr>
              <a:t>crash </a:t>
            </a:r>
            <a:pPr algn="l" indent="0" marL="0">
              <a:lnSpc>
                <a:spcPct val="145000"/>
              </a:lnSpc>
              <a:buNone/>
            </a:pPr>
            <a:r>
              <a:rPr lang="en-US" sz="1875" dirty="0">
                <a:solidFill>
                  <a:srgbClr val="514B40"/>
                </a:solidFill>
                <a:latin typeface="Newsreader" pitchFamily="34" charset="0"/>
                <a:ea typeface="Newsreader" pitchFamily="34" charset="-122"/>
                <a:cs typeface="Newsreader" pitchFamily="34" charset="-120"/>
              </a:rPr>
              <a:t>on thermal input. Our </a:t>
            </a:r>
            <a:pPr algn="l" indent="0" marL="0">
              <a:lnSpc>
                <a:spcPct val="145000"/>
              </a:lnSpc>
              <a:buNone/>
            </a:pPr>
            <a:r>
              <a:rPr lang="en-US" sz="1575" b="1" dirty="0">
                <a:solidFill>
                  <a:srgbClr val="514B40"/>
                </a:solidFill>
                <a:latin typeface="Libre Franklin" pitchFamily="34" charset="0"/>
                <a:ea typeface="Libre Franklin" pitchFamily="34" charset="-122"/>
                <a:cs typeface="Libre Franklin" pitchFamily="34" charset="-120"/>
              </a:rPr>
              <a:t>OSNetReIDWrapper </a:t>
            </a:r>
            <a:pPr algn="l" indent="0" marL="0">
              <a:lnSpc>
                <a:spcPct val="145000"/>
              </a:lnSpc>
              <a:buNone/>
            </a:pPr>
            <a:r>
              <a:rPr lang="en-US" sz="1875" dirty="0">
                <a:solidFill>
                  <a:srgbClr val="514B40"/>
                </a:solidFill>
                <a:latin typeface="Newsreader" pitchFamily="34" charset="0"/>
                <a:ea typeface="Newsreader" pitchFamily="34" charset="-122"/>
                <a:cs typeface="Newsreader" pitchFamily="34" charset="-120"/>
              </a:rPr>
              <a:t>bridges Torchreid's OSNet into BoxMOT.</a:t>
            </a:r>
            <a:endParaRPr lang="en-US" sz="1875" dirty="0"/>
          </a:p>
        </p:txBody>
      </p:sp>
      <p:sp>
        <p:nvSpPr>
          <p:cNvPr id="8" name="Shape 6"/>
          <p:cNvSpPr/>
          <p:nvPr/>
        </p:nvSpPr>
        <p:spPr>
          <a:xfrm>
            <a:off x="1143000" y="4913040"/>
            <a:ext cx="2817465" cy="2190750"/>
          </a:xfrm>
          <a:prstGeom prst="roundRect">
            <a:avLst>
              <a:gd name="adj" fmla="val 5217"/>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9" name="Text 7"/>
          <p:cNvSpPr/>
          <p:nvPr/>
        </p:nvSpPr>
        <p:spPr>
          <a:xfrm>
            <a:off x="1362075" y="5170215"/>
            <a:ext cx="2617247"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C2BAA8"/>
                </a:solidFill>
                <a:latin typeface="Newsreader" pitchFamily="34" charset="0"/>
                <a:ea typeface="Newsreader" pitchFamily="34" charset="-122"/>
                <a:cs typeface="Newsreader" pitchFamily="34" charset="-120"/>
              </a:rPr>
              <a:t>01</a:t>
            </a:r>
            <a:endParaRPr lang="en-US" sz="1800" dirty="0"/>
          </a:p>
        </p:txBody>
      </p:sp>
      <p:sp>
        <p:nvSpPr>
          <p:cNvPr id="10" name="Text 8"/>
          <p:cNvSpPr/>
          <p:nvPr/>
        </p:nvSpPr>
        <p:spPr>
          <a:xfrm>
            <a:off x="1362075" y="5494065"/>
            <a:ext cx="2617247"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dirty="0">
                <a:solidFill>
                  <a:srgbClr val="1A1814"/>
                </a:solidFill>
                <a:latin typeface="Newsreader" pitchFamily="34" charset="0"/>
                <a:ea typeface="Newsreader" pitchFamily="34" charset="-122"/>
                <a:cs typeface="Newsreader" pitchFamily="34" charset="-120"/>
              </a:rPr>
              <a:t>Intercept patch</a:t>
            </a:r>
            <a:endParaRPr lang="en-US" sz="1650" dirty="0"/>
          </a:p>
        </p:txBody>
      </p:sp>
      <p:sp>
        <p:nvSpPr>
          <p:cNvPr id="11" name="Text 9"/>
          <p:cNvSpPr/>
          <p:nvPr/>
        </p:nvSpPr>
        <p:spPr>
          <a:xfrm>
            <a:off x="1362075" y="5821710"/>
            <a:ext cx="2617247"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8A8373"/>
                </a:solidFill>
                <a:latin typeface="Libre Franklin" pitchFamily="34" charset="0"/>
                <a:ea typeface="Libre Franklin" pitchFamily="34" charset="-122"/>
                <a:cs typeface="Libre Franklin" pitchFamily="34" charset="-120"/>
              </a:rPr>
              <a:t>1-channel grayscale numpy</a:t>
            </a:r>
            <a:endParaRPr lang="en-US" sz="1200" dirty="0"/>
          </a:p>
        </p:txBody>
      </p:sp>
      <p:sp>
        <p:nvSpPr>
          <p:cNvPr id="12" name="Text 10"/>
          <p:cNvSpPr/>
          <p:nvPr/>
        </p:nvSpPr>
        <p:spPr>
          <a:xfrm>
            <a:off x="4074765" y="4913040"/>
            <a:ext cx="323850" cy="2228850"/>
          </a:xfrm>
          <a:prstGeom prst="rect">
            <a:avLst/>
          </a:prstGeom>
          <a:noFill/>
          <a:ln/>
        </p:spPr>
        <p:txBody>
          <a:bodyPr wrap="square" lIns="25400" tIns="25400" rIns="25400" bIns="25400" rtlCol="0" anchor="ctr">
            <a:normAutofit/>
          </a:bodyPr>
          <a:lstStyle/>
          <a:p>
            <a:pPr algn="l" indent="0" marL="0">
              <a:buNone/>
            </a:pPr>
            <a:r>
              <a:rPr lang="en-US" sz="1950" dirty="0">
                <a:solidFill>
                  <a:srgbClr val="C2BAA8"/>
                </a:solidFill>
                <a:latin typeface="Newsreader" pitchFamily="34" charset="0"/>
                <a:ea typeface="Newsreader" pitchFamily="34" charset="-122"/>
                <a:cs typeface="Newsreader" pitchFamily="34" charset="-120"/>
              </a:rPr>
              <a:t>→</a:t>
            </a:r>
            <a:endParaRPr lang="en-US" sz="1950" dirty="0"/>
          </a:p>
        </p:txBody>
      </p:sp>
      <p:sp>
        <p:nvSpPr>
          <p:cNvPr id="13" name="Shape 11"/>
          <p:cNvSpPr/>
          <p:nvPr/>
        </p:nvSpPr>
        <p:spPr>
          <a:xfrm>
            <a:off x="4436715" y="4913040"/>
            <a:ext cx="2817540" cy="2190750"/>
          </a:xfrm>
          <a:prstGeom prst="roundRect">
            <a:avLst>
              <a:gd name="adj" fmla="val 5217"/>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4" name="Text 12"/>
          <p:cNvSpPr/>
          <p:nvPr/>
        </p:nvSpPr>
        <p:spPr>
          <a:xfrm>
            <a:off x="4655790" y="5170215"/>
            <a:ext cx="2617329"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C2BAA8"/>
                </a:solidFill>
                <a:latin typeface="Newsreader" pitchFamily="34" charset="0"/>
                <a:ea typeface="Newsreader" pitchFamily="34" charset="-122"/>
                <a:cs typeface="Newsreader" pitchFamily="34" charset="-120"/>
              </a:rPr>
              <a:t>02</a:t>
            </a:r>
            <a:endParaRPr lang="en-US" sz="1800" dirty="0"/>
          </a:p>
        </p:txBody>
      </p:sp>
      <p:sp>
        <p:nvSpPr>
          <p:cNvPr id="15" name="Text 13"/>
          <p:cNvSpPr/>
          <p:nvPr/>
        </p:nvSpPr>
        <p:spPr>
          <a:xfrm>
            <a:off x="4655790" y="5494065"/>
            <a:ext cx="2617329"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dirty="0">
                <a:solidFill>
                  <a:srgbClr val="1A1814"/>
                </a:solidFill>
                <a:latin typeface="Newsreader" pitchFamily="34" charset="0"/>
                <a:ea typeface="Newsreader" pitchFamily="34" charset="-122"/>
                <a:cs typeface="Newsreader" pitchFamily="34" charset="-120"/>
              </a:rPr>
              <a:t>Stack pseudo-RGB</a:t>
            </a:r>
            <a:endParaRPr lang="en-US" sz="1650" dirty="0"/>
          </a:p>
        </p:txBody>
      </p:sp>
      <p:sp>
        <p:nvSpPr>
          <p:cNvPr id="16" name="Text 14"/>
          <p:cNvSpPr/>
          <p:nvPr/>
        </p:nvSpPr>
        <p:spPr>
          <a:xfrm>
            <a:off x="4655790" y="5821710"/>
            <a:ext cx="2617329"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8A8373"/>
                </a:solidFill>
                <a:latin typeface="Libre Franklin" pitchFamily="34" charset="0"/>
                <a:ea typeface="Libre Franklin" pitchFamily="34" charset="-122"/>
                <a:cs typeface="Libre Franklin" pitchFamily="34" charset="-120"/>
              </a:rPr>
              <a:t>1 → 3 channels</a:t>
            </a:r>
            <a:endParaRPr lang="en-US" sz="1200" dirty="0"/>
          </a:p>
        </p:txBody>
      </p:sp>
      <p:sp>
        <p:nvSpPr>
          <p:cNvPr id="17" name="Text 15"/>
          <p:cNvSpPr/>
          <p:nvPr/>
        </p:nvSpPr>
        <p:spPr>
          <a:xfrm>
            <a:off x="7368555" y="4913040"/>
            <a:ext cx="323850" cy="2228850"/>
          </a:xfrm>
          <a:prstGeom prst="rect">
            <a:avLst/>
          </a:prstGeom>
          <a:noFill/>
          <a:ln/>
        </p:spPr>
        <p:txBody>
          <a:bodyPr wrap="square" lIns="25400" tIns="25400" rIns="25400" bIns="25400" rtlCol="0" anchor="ctr">
            <a:normAutofit/>
          </a:bodyPr>
          <a:lstStyle/>
          <a:p>
            <a:pPr algn="l" indent="0" marL="0">
              <a:buNone/>
            </a:pPr>
            <a:r>
              <a:rPr lang="en-US" sz="1950" dirty="0">
                <a:solidFill>
                  <a:srgbClr val="C2BAA8"/>
                </a:solidFill>
                <a:latin typeface="Newsreader" pitchFamily="34" charset="0"/>
                <a:ea typeface="Newsreader" pitchFamily="34" charset="-122"/>
                <a:cs typeface="Newsreader" pitchFamily="34" charset="-120"/>
              </a:rPr>
              <a:t>→</a:t>
            </a:r>
            <a:endParaRPr lang="en-US" sz="1950" dirty="0"/>
          </a:p>
        </p:txBody>
      </p:sp>
      <p:sp>
        <p:nvSpPr>
          <p:cNvPr id="18" name="Shape 16"/>
          <p:cNvSpPr/>
          <p:nvPr/>
        </p:nvSpPr>
        <p:spPr>
          <a:xfrm>
            <a:off x="7730505" y="4913040"/>
            <a:ext cx="2817465" cy="2190750"/>
          </a:xfrm>
          <a:prstGeom prst="roundRect">
            <a:avLst>
              <a:gd name="adj" fmla="val 5217"/>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9" name="Text 17"/>
          <p:cNvSpPr/>
          <p:nvPr/>
        </p:nvSpPr>
        <p:spPr>
          <a:xfrm>
            <a:off x="7949580" y="5170215"/>
            <a:ext cx="2617247"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C2BAA8"/>
                </a:solidFill>
                <a:latin typeface="Newsreader" pitchFamily="34" charset="0"/>
                <a:ea typeface="Newsreader" pitchFamily="34" charset="-122"/>
                <a:cs typeface="Newsreader" pitchFamily="34" charset="-120"/>
              </a:rPr>
              <a:t>03</a:t>
            </a:r>
            <a:endParaRPr lang="en-US" sz="1800" dirty="0"/>
          </a:p>
        </p:txBody>
      </p:sp>
      <p:sp>
        <p:nvSpPr>
          <p:cNvPr id="20" name="Text 18"/>
          <p:cNvSpPr/>
          <p:nvPr/>
        </p:nvSpPr>
        <p:spPr>
          <a:xfrm>
            <a:off x="7949580" y="5494065"/>
            <a:ext cx="2617247"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dirty="0">
                <a:solidFill>
                  <a:srgbClr val="1A1814"/>
                </a:solidFill>
                <a:latin typeface="Newsreader" pitchFamily="34" charset="0"/>
                <a:ea typeface="Newsreader" pitchFamily="34" charset="-122"/>
                <a:cs typeface="Newsreader" pitchFamily="34" charset="-120"/>
              </a:rPr>
              <a:t>Normalize</a:t>
            </a:r>
            <a:endParaRPr lang="en-US" sz="1650" dirty="0"/>
          </a:p>
        </p:txBody>
      </p:sp>
      <p:sp>
        <p:nvSpPr>
          <p:cNvPr id="21" name="Text 19"/>
          <p:cNvSpPr/>
          <p:nvPr/>
        </p:nvSpPr>
        <p:spPr>
          <a:xfrm>
            <a:off x="7949580" y="5821710"/>
            <a:ext cx="2617247"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8A8373"/>
                </a:solidFill>
                <a:latin typeface="Libre Franklin" pitchFamily="34" charset="0"/>
                <a:ea typeface="Libre Franklin" pitchFamily="34" charset="-122"/>
                <a:cs typeface="Libre Franklin" pitchFamily="34" charset="-120"/>
              </a:rPr>
              <a:t>fixed 256 × 128 crop</a:t>
            </a:r>
            <a:endParaRPr lang="en-US" sz="1200" dirty="0"/>
          </a:p>
        </p:txBody>
      </p:sp>
      <p:sp>
        <p:nvSpPr>
          <p:cNvPr id="22" name="Text 20"/>
          <p:cNvSpPr/>
          <p:nvPr/>
        </p:nvSpPr>
        <p:spPr>
          <a:xfrm>
            <a:off x="10662270" y="4913040"/>
            <a:ext cx="323850" cy="2228850"/>
          </a:xfrm>
          <a:prstGeom prst="rect">
            <a:avLst/>
          </a:prstGeom>
          <a:noFill/>
          <a:ln/>
        </p:spPr>
        <p:txBody>
          <a:bodyPr wrap="square" lIns="25400" tIns="25400" rIns="25400" bIns="25400" rtlCol="0" anchor="ctr">
            <a:normAutofit/>
          </a:bodyPr>
          <a:lstStyle/>
          <a:p>
            <a:pPr algn="l" indent="0" marL="0">
              <a:buNone/>
            </a:pPr>
            <a:r>
              <a:rPr lang="en-US" sz="1950" dirty="0">
                <a:solidFill>
                  <a:srgbClr val="C2BAA8"/>
                </a:solidFill>
                <a:latin typeface="Newsreader" pitchFamily="34" charset="0"/>
                <a:ea typeface="Newsreader" pitchFamily="34" charset="-122"/>
                <a:cs typeface="Newsreader" pitchFamily="34" charset="-120"/>
              </a:rPr>
              <a:t>→</a:t>
            </a:r>
            <a:endParaRPr lang="en-US" sz="1950" dirty="0"/>
          </a:p>
        </p:txBody>
      </p:sp>
      <p:sp>
        <p:nvSpPr>
          <p:cNvPr id="23" name="Shape 21"/>
          <p:cNvSpPr/>
          <p:nvPr/>
        </p:nvSpPr>
        <p:spPr>
          <a:xfrm>
            <a:off x="11024220" y="4913040"/>
            <a:ext cx="2827065" cy="2190750"/>
          </a:xfrm>
          <a:prstGeom prst="roundRect">
            <a:avLst>
              <a:gd name="adj" fmla="val 5217"/>
            </a:avLst>
          </a:prstGeom>
          <a:solidFill>
            <a:srgbClr val="ECF6F1"/>
          </a:solidFill>
          <a:ln w="14288">
            <a:solidFill>
              <a:srgbClr val="18936A"/>
            </a:solidFill>
            <a:prstDash val="solid"/>
          </a:ln>
        </p:spPr>
      </p:sp>
      <p:sp>
        <p:nvSpPr>
          <p:cNvPr id="24" name="Text 22"/>
          <p:cNvSpPr/>
          <p:nvPr/>
        </p:nvSpPr>
        <p:spPr>
          <a:xfrm>
            <a:off x="11248058" y="5174977"/>
            <a:ext cx="2617329"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3E8E6E"/>
                </a:solidFill>
                <a:latin typeface="Newsreader" pitchFamily="34" charset="0"/>
                <a:ea typeface="Newsreader" pitchFamily="34" charset="-122"/>
                <a:cs typeface="Newsreader" pitchFamily="34" charset="-120"/>
              </a:rPr>
              <a:t>04</a:t>
            </a:r>
            <a:endParaRPr lang="en-US" sz="1800" dirty="0"/>
          </a:p>
        </p:txBody>
      </p:sp>
      <p:sp>
        <p:nvSpPr>
          <p:cNvPr id="25" name="Text 23"/>
          <p:cNvSpPr/>
          <p:nvPr/>
        </p:nvSpPr>
        <p:spPr>
          <a:xfrm>
            <a:off x="11248058" y="5498827"/>
            <a:ext cx="2617329"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dirty="0">
                <a:solidFill>
                  <a:srgbClr val="0F7A57"/>
                </a:solidFill>
                <a:latin typeface="Newsreader" pitchFamily="34" charset="0"/>
                <a:ea typeface="Newsreader" pitchFamily="34" charset="-122"/>
                <a:cs typeface="Newsreader" pitchFamily="34" charset="-120"/>
              </a:rPr>
              <a:t>FP16 CUDA infer</a:t>
            </a:r>
            <a:endParaRPr lang="en-US" sz="1650" dirty="0"/>
          </a:p>
        </p:txBody>
      </p:sp>
      <p:sp>
        <p:nvSpPr>
          <p:cNvPr id="26" name="Text 24"/>
          <p:cNvSpPr/>
          <p:nvPr/>
        </p:nvSpPr>
        <p:spPr>
          <a:xfrm>
            <a:off x="11248058" y="5826472"/>
            <a:ext cx="2617329"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3E8E6E"/>
                </a:solidFill>
                <a:latin typeface="Libre Franklin" pitchFamily="34" charset="0"/>
                <a:ea typeface="Libre Franklin" pitchFamily="34" charset="-122"/>
                <a:cs typeface="Libre Franklin" pitchFamily="34" charset="-120"/>
              </a:rPr>
              <a:t>OSNet embeddings</a:t>
            </a:r>
            <a:endParaRPr lang="en-US" sz="1200" dirty="0"/>
          </a:p>
        </p:txBody>
      </p:sp>
      <p:sp>
        <p:nvSpPr>
          <p:cNvPr id="27" name="Text 25"/>
          <p:cNvSpPr/>
          <p:nvPr/>
        </p:nvSpPr>
        <p:spPr>
          <a:xfrm>
            <a:off x="13965585" y="4913040"/>
            <a:ext cx="323850" cy="2228850"/>
          </a:xfrm>
          <a:prstGeom prst="rect">
            <a:avLst/>
          </a:prstGeom>
          <a:noFill/>
          <a:ln/>
        </p:spPr>
        <p:txBody>
          <a:bodyPr wrap="square" lIns="25400" tIns="25400" rIns="25400" bIns="25400" rtlCol="0" anchor="ctr">
            <a:normAutofit/>
          </a:bodyPr>
          <a:lstStyle/>
          <a:p>
            <a:pPr algn="l" indent="0" marL="0">
              <a:buNone/>
            </a:pPr>
            <a:r>
              <a:rPr lang="en-US" sz="1950" dirty="0">
                <a:solidFill>
                  <a:srgbClr val="C2BAA8"/>
                </a:solidFill>
                <a:latin typeface="Newsreader" pitchFamily="34" charset="0"/>
                <a:ea typeface="Newsreader" pitchFamily="34" charset="-122"/>
                <a:cs typeface="Newsreader" pitchFamily="34" charset="-120"/>
              </a:rPr>
              <a:t>→</a:t>
            </a:r>
            <a:endParaRPr lang="en-US" sz="1950" dirty="0"/>
          </a:p>
        </p:txBody>
      </p:sp>
      <p:sp>
        <p:nvSpPr>
          <p:cNvPr id="28" name="Shape 26"/>
          <p:cNvSpPr/>
          <p:nvPr/>
        </p:nvSpPr>
        <p:spPr>
          <a:xfrm>
            <a:off x="14327535" y="4913040"/>
            <a:ext cx="2817465" cy="2190750"/>
          </a:xfrm>
          <a:prstGeom prst="roundRect">
            <a:avLst>
              <a:gd name="adj" fmla="val 5217"/>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29" name="Text 27"/>
          <p:cNvSpPr/>
          <p:nvPr/>
        </p:nvSpPr>
        <p:spPr>
          <a:xfrm>
            <a:off x="14546610" y="5170215"/>
            <a:ext cx="2617247"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C2BAA8"/>
                </a:solidFill>
                <a:latin typeface="Newsreader" pitchFamily="34" charset="0"/>
                <a:ea typeface="Newsreader" pitchFamily="34" charset="-122"/>
                <a:cs typeface="Newsreader" pitchFamily="34" charset="-120"/>
              </a:rPr>
              <a:t>05</a:t>
            </a:r>
            <a:endParaRPr lang="en-US" sz="1800" dirty="0"/>
          </a:p>
        </p:txBody>
      </p:sp>
      <p:sp>
        <p:nvSpPr>
          <p:cNvPr id="30" name="Text 28"/>
          <p:cNvSpPr/>
          <p:nvPr/>
        </p:nvSpPr>
        <p:spPr>
          <a:xfrm>
            <a:off x="14546610" y="5494065"/>
            <a:ext cx="2617247" cy="289545"/>
          </a:xfrm>
          <a:prstGeom prst="rect">
            <a:avLst/>
          </a:prstGeom>
          <a:noFill/>
          <a:ln/>
        </p:spPr>
        <p:txBody>
          <a:bodyPr wrap="square" lIns="25400" tIns="25400" rIns="25400" bIns="25400" rtlCol="0" anchor="t">
            <a:normAutofit/>
          </a:bodyPr>
          <a:lstStyle/>
          <a:p>
            <a:pPr algn="l" indent="0" marL="0">
              <a:lnSpc>
                <a:spcPct val="120000"/>
              </a:lnSpc>
              <a:buNone/>
            </a:pPr>
            <a:r>
              <a:rPr lang="en-US" sz="1650" b="1" dirty="0">
                <a:solidFill>
                  <a:srgbClr val="1A1814"/>
                </a:solidFill>
                <a:latin typeface="Newsreader" pitchFamily="34" charset="0"/>
                <a:ea typeface="Newsreader" pitchFamily="34" charset="-122"/>
                <a:cs typeface="Newsreader" pitchFamily="34" charset="-120"/>
              </a:rPr>
              <a:t>Flatten to CPU</a:t>
            </a:r>
            <a:endParaRPr lang="en-US" sz="1650" dirty="0"/>
          </a:p>
        </p:txBody>
      </p:sp>
      <p:sp>
        <p:nvSpPr>
          <p:cNvPr id="31" name="Text 29"/>
          <p:cNvSpPr/>
          <p:nvPr/>
        </p:nvSpPr>
        <p:spPr>
          <a:xfrm>
            <a:off x="14546610" y="5821710"/>
            <a:ext cx="2617247"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8A8373"/>
                </a:solidFill>
                <a:latin typeface="Libre Franklin" pitchFamily="34" charset="0"/>
                <a:ea typeface="Libre Franklin" pitchFamily="34" charset="-122"/>
                <a:cs typeface="Libre Franklin" pitchFamily="34" charset="-120"/>
              </a:rPr>
              <a:t>Float32 for tracker</a:t>
            </a:r>
            <a:endParaRPr lang="en-US" sz="1200" dirty="0"/>
          </a:p>
        </p:txBody>
      </p:sp>
      <p:sp>
        <p:nvSpPr>
          <p:cNvPr id="32" name="Text 30"/>
          <p:cNvSpPr/>
          <p:nvPr/>
        </p:nvSpPr>
        <p:spPr>
          <a:xfrm>
            <a:off x="1143000" y="9183067"/>
            <a:ext cx="17602200"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i="1" dirty="0">
                <a:solidFill>
                  <a:srgbClr val="514B40"/>
                </a:solidFill>
                <a:latin typeface="Newsreader" pitchFamily="34" charset="0"/>
                <a:ea typeface="Newsreader" pitchFamily="34" charset="-122"/>
                <a:cs typeface="Newsreader" pitchFamily="34" charset="-120"/>
              </a:rPr>
              <a:t>The piece that makes “appearance-based” tracking even possible on colorless thermal data.</a:t>
            </a:r>
            <a:endParaRPr lang="en-US" sz="1650" dirty="0"/>
          </a:p>
        </p:txBody>
      </p:sp>
      <p:sp>
        <p:nvSpPr>
          <p:cNvPr id="33" name="Text 31"/>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34" name="Text 32"/>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085850"/>
            <a:ext cx="16002000" cy="9525"/>
          </a:xfrm>
          <a:prstGeom prst="rect">
            <a:avLst/>
          </a:prstGeom>
          <a:solidFill>
            <a:srgbClr val="1A1814"/>
          </a:solidFill>
          <a:ln/>
        </p:spPr>
      </p:sp>
      <p:sp>
        <p:nvSpPr>
          <p:cNvPr id="3" name="Text 1"/>
          <p:cNvSpPr/>
          <p:nvPr/>
        </p:nvSpPr>
        <p:spPr>
          <a:xfrm>
            <a:off x="1143000" y="762000"/>
            <a:ext cx="321097"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07</a:t>
            </a:r>
            <a:endParaRPr lang="en-US" sz="1125" dirty="0"/>
          </a:p>
        </p:txBody>
      </p:sp>
      <p:sp>
        <p:nvSpPr>
          <p:cNvPr id="4" name="Text 2"/>
          <p:cNvSpPr/>
          <p:nvPr/>
        </p:nvSpPr>
        <p:spPr>
          <a:xfrm>
            <a:off x="1521247" y="7620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34220" y="762000"/>
            <a:ext cx="371894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HIGHLIGHT B · THE BOUNDARY BUG</a:t>
            </a:r>
            <a:endParaRPr lang="en-US" sz="1125" dirty="0"/>
          </a:p>
        </p:txBody>
      </p:sp>
      <p:sp>
        <p:nvSpPr>
          <p:cNvPr id="6" name="Text 4"/>
          <p:cNvSpPr/>
          <p:nvPr/>
        </p:nvSpPr>
        <p:spPr>
          <a:xfrm>
            <a:off x="1143000" y="1323975"/>
            <a:ext cx="134112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spc="-65" kern="0" dirty="0">
                <a:solidFill>
                  <a:srgbClr val="1A1814"/>
                </a:solidFill>
                <a:latin typeface="Newsreader" pitchFamily="34" charset="0"/>
                <a:ea typeface="Newsreader" pitchFamily="34" charset="-122"/>
                <a:cs typeface="Newsreader" pitchFamily="34" charset="-120"/>
              </a:rPr>
              <a:t>One fix, a </a:t>
            </a:r>
            <a:pPr algn="l" indent="0" marL="0">
              <a:lnSpc>
                <a:spcPct val="100000"/>
              </a:lnSpc>
              <a:buNone/>
            </a:pPr>
            <a:r>
              <a:rPr lang="en-US" sz="4350" i="1" spc="-65" kern="0" dirty="0">
                <a:solidFill>
                  <a:srgbClr val="0F7A57"/>
                </a:solidFill>
                <a:latin typeface="Newsreader" pitchFamily="34" charset="0"/>
                <a:ea typeface="Newsreader" pitchFamily="34" charset="-122"/>
                <a:cs typeface="Newsreader" pitchFamily="34" charset="-120"/>
              </a:rPr>
              <a:t>9× longer </a:t>
            </a:r>
            <a:pPr algn="l" indent="0" marL="0">
              <a:lnSpc>
                <a:spcPct val="100000"/>
              </a:lnSpc>
              <a:buNone/>
            </a:pPr>
            <a:r>
              <a:rPr lang="en-US" sz="4350" spc="-65" kern="0" dirty="0">
                <a:solidFill>
                  <a:srgbClr val="1A1814"/>
                </a:solidFill>
                <a:latin typeface="Newsreader" pitchFamily="34" charset="0"/>
                <a:ea typeface="Newsreader" pitchFamily="34" charset="-122"/>
                <a:cs typeface="Newsreader" pitchFamily="34" charset="-120"/>
              </a:rPr>
              <a:t>track lifetime</a:t>
            </a:r>
            <a:endParaRPr lang="en-US" sz="4350" dirty="0"/>
          </a:p>
        </p:txBody>
      </p:sp>
      <p:sp>
        <p:nvSpPr>
          <p:cNvPr id="7" name="Shape 5"/>
          <p:cNvSpPr/>
          <p:nvPr/>
        </p:nvSpPr>
        <p:spPr>
          <a:xfrm>
            <a:off x="1143000" y="2181225"/>
            <a:ext cx="7829550" cy="1772469"/>
          </a:xfrm>
          <a:prstGeom prst="roundRect">
            <a:avLst>
              <a:gd name="adj" fmla="val 7523"/>
            </a:avLst>
          </a:prstGeom>
          <a:solidFill>
            <a:srgbClr val="FBEDE9"/>
          </a:solidFill>
          <a:ln w="9525">
            <a:solidFill>
              <a:srgbClr val="F0C6BB"/>
            </a:solidFill>
            <a:prstDash val="solid"/>
          </a:ln>
        </p:spPr>
      </p:sp>
      <p:sp>
        <p:nvSpPr>
          <p:cNvPr id="8" name="Text 6"/>
          <p:cNvSpPr/>
          <p:nvPr/>
        </p:nvSpPr>
        <p:spPr>
          <a:xfrm>
            <a:off x="1476375" y="2476500"/>
            <a:ext cx="7879080" cy="223838"/>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C24A35"/>
                </a:solidFill>
                <a:latin typeface="Libre Franklin" pitchFamily="34" charset="0"/>
                <a:ea typeface="Libre Franklin" pitchFamily="34" charset="-122"/>
                <a:cs typeface="Libre Franklin" pitchFamily="34" charset="-120"/>
              </a:rPr>
              <a:t>⚠ THE BUG</a:t>
            </a:r>
            <a:endParaRPr lang="en-US" sz="975" dirty="0"/>
          </a:p>
        </p:txBody>
      </p:sp>
      <p:sp>
        <p:nvSpPr>
          <p:cNvPr id="9" name="Text 7"/>
          <p:cNvSpPr/>
          <p:nvPr/>
        </p:nvSpPr>
        <p:spPr>
          <a:xfrm>
            <a:off x="1476375" y="2757488"/>
            <a:ext cx="7879080" cy="346695"/>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1A1814"/>
                </a:solidFill>
                <a:latin typeface="Newsreader" pitchFamily="34" charset="0"/>
                <a:ea typeface="Newsreader" pitchFamily="34" charset="-122"/>
                <a:cs typeface="Newsreader" pitchFamily="34" charset="-120"/>
              </a:rPr>
              <a:t>All 21,509 frames fed as one video</a:t>
            </a:r>
            <a:endParaRPr lang="en-US" sz="2025" dirty="0"/>
          </a:p>
        </p:txBody>
      </p:sp>
      <p:sp>
        <p:nvSpPr>
          <p:cNvPr id="10" name="Text 8"/>
          <p:cNvSpPr/>
          <p:nvPr/>
        </p:nvSpPr>
        <p:spPr>
          <a:xfrm>
            <a:off x="1476375" y="3161333"/>
            <a:ext cx="7377684"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4A3F3B"/>
                </a:solidFill>
                <a:latin typeface="Libre Franklin" pitchFamily="34" charset="0"/>
                <a:ea typeface="Libre Franklin" pitchFamily="34" charset="-122"/>
                <a:cs typeface="Libre Franklin" pitchFamily="34" charset="-120"/>
              </a:rPr>
              <a:t>Kalman states and track IDs </a:t>
            </a:r>
            <a:pPr algn="l" indent="0" marL="0">
              <a:lnSpc>
                <a:spcPct val="145000"/>
              </a:lnSpc>
              <a:buNone/>
            </a:pPr>
            <a:r>
              <a:rPr lang="en-US" sz="1350" b="1" dirty="0">
                <a:solidFill>
                  <a:srgbClr val="1A1814"/>
                </a:solidFill>
                <a:latin typeface="Libre Franklin" pitchFamily="34" charset="0"/>
                <a:ea typeface="Libre Franklin" pitchFamily="34" charset="-122"/>
                <a:cs typeface="Libre Franklin" pitchFamily="34" charset="-120"/>
              </a:rPr>
              <a:t>bled across different captures </a:t>
            </a:r>
            <a:pPr algn="l" indent="0" marL="0">
              <a:lnSpc>
                <a:spcPct val="145000"/>
              </a:lnSpc>
              <a:buNone/>
            </a:pPr>
            <a:r>
              <a:rPr lang="en-US" sz="1350" dirty="0">
                <a:solidFill>
                  <a:srgbClr val="4A3F3B"/>
                </a:solidFill>
                <a:latin typeface="Libre Franklin" pitchFamily="34" charset="0"/>
                <a:ea typeface="Libre Franklin" pitchFamily="34" charset="-122"/>
                <a:cs typeface="Libre Franklin" pitchFamily="34" charset="-120"/>
              </a:rPr>
              <a:t>, corrupting metrics and killing tracks at every scene cut.</a:t>
            </a:r>
            <a:endParaRPr lang="en-US" sz="1350" dirty="0"/>
          </a:p>
        </p:txBody>
      </p:sp>
      <p:sp>
        <p:nvSpPr>
          <p:cNvPr id="11" name="Shape 9"/>
          <p:cNvSpPr/>
          <p:nvPr/>
        </p:nvSpPr>
        <p:spPr>
          <a:xfrm>
            <a:off x="1143000" y="4125144"/>
            <a:ext cx="7829550" cy="1485826"/>
          </a:xfrm>
          <a:prstGeom prst="roundRect">
            <a:avLst>
              <a:gd name="adj" fmla="val 8975"/>
            </a:avLst>
          </a:prstGeom>
          <a:solidFill>
            <a:srgbClr val="ECF6F1"/>
          </a:solidFill>
          <a:ln w="9525">
            <a:solidFill>
              <a:srgbClr val="BBE0CE"/>
            </a:solidFill>
            <a:prstDash val="solid"/>
          </a:ln>
        </p:spPr>
      </p:sp>
      <p:sp>
        <p:nvSpPr>
          <p:cNvPr id="12" name="Text 10"/>
          <p:cNvSpPr/>
          <p:nvPr/>
        </p:nvSpPr>
        <p:spPr>
          <a:xfrm>
            <a:off x="1476375" y="4420419"/>
            <a:ext cx="7879080" cy="185738"/>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0F7A57"/>
                </a:solidFill>
                <a:latin typeface="Libre Franklin" pitchFamily="34" charset="0"/>
                <a:ea typeface="Libre Franklin" pitchFamily="34" charset="-122"/>
                <a:cs typeface="Libre Franklin" pitchFamily="34" charset="-120"/>
              </a:rPr>
              <a:t>✓ THE FIX</a:t>
            </a:r>
            <a:endParaRPr lang="en-US" sz="975" dirty="0"/>
          </a:p>
        </p:txBody>
      </p:sp>
      <p:sp>
        <p:nvSpPr>
          <p:cNvPr id="13" name="Text 11"/>
          <p:cNvSpPr/>
          <p:nvPr/>
        </p:nvSpPr>
        <p:spPr>
          <a:xfrm>
            <a:off x="1476375" y="4663306"/>
            <a:ext cx="7879080" cy="346695"/>
          </a:xfrm>
          <a:prstGeom prst="rect">
            <a:avLst/>
          </a:prstGeom>
          <a:noFill/>
          <a:ln/>
        </p:spPr>
        <p:txBody>
          <a:bodyPr wrap="square" lIns="25400" tIns="25400" rIns="25400" bIns="25400" rtlCol="0" anchor="t">
            <a:normAutofit/>
          </a:bodyPr>
          <a:lstStyle/>
          <a:p>
            <a:pPr algn="l" indent="0" marL="0">
              <a:lnSpc>
                <a:spcPct val="120000"/>
              </a:lnSpc>
              <a:buNone/>
            </a:pPr>
            <a:r>
              <a:rPr lang="en-US" sz="2025" b="1" dirty="0">
                <a:solidFill>
                  <a:srgbClr val="1A1814"/>
                </a:solidFill>
                <a:latin typeface="Newsreader" pitchFamily="34" charset="0"/>
                <a:ea typeface="Newsreader" pitchFamily="34" charset="-122"/>
                <a:cs typeface="Newsreader" pitchFamily="34" charset="-120"/>
              </a:rPr>
              <a:t>Reset trackers at every boundary</a:t>
            </a:r>
            <a:endParaRPr lang="en-US" sz="2025" dirty="0"/>
          </a:p>
        </p:txBody>
      </p:sp>
      <p:sp>
        <p:nvSpPr>
          <p:cNvPr id="14" name="Text 12"/>
          <p:cNvSpPr/>
          <p:nvPr/>
        </p:nvSpPr>
        <p:spPr>
          <a:xfrm>
            <a:off x="1476375" y="5067151"/>
            <a:ext cx="7879080"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F5249"/>
                </a:solidFill>
                <a:latin typeface="Libre Franklin" pitchFamily="34" charset="0"/>
                <a:ea typeface="Libre Franklin" pitchFamily="34" charset="-122"/>
                <a:cs typeface="Libre Franklin" pitchFamily="34" charset="-120"/>
              </a:rPr>
              <a:t>Parse the filename prefix (</a:t>
            </a:r>
            <a:pPr algn="l" indent="0" marL="0">
              <a:lnSpc>
                <a:spcPct val="145000"/>
              </a:lnSpc>
              <a:buNone/>
            </a:pPr>
            <a:r>
              <a:rPr lang="en-US" sz="1125" b="1" dirty="0">
                <a:solidFill>
                  <a:srgbClr val="3F5249"/>
                </a:solidFill>
                <a:latin typeface="Libre Franklin" pitchFamily="34" charset="0"/>
                <a:ea typeface="Libre Franklin" pitchFamily="34" charset="-122"/>
                <a:cs typeface="Libre Franklin" pitchFamily="34" charset="-120"/>
              </a:rPr>
              <a:t>get_sequence_id</a:t>
            </a:r>
            <a:pPr algn="l" indent="0" marL="0">
              <a:lnSpc>
                <a:spcPct val="145000"/>
              </a:lnSpc>
              <a:buNone/>
            </a:pPr>
            <a:r>
              <a:rPr lang="en-US" sz="1350" dirty="0">
                <a:solidFill>
                  <a:srgbClr val="3F5249"/>
                </a:solidFill>
                <a:latin typeface="Libre Franklin" pitchFamily="34" charset="0"/>
                <a:ea typeface="Libre Franklin" pitchFamily="34" charset="-122"/>
                <a:cs typeface="Libre Franklin" pitchFamily="34" charset="-120"/>
              </a:rPr>
              <a:t>) to group frames into their </a:t>
            </a:r>
            <a:pPr algn="l" indent="0" marL="0">
              <a:lnSpc>
                <a:spcPct val="145000"/>
              </a:lnSpc>
              <a:buNone/>
            </a:pPr>
            <a:r>
              <a:rPr lang="en-US" sz="1350" b="1" dirty="0">
                <a:solidFill>
                  <a:srgbClr val="1A1814"/>
                </a:solidFill>
                <a:latin typeface="Libre Franklin" pitchFamily="34" charset="0"/>
                <a:ea typeface="Libre Franklin" pitchFamily="34" charset="-122"/>
                <a:cs typeface="Libre Franklin" pitchFamily="34" charset="-120"/>
              </a:rPr>
              <a:t>240 real sequences</a:t>
            </a:r>
            <a:pPr algn="l" indent="0" marL="0">
              <a:lnSpc>
                <a:spcPct val="145000"/>
              </a:lnSpc>
              <a:buNone/>
            </a:pPr>
            <a:r>
              <a:rPr lang="en-US" sz="1350" dirty="0">
                <a:solidFill>
                  <a:srgbClr val="3F5249"/>
                </a:solidFill>
                <a:latin typeface="Libre Franklin" pitchFamily="34" charset="0"/>
                <a:ea typeface="Libre Franklin" pitchFamily="34" charset="-122"/>
                <a:cs typeface="Libre Franklin" pitchFamily="34" charset="-120"/>
              </a:rPr>
              <a:t>.</a:t>
            </a:r>
            <a:endParaRPr lang="en-US" sz="1350" dirty="0"/>
          </a:p>
        </p:txBody>
      </p:sp>
      <p:sp>
        <p:nvSpPr>
          <p:cNvPr id="15" name="Shape 13"/>
          <p:cNvSpPr/>
          <p:nvPr/>
        </p:nvSpPr>
        <p:spPr>
          <a:xfrm>
            <a:off x="9315450" y="2181225"/>
            <a:ext cx="7829550" cy="7343775"/>
          </a:xfrm>
          <a:prstGeom prst="roundRect">
            <a:avLst>
              <a:gd name="adj" fmla="val 2075"/>
            </a:avLst>
          </a:prstGeom>
          <a:solidFill>
            <a:srgbClr val="1A1814"/>
          </a:solidFill>
          <a:ln/>
        </p:spPr>
      </p:sp>
      <p:sp>
        <p:nvSpPr>
          <p:cNvPr id="16" name="Text 14"/>
          <p:cNvSpPr/>
          <p:nvPr/>
        </p:nvSpPr>
        <p:spPr>
          <a:xfrm>
            <a:off x="9791700" y="4519613"/>
            <a:ext cx="7564755" cy="200025"/>
          </a:xfrm>
          <a:prstGeom prst="rect">
            <a:avLst/>
          </a:prstGeom>
          <a:noFill/>
          <a:ln/>
        </p:spPr>
        <p:txBody>
          <a:bodyPr wrap="square" lIns="25400" tIns="25400" rIns="25400" bIns="25400" rtlCol="0" anchor="t">
            <a:normAutofit/>
          </a:bodyPr>
          <a:lstStyle/>
          <a:p>
            <a:pPr algn="l" indent="0" marL="0">
              <a:buNone/>
            </a:pPr>
            <a:r>
              <a:rPr lang="en-US" sz="1050" b="1" spc="147" kern="0" dirty="0">
                <a:solidFill>
                  <a:srgbClr val="6FC79E"/>
                </a:solidFill>
                <a:latin typeface="Libre Franklin" pitchFamily="34" charset="0"/>
                <a:ea typeface="Libre Franklin" pitchFamily="34" charset="-122"/>
                <a:cs typeface="Libre Franklin" pitchFamily="34" charset="-120"/>
              </a:rPr>
              <a:t>MEAN TRACK LIFETIME · BOT-SORT + REID</a:t>
            </a:r>
            <a:endParaRPr lang="en-US" sz="1050" dirty="0"/>
          </a:p>
        </p:txBody>
      </p:sp>
      <p:sp>
        <p:nvSpPr>
          <p:cNvPr id="17" name="Text 15"/>
          <p:cNvSpPr/>
          <p:nvPr/>
        </p:nvSpPr>
        <p:spPr>
          <a:xfrm>
            <a:off x="9791700" y="5211142"/>
            <a:ext cx="1477000" cy="20955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A9384"/>
                </a:solidFill>
                <a:latin typeface="Libre Franklin" pitchFamily="34" charset="0"/>
                <a:ea typeface="Libre Franklin" pitchFamily="34" charset="-122"/>
                <a:cs typeface="Libre Franklin" pitchFamily="34" charset="-120"/>
              </a:rPr>
              <a:t>BEFORE</a:t>
            </a:r>
            <a:endParaRPr lang="en-US" sz="1125" dirty="0"/>
          </a:p>
        </p:txBody>
      </p:sp>
      <p:sp>
        <p:nvSpPr>
          <p:cNvPr id="18" name="Text 16"/>
          <p:cNvSpPr/>
          <p:nvPr/>
        </p:nvSpPr>
        <p:spPr>
          <a:xfrm>
            <a:off x="9791700" y="5382592"/>
            <a:ext cx="1477000" cy="861045"/>
          </a:xfrm>
          <a:prstGeom prst="rect">
            <a:avLst/>
          </a:prstGeom>
          <a:noFill/>
          <a:ln/>
        </p:spPr>
        <p:txBody>
          <a:bodyPr wrap="square" lIns="25400" tIns="25400" rIns="25400" bIns="25400" rtlCol="0" anchor="t">
            <a:normAutofit/>
          </a:bodyPr>
          <a:lstStyle/>
          <a:p>
            <a:pPr algn="l" indent="0" marL="0">
              <a:lnSpc>
                <a:spcPct val="90000"/>
              </a:lnSpc>
              <a:buNone/>
            </a:pPr>
            <a:r>
              <a:rPr lang="en-US" sz="7200" b="1" dirty="0">
                <a:solidFill>
                  <a:srgbClr val="C9C3B6"/>
                </a:solidFill>
                <a:latin typeface="Newsreader" pitchFamily="34" charset="0"/>
                <a:ea typeface="Newsreader" pitchFamily="34" charset="-122"/>
                <a:cs typeface="Newsreader" pitchFamily="34" charset="-120"/>
              </a:rPr>
              <a:t>4.0</a:t>
            </a:r>
            <a:endParaRPr lang="en-US" sz="7200" dirty="0"/>
          </a:p>
        </p:txBody>
      </p:sp>
      <p:sp>
        <p:nvSpPr>
          <p:cNvPr id="19" name="Text 17"/>
          <p:cNvSpPr/>
          <p:nvPr/>
        </p:nvSpPr>
        <p:spPr>
          <a:xfrm>
            <a:off x="9791700" y="6243638"/>
            <a:ext cx="1477000" cy="209550"/>
          </a:xfrm>
          <a:prstGeom prst="rect">
            <a:avLst/>
          </a:prstGeom>
          <a:noFill/>
          <a:ln/>
        </p:spPr>
        <p:txBody>
          <a:bodyPr wrap="square" lIns="25400" tIns="25400" rIns="25400" bIns="25400" rtlCol="0" anchor="t">
            <a:normAutofit/>
          </a:bodyPr>
          <a:lstStyle/>
          <a:p>
            <a:pPr algn="l" indent="0" marL="0">
              <a:buNone/>
            </a:pPr>
            <a:r>
              <a:rPr lang="en-US" sz="1125" dirty="0">
                <a:solidFill>
                  <a:srgbClr val="9A9384"/>
                </a:solidFill>
                <a:latin typeface="Libre Franklin" pitchFamily="34" charset="0"/>
                <a:ea typeface="Libre Franklin" pitchFamily="34" charset="-122"/>
                <a:cs typeface="Libre Franklin" pitchFamily="34" charset="-120"/>
              </a:rPr>
              <a:t>frames</a:t>
            </a:r>
            <a:endParaRPr lang="en-US" sz="1125" dirty="0"/>
          </a:p>
        </p:txBody>
      </p:sp>
      <p:sp>
        <p:nvSpPr>
          <p:cNvPr id="20" name="Text 18"/>
          <p:cNvSpPr/>
          <p:nvPr/>
        </p:nvSpPr>
        <p:spPr>
          <a:xfrm>
            <a:off x="12427744" y="5424488"/>
            <a:ext cx="647700" cy="742950"/>
          </a:xfrm>
          <a:prstGeom prst="rect">
            <a:avLst/>
          </a:prstGeom>
          <a:noFill/>
          <a:ln/>
        </p:spPr>
        <p:txBody>
          <a:bodyPr wrap="square" lIns="25400" tIns="25400" rIns="25400" bIns="25400" rtlCol="0" anchor="t">
            <a:normAutofit/>
          </a:bodyPr>
          <a:lstStyle/>
          <a:p>
            <a:pPr algn="l" indent="0" marL="0">
              <a:buNone/>
            </a:pPr>
            <a:r>
              <a:rPr lang="en-US" sz="4500" dirty="0">
                <a:solidFill>
                  <a:srgbClr val="6FC79E"/>
                </a:solidFill>
                <a:latin typeface="Newsreader" pitchFamily="34" charset="0"/>
                <a:ea typeface="Newsreader" pitchFamily="34" charset="-122"/>
                <a:cs typeface="Newsreader" pitchFamily="34" charset="-120"/>
              </a:rPr>
              <a:t>→</a:t>
            </a:r>
            <a:endParaRPr lang="en-US" sz="4500" dirty="0"/>
          </a:p>
        </p:txBody>
      </p:sp>
      <p:sp>
        <p:nvSpPr>
          <p:cNvPr id="21" name="Text 19"/>
          <p:cNvSpPr/>
          <p:nvPr/>
        </p:nvSpPr>
        <p:spPr>
          <a:xfrm>
            <a:off x="14054859" y="5005388"/>
            <a:ext cx="2613891" cy="209550"/>
          </a:xfrm>
          <a:prstGeom prst="rect">
            <a:avLst/>
          </a:prstGeom>
          <a:noFill/>
          <a:ln/>
        </p:spPr>
        <p:txBody>
          <a:bodyPr wrap="square" lIns="25400" tIns="25400" rIns="25400" bIns="25400" rtlCol="0" anchor="t">
            <a:normAutofit/>
          </a:bodyPr>
          <a:lstStyle/>
          <a:p>
            <a:pPr algn="r" indent="0" marL="0">
              <a:buNone/>
            </a:pPr>
            <a:r>
              <a:rPr lang="en-US" sz="1125" spc="113" kern="0" dirty="0">
                <a:solidFill>
                  <a:srgbClr val="6FC79E"/>
                </a:solidFill>
                <a:latin typeface="Libre Franklin" pitchFamily="34" charset="0"/>
                <a:ea typeface="Libre Franklin" pitchFamily="34" charset="-122"/>
                <a:cs typeface="Libre Franklin" pitchFamily="34" charset="-120"/>
              </a:rPr>
              <a:t>AFTER</a:t>
            </a:r>
            <a:endParaRPr lang="en-US" sz="1125" dirty="0"/>
          </a:p>
        </p:txBody>
      </p:sp>
      <p:sp>
        <p:nvSpPr>
          <p:cNvPr id="22" name="Text 20"/>
          <p:cNvSpPr/>
          <p:nvPr/>
        </p:nvSpPr>
        <p:spPr>
          <a:xfrm>
            <a:off x="14054859" y="5176838"/>
            <a:ext cx="2613891" cy="1066800"/>
          </a:xfrm>
          <a:prstGeom prst="rect">
            <a:avLst/>
          </a:prstGeom>
          <a:noFill/>
          <a:ln/>
        </p:spPr>
        <p:txBody>
          <a:bodyPr wrap="square" lIns="25400" tIns="25400" rIns="25400" bIns="25400" rtlCol="0" anchor="t">
            <a:normAutofit/>
          </a:bodyPr>
          <a:lstStyle/>
          <a:p>
            <a:pPr algn="r" indent="0" marL="0">
              <a:lnSpc>
                <a:spcPct val="90000"/>
              </a:lnSpc>
              <a:buNone/>
            </a:pPr>
            <a:r>
              <a:rPr lang="en-US" sz="9000" b="1" dirty="0">
                <a:solidFill>
                  <a:srgbClr val="6FC79E"/>
                </a:solidFill>
                <a:latin typeface="Newsreader" pitchFamily="34" charset="0"/>
                <a:ea typeface="Newsreader" pitchFamily="34" charset="-122"/>
                <a:cs typeface="Newsreader" pitchFamily="34" charset="-120"/>
              </a:rPr>
              <a:t>36.3</a:t>
            </a:r>
            <a:endParaRPr lang="en-US" sz="9000" dirty="0"/>
          </a:p>
        </p:txBody>
      </p:sp>
      <p:sp>
        <p:nvSpPr>
          <p:cNvPr id="23" name="Text 21"/>
          <p:cNvSpPr/>
          <p:nvPr/>
        </p:nvSpPr>
        <p:spPr>
          <a:xfrm>
            <a:off x="14054859" y="6243638"/>
            <a:ext cx="2613891" cy="209550"/>
          </a:xfrm>
          <a:prstGeom prst="rect">
            <a:avLst/>
          </a:prstGeom>
          <a:noFill/>
          <a:ln/>
        </p:spPr>
        <p:txBody>
          <a:bodyPr wrap="square" lIns="25400" tIns="25400" rIns="25400" bIns="25400" rtlCol="0" anchor="t">
            <a:normAutofit/>
          </a:bodyPr>
          <a:lstStyle/>
          <a:p>
            <a:pPr algn="r" indent="0" marL="0">
              <a:buNone/>
            </a:pPr>
            <a:r>
              <a:rPr lang="en-US" sz="1125" dirty="0">
                <a:solidFill>
                  <a:srgbClr val="9A9384"/>
                </a:solidFill>
                <a:latin typeface="Libre Franklin" pitchFamily="34" charset="0"/>
                <a:ea typeface="Libre Franklin" pitchFamily="34" charset="-122"/>
                <a:cs typeface="Libre Franklin" pitchFamily="34" charset="-120"/>
              </a:rPr>
              <a:t>frames</a:t>
            </a:r>
            <a:endParaRPr lang="en-US" sz="1125" dirty="0"/>
          </a:p>
        </p:txBody>
      </p:sp>
      <p:sp>
        <p:nvSpPr>
          <p:cNvPr id="24" name="Shape 22"/>
          <p:cNvSpPr/>
          <p:nvPr/>
        </p:nvSpPr>
        <p:spPr>
          <a:xfrm>
            <a:off x="9791700" y="6757988"/>
            <a:ext cx="6877050" cy="9525"/>
          </a:xfrm>
          <a:prstGeom prst="rect">
            <a:avLst/>
          </a:prstGeom>
          <a:solidFill>
            <a:srgbClr val="5A5446"/>
          </a:solidFill>
          <a:ln/>
        </p:spPr>
      </p:sp>
      <p:sp>
        <p:nvSpPr>
          <p:cNvPr id="25" name="Text 23"/>
          <p:cNvSpPr/>
          <p:nvPr/>
        </p:nvSpPr>
        <p:spPr>
          <a:xfrm>
            <a:off x="9791700" y="6977063"/>
            <a:ext cx="7083362" cy="247650"/>
          </a:xfrm>
          <a:prstGeom prst="rect">
            <a:avLst/>
          </a:prstGeom>
          <a:noFill/>
          <a:ln/>
        </p:spPr>
        <p:txBody>
          <a:bodyPr wrap="square" lIns="25400" tIns="25400" rIns="25400" bIns="25400" rtlCol="0" anchor="t">
            <a:normAutofit/>
          </a:bodyPr>
          <a:lstStyle/>
          <a:p>
            <a:pPr algn="l" indent="0" marL="0">
              <a:buNone/>
            </a:pPr>
            <a:r>
              <a:rPr lang="en-US" sz="1650" i="1" dirty="0">
                <a:solidFill>
                  <a:srgbClr val="C9C3B6"/>
                </a:solidFill>
                <a:latin typeface="Newsreader" pitchFamily="34" charset="0"/>
                <a:ea typeface="Newsreader" pitchFamily="34" charset="-122"/>
                <a:cs typeface="Newsreader" pitchFamily="34" charset="-120"/>
              </a:rPr>
              <a:t>A ~9× improvement — the single most impactful change in the pipeline.</a:t>
            </a:r>
            <a:endParaRPr lang="en-US" sz="1650" dirty="0"/>
          </a:p>
        </p:txBody>
      </p:sp>
      <p:sp>
        <p:nvSpPr>
          <p:cNvPr id="26" name="Text 24"/>
          <p:cNvSpPr/>
          <p:nvPr/>
        </p:nvSpPr>
        <p:spPr>
          <a:xfrm>
            <a:off x="1143000" y="97488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27" name="Text 25"/>
          <p:cNvSpPr/>
          <p:nvPr/>
        </p:nvSpPr>
        <p:spPr>
          <a:xfrm>
            <a:off x="15177195" y="97488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028700"/>
            <a:ext cx="16002000" cy="9525"/>
          </a:xfrm>
          <a:prstGeom prst="rect">
            <a:avLst/>
          </a:prstGeom>
          <a:solidFill>
            <a:srgbClr val="1A1814"/>
          </a:solidFill>
          <a:ln/>
        </p:spPr>
      </p:sp>
      <p:sp>
        <p:nvSpPr>
          <p:cNvPr id="3" name="Text 1"/>
          <p:cNvSpPr/>
          <p:nvPr/>
        </p:nvSpPr>
        <p:spPr>
          <a:xfrm>
            <a:off x="1143000" y="704850"/>
            <a:ext cx="33047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08</a:t>
            </a:r>
            <a:endParaRPr lang="en-US" sz="1125" dirty="0"/>
          </a:p>
        </p:txBody>
      </p:sp>
      <p:sp>
        <p:nvSpPr>
          <p:cNvPr id="4" name="Text 2"/>
          <p:cNvSpPr/>
          <p:nvPr/>
        </p:nvSpPr>
        <p:spPr>
          <a:xfrm>
            <a:off x="1530623" y="70485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3596" y="704850"/>
            <a:ext cx="3988571"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HIGHLIGHT C · TRAJECTORY MAPPING</a:t>
            </a:r>
            <a:endParaRPr lang="en-US" sz="1125" dirty="0"/>
          </a:p>
        </p:txBody>
      </p:sp>
      <p:sp>
        <p:nvSpPr>
          <p:cNvPr id="6" name="Text 4"/>
          <p:cNvSpPr/>
          <p:nvPr/>
        </p:nvSpPr>
        <p:spPr>
          <a:xfrm>
            <a:off x="1143000" y="1366838"/>
            <a:ext cx="8682082"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58" kern="0" dirty="0">
                <a:solidFill>
                  <a:srgbClr val="1A1814"/>
                </a:solidFill>
                <a:latin typeface="Newsreader" pitchFamily="34" charset="0"/>
                <a:ea typeface="Newsreader" pitchFamily="34" charset="-122"/>
                <a:cs typeface="Newsreader" pitchFamily="34" charset="-120"/>
              </a:rPr>
              <a:t>From noisy blips to </a:t>
            </a:r>
            <a:pPr algn="l" indent="0" marL="0">
              <a:lnSpc>
                <a:spcPct val="100000"/>
              </a:lnSpc>
              <a:buNone/>
            </a:pPr>
            <a:r>
              <a:rPr lang="en-US" sz="3900" i="1" spc="-58" kern="0" dirty="0">
                <a:solidFill>
                  <a:srgbClr val="0F7A57"/>
                </a:solidFill>
                <a:latin typeface="Newsreader" pitchFamily="34" charset="0"/>
                <a:ea typeface="Newsreader" pitchFamily="34" charset="-122"/>
                <a:cs typeface="Newsreader" pitchFamily="34" charset="-120"/>
              </a:rPr>
              <a:t>29 true trajectories</a:t>
            </a:r>
            <a:endParaRPr lang="en-US" sz="3900" dirty="0"/>
          </a:p>
        </p:txBody>
      </p:sp>
      <p:sp>
        <p:nvSpPr>
          <p:cNvPr id="7" name="Text 5"/>
          <p:cNvSpPr/>
          <p:nvPr/>
        </p:nvSpPr>
        <p:spPr>
          <a:xfrm>
            <a:off x="14015807" y="1247775"/>
            <a:ext cx="1375254" cy="476250"/>
          </a:xfrm>
          <a:prstGeom prst="rect">
            <a:avLst/>
          </a:prstGeom>
          <a:noFill/>
          <a:ln/>
        </p:spPr>
        <p:txBody>
          <a:bodyPr wrap="square" lIns="25400" tIns="25400" rIns="25400" bIns="25400" rtlCol="0" anchor="t">
            <a:normAutofit/>
          </a:bodyPr>
          <a:lstStyle/>
          <a:p>
            <a:pPr algn="r" indent="0" marL="0">
              <a:lnSpc>
                <a:spcPct val="100000"/>
              </a:lnSpc>
              <a:buNone/>
            </a:pPr>
            <a:r>
              <a:rPr lang="en-US" sz="3450" b="1" dirty="0">
                <a:solidFill>
                  <a:srgbClr val="0F7A57"/>
                </a:solidFill>
                <a:latin typeface="Newsreader" pitchFamily="34" charset="0"/>
                <a:ea typeface="Newsreader" pitchFamily="34" charset="-122"/>
                <a:cs typeface="Newsreader" pitchFamily="34" charset="-120"/>
              </a:rPr>
              <a:t>60</a:t>
            </a:r>
            <a:endParaRPr lang="en-US" sz="3450" dirty="0"/>
          </a:p>
        </p:txBody>
      </p:sp>
      <p:sp>
        <p:nvSpPr>
          <p:cNvPr id="8" name="Text 6"/>
          <p:cNvSpPr/>
          <p:nvPr/>
        </p:nvSpPr>
        <p:spPr>
          <a:xfrm>
            <a:off x="14015807" y="1724025"/>
            <a:ext cx="1375254" cy="176212"/>
          </a:xfrm>
          <a:prstGeom prst="rect">
            <a:avLst/>
          </a:prstGeom>
          <a:noFill/>
          <a:ln/>
        </p:spPr>
        <p:txBody>
          <a:bodyPr wrap="square" lIns="25400" tIns="25400" rIns="25400" bIns="25400" rtlCol="0" anchor="t">
            <a:normAutofit/>
          </a:bodyPr>
          <a:lstStyle/>
          <a:p>
            <a:pPr algn="r" indent="0" marL="0">
              <a:buNone/>
            </a:pPr>
            <a:r>
              <a:rPr lang="en-US" sz="900" b="1" spc="90" kern="0" dirty="0">
                <a:solidFill>
                  <a:srgbClr val="8A8373"/>
                </a:solidFill>
                <a:latin typeface="Libre Franklin" pitchFamily="34" charset="0"/>
                <a:ea typeface="Libre Franklin" pitchFamily="34" charset="-122"/>
                <a:cs typeface="Libre Franklin" pitchFamily="34" charset="-120"/>
              </a:rPr>
              <a:t>MIN FRAMES KEPT</a:t>
            </a:r>
            <a:endParaRPr lang="en-US" sz="900" dirty="0"/>
          </a:p>
        </p:txBody>
      </p:sp>
      <p:sp>
        <p:nvSpPr>
          <p:cNvPr id="9" name="Text 7"/>
          <p:cNvSpPr/>
          <p:nvPr/>
        </p:nvSpPr>
        <p:spPr>
          <a:xfrm>
            <a:off x="15634767" y="1247775"/>
            <a:ext cx="1510233" cy="476250"/>
          </a:xfrm>
          <a:prstGeom prst="rect">
            <a:avLst/>
          </a:prstGeom>
          <a:noFill/>
          <a:ln/>
        </p:spPr>
        <p:txBody>
          <a:bodyPr wrap="square" lIns="25400" tIns="25400" rIns="25400" bIns="25400" rtlCol="0" anchor="t">
            <a:normAutofit/>
          </a:bodyPr>
          <a:lstStyle/>
          <a:p>
            <a:pPr algn="r" indent="0" marL="0">
              <a:lnSpc>
                <a:spcPct val="100000"/>
              </a:lnSpc>
              <a:buNone/>
            </a:pPr>
            <a:r>
              <a:rPr lang="en-US" sz="3450" b="1" dirty="0">
                <a:solidFill>
                  <a:srgbClr val="0F7A57"/>
                </a:solidFill>
                <a:latin typeface="Newsreader" pitchFamily="34" charset="0"/>
                <a:ea typeface="Newsreader" pitchFamily="34" charset="-122"/>
                <a:cs typeface="Newsreader" pitchFamily="34" charset="-120"/>
              </a:rPr>
              <a:t>29</a:t>
            </a:r>
            <a:endParaRPr lang="en-US" sz="3450" dirty="0"/>
          </a:p>
        </p:txBody>
      </p:sp>
      <p:sp>
        <p:nvSpPr>
          <p:cNvPr id="10" name="Text 8"/>
          <p:cNvSpPr/>
          <p:nvPr/>
        </p:nvSpPr>
        <p:spPr>
          <a:xfrm>
            <a:off x="15634767" y="1724025"/>
            <a:ext cx="1510233" cy="176212"/>
          </a:xfrm>
          <a:prstGeom prst="rect">
            <a:avLst/>
          </a:prstGeom>
          <a:noFill/>
          <a:ln/>
        </p:spPr>
        <p:txBody>
          <a:bodyPr wrap="square" lIns="25400" tIns="25400" rIns="25400" bIns="25400" rtlCol="0" anchor="t">
            <a:normAutofit/>
          </a:bodyPr>
          <a:lstStyle/>
          <a:p>
            <a:pPr algn="r" indent="0" marL="0">
              <a:buNone/>
            </a:pPr>
            <a:r>
              <a:rPr lang="en-US" sz="900" b="1" spc="90" kern="0" dirty="0">
                <a:solidFill>
                  <a:srgbClr val="8A8373"/>
                </a:solidFill>
                <a:latin typeface="Libre Franklin" pitchFamily="34" charset="0"/>
                <a:ea typeface="Libre Franklin" pitchFamily="34" charset="-122"/>
                <a:cs typeface="Libre Franklin" pitchFamily="34" charset="-120"/>
              </a:rPr>
              <a:t>LONG-TERM TRACKS</a:t>
            </a:r>
            <a:endParaRPr lang="en-US" sz="900" dirty="0"/>
          </a:p>
        </p:txBody>
      </p:sp>
      <p:sp>
        <p:nvSpPr>
          <p:cNvPr id="11" name="Shape 9"/>
          <p:cNvSpPr/>
          <p:nvPr/>
        </p:nvSpPr>
        <p:spPr>
          <a:xfrm>
            <a:off x="1143000" y="2147888"/>
            <a:ext cx="7839075" cy="7079977"/>
          </a:xfrm>
          <a:prstGeom prst="roundRect">
            <a:avLst>
              <a:gd name="adj" fmla="val 1614"/>
            </a:avLst>
          </a:prstGeom>
          <a:solidFill>
            <a:srgbClr val="1A1814"/>
          </a:solidFill>
          <a:ln w="9525">
            <a:solidFill>
              <a:srgbClr val="1A1814"/>
            </a:solidFill>
            <a:prstDash val="solid"/>
          </a:ln>
        </p:spPr>
      </p:sp>
      <p:pic>
        <p:nvPicPr>
          <p:cNvPr id="12" name="Image 0" descr="preencoded.png">    </p:cNvPr>
          <p:cNvPicPr>
            <a:picLocks noChangeAspect="1"/>
          </p:cNvPicPr>
          <p:nvPr/>
        </p:nvPicPr>
        <p:blipFill>
          <a:blip r:embed="rId1"/>
          <a:srcRect l="-1" r="-1" t="0" b="0"/>
          <a:stretch/>
        </p:blipFill>
        <p:spPr>
          <a:xfrm>
            <a:off x="3065413" y="3640038"/>
            <a:ext cx="3994175" cy="4095676"/>
          </a:xfrm>
          <a:prstGeom prst="rect">
            <a:avLst/>
          </a:prstGeom>
        </p:spPr>
      </p:pic>
      <p:sp>
        <p:nvSpPr>
          <p:cNvPr id="13" name="Text 10"/>
          <p:cNvSpPr/>
          <p:nvPr/>
        </p:nvSpPr>
        <p:spPr>
          <a:xfrm>
            <a:off x="1143000" y="9342165"/>
            <a:ext cx="8622983" cy="278085"/>
          </a:xfrm>
          <a:prstGeom prst="rect">
            <a:avLst/>
          </a:prstGeom>
          <a:noFill/>
          <a:ln/>
        </p:spPr>
        <p:txBody>
          <a:bodyPr wrap="square" lIns="25400" tIns="25400" rIns="25400" bIns="25400" rtlCol="0" anchor="t">
            <a:normAutofit/>
          </a:bodyPr>
          <a:lstStyle/>
          <a:p>
            <a:pPr algn="l" indent="0" marL="0">
              <a:lnSpc>
                <a:spcPct val="140000"/>
              </a:lnSpc>
              <a:buNone/>
            </a:pPr>
            <a:r>
              <a:rPr lang="en-US" sz="1350" i="1" dirty="0">
                <a:solidFill>
                  <a:srgbClr val="8A8373"/>
                </a:solidFill>
                <a:latin typeface="Newsreader" pitchFamily="34" charset="0"/>
                <a:ea typeface="Newsreader" pitchFamily="34" charset="-122"/>
                <a:cs typeface="Newsreader" pitchFamily="34" charset="-120"/>
              </a:rPr>
              <a:t>29 filtered long-term trajectories over the master thermal canvas — persistent IDs stamped at each path's end.</a:t>
            </a:r>
            <a:endParaRPr lang="en-US" sz="1350" dirty="0"/>
          </a:p>
        </p:txBody>
      </p:sp>
      <p:sp>
        <p:nvSpPr>
          <p:cNvPr id="14" name="Shape 11"/>
          <p:cNvSpPr/>
          <p:nvPr/>
        </p:nvSpPr>
        <p:spPr>
          <a:xfrm>
            <a:off x="9305925" y="2147888"/>
            <a:ext cx="7839075" cy="7079977"/>
          </a:xfrm>
          <a:prstGeom prst="roundRect">
            <a:avLst>
              <a:gd name="adj" fmla="val 1614"/>
            </a:avLst>
          </a:prstGeom>
          <a:solidFill>
            <a:srgbClr val="1A1814"/>
          </a:solidFill>
          <a:ln w="9525">
            <a:solidFill>
              <a:srgbClr val="1A1814"/>
            </a:solidFill>
            <a:prstDash val="solid"/>
          </a:ln>
        </p:spPr>
      </p:sp>
      <p:pic>
        <p:nvPicPr>
          <p:cNvPr id="15" name="Image 1" descr="preencoded.png">    </p:cNvPr>
          <p:cNvPicPr>
            <a:picLocks noChangeAspect="1"/>
          </p:cNvPicPr>
          <p:nvPr/>
        </p:nvPicPr>
        <p:blipFill>
          <a:blip r:embed="rId2"/>
          <a:srcRect l="-1" r="-1" t="0" b="0"/>
          <a:stretch/>
        </p:blipFill>
        <p:spPr>
          <a:xfrm>
            <a:off x="9871918" y="3640038"/>
            <a:ext cx="6707014" cy="4095676"/>
          </a:xfrm>
          <a:prstGeom prst="rect">
            <a:avLst/>
          </a:prstGeom>
        </p:spPr>
      </p:pic>
      <p:sp>
        <p:nvSpPr>
          <p:cNvPr id="16" name="Text 12"/>
          <p:cNvSpPr/>
          <p:nvPr/>
        </p:nvSpPr>
        <p:spPr>
          <a:xfrm>
            <a:off x="9305925" y="9342165"/>
            <a:ext cx="8622983" cy="278085"/>
          </a:xfrm>
          <a:prstGeom prst="rect">
            <a:avLst/>
          </a:prstGeom>
          <a:noFill/>
          <a:ln/>
        </p:spPr>
        <p:txBody>
          <a:bodyPr wrap="square" lIns="25400" tIns="25400" rIns="25400" bIns="25400" rtlCol="0" anchor="t">
            <a:normAutofit/>
          </a:bodyPr>
          <a:lstStyle/>
          <a:p>
            <a:pPr algn="l" indent="0" marL="0">
              <a:lnSpc>
                <a:spcPct val="140000"/>
              </a:lnSpc>
              <a:buNone/>
            </a:pPr>
            <a:r>
              <a:rPr lang="en-US" sz="1350" i="1" dirty="0">
                <a:solidFill>
                  <a:srgbClr val="8A8373"/>
                </a:solidFill>
                <a:latin typeface="Newsreader" pitchFamily="34" charset="0"/>
                <a:ea typeface="Newsreader" pitchFamily="34" charset="-122"/>
                <a:cs typeface="Newsreader" pitchFamily="34" charset="-120"/>
              </a:rPr>
              <a:t>Predicted BoT-SORT + ReID boxes (colored by track ID) overlaid on white ground-truth — tight spatial convergence.</a:t>
            </a:r>
            <a:endParaRPr lang="en-US" sz="1350" dirty="0"/>
          </a:p>
        </p:txBody>
      </p:sp>
      <p:sp>
        <p:nvSpPr>
          <p:cNvPr id="17" name="Text 13"/>
          <p:cNvSpPr/>
          <p:nvPr/>
        </p:nvSpPr>
        <p:spPr>
          <a:xfrm>
            <a:off x="1143000" y="988218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18" name="Text 14"/>
          <p:cNvSpPr/>
          <p:nvPr/>
        </p:nvSpPr>
        <p:spPr>
          <a:xfrm>
            <a:off x="15177195" y="988218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30026"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09</a:t>
            </a:r>
            <a:endParaRPr lang="en-US" sz="1125" dirty="0"/>
          </a:p>
        </p:txBody>
      </p:sp>
      <p:sp>
        <p:nvSpPr>
          <p:cNvPr id="4" name="Text 2"/>
          <p:cNvSpPr/>
          <p:nvPr/>
        </p:nvSpPr>
        <p:spPr>
          <a:xfrm>
            <a:off x="1530176"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43149" y="800100"/>
            <a:ext cx="2091817"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TRACKING RESULTS</a:t>
            </a:r>
            <a:endParaRPr lang="en-US" sz="1125" dirty="0"/>
          </a:p>
        </p:txBody>
      </p:sp>
      <p:sp>
        <p:nvSpPr>
          <p:cNvPr id="6" name="Text 4"/>
          <p:cNvSpPr/>
          <p:nvPr/>
        </p:nvSpPr>
        <p:spPr>
          <a:xfrm>
            <a:off x="1143000" y="1362075"/>
            <a:ext cx="8044815" cy="1066800"/>
          </a:xfrm>
          <a:prstGeom prst="rect">
            <a:avLst/>
          </a:prstGeom>
          <a:noFill/>
          <a:ln/>
        </p:spPr>
        <p:txBody>
          <a:bodyPr wrap="square" lIns="25400" tIns="25400" rIns="25400" bIns="25400" rtlCol="0" anchor="t">
            <a:normAutofit/>
          </a:bodyPr>
          <a:lstStyle/>
          <a:p>
            <a:pPr algn="l" indent="0" marL="0">
              <a:lnSpc>
                <a:spcPct val="100000"/>
              </a:lnSpc>
              <a:buNone/>
            </a:pPr>
            <a:r>
              <a:rPr lang="en-US" sz="4050" spc="-61" kern="0" dirty="0">
                <a:solidFill>
                  <a:srgbClr val="1A1814"/>
                </a:solidFill>
                <a:latin typeface="Newsreader" pitchFamily="34" charset="0"/>
                <a:ea typeface="Newsreader" pitchFamily="34" charset="-122"/>
                <a:cs typeface="Newsreader" pitchFamily="34" charset="-120"/>
              </a:rPr>
              <a:t>BoT-SORT + ReID wins on every quality metric</a:t>
            </a:r>
            <a:endParaRPr lang="en-US" sz="4050" dirty="0"/>
          </a:p>
        </p:txBody>
      </p:sp>
      <p:sp>
        <p:nvSpPr>
          <p:cNvPr id="7" name="Shape 5"/>
          <p:cNvSpPr/>
          <p:nvPr/>
        </p:nvSpPr>
        <p:spPr>
          <a:xfrm>
            <a:off x="15785455" y="2243138"/>
            <a:ext cx="133350" cy="133350"/>
          </a:xfrm>
          <a:prstGeom prst="roundRect">
            <a:avLst>
              <a:gd name="adj" fmla="val 21429"/>
            </a:avLst>
          </a:prstGeom>
          <a:solidFill>
            <a:srgbClr val="BEB6A2"/>
          </a:solidFill>
          <a:ln/>
        </p:spPr>
      </p:sp>
      <p:sp>
        <p:nvSpPr>
          <p:cNvPr id="8" name="Text 6"/>
          <p:cNvSpPr/>
          <p:nvPr/>
        </p:nvSpPr>
        <p:spPr>
          <a:xfrm>
            <a:off x="16004530" y="2228850"/>
            <a:ext cx="467469" cy="200025"/>
          </a:xfrm>
          <a:prstGeom prst="rect">
            <a:avLst/>
          </a:prstGeom>
          <a:noFill/>
          <a:ln/>
        </p:spPr>
        <p:txBody>
          <a:bodyPr wrap="square" lIns="0" tIns="0" rIns="0" bIns="0" rtlCol="0" anchor="t">
            <a:normAutofit/>
          </a:bodyPr>
          <a:lstStyle/>
          <a:p>
            <a:pPr algn="l" indent="0" marL="0">
              <a:buNone/>
            </a:pPr>
            <a:r>
              <a:rPr lang="en-US" sz="1050" dirty="0">
                <a:solidFill>
                  <a:srgbClr val="6E6757"/>
                </a:solidFill>
                <a:latin typeface="Libre Franklin" pitchFamily="34" charset="0"/>
                <a:ea typeface="Libre Franklin" pitchFamily="34" charset="-122"/>
                <a:cs typeface="Libre Franklin" pitchFamily="34" charset="-120"/>
              </a:rPr>
              <a:t>MOTA</a:t>
            </a:r>
            <a:endParaRPr lang="en-US" sz="1050" dirty="0"/>
          </a:p>
        </p:txBody>
      </p:sp>
      <p:sp>
        <p:nvSpPr>
          <p:cNvPr id="9" name="Shape 7"/>
          <p:cNvSpPr/>
          <p:nvPr/>
        </p:nvSpPr>
        <p:spPr>
          <a:xfrm>
            <a:off x="16643449" y="2243138"/>
            <a:ext cx="133350" cy="133350"/>
          </a:xfrm>
          <a:prstGeom prst="roundRect">
            <a:avLst>
              <a:gd name="adj" fmla="val 21429"/>
            </a:avLst>
          </a:prstGeom>
          <a:solidFill>
            <a:srgbClr val="0F7A57"/>
          </a:solidFill>
          <a:ln/>
        </p:spPr>
      </p:sp>
      <p:sp>
        <p:nvSpPr>
          <p:cNvPr id="10" name="Text 8"/>
          <p:cNvSpPr/>
          <p:nvPr/>
        </p:nvSpPr>
        <p:spPr>
          <a:xfrm>
            <a:off x="16862524" y="2228850"/>
            <a:ext cx="358676" cy="200025"/>
          </a:xfrm>
          <a:prstGeom prst="rect">
            <a:avLst/>
          </a:prstGeom>
          <a:noFill/>
          <a:ln/>
        </p:spPr>
        <p:txBody>
          <a:bodyPr wrap="square" lIns="0" tIns="0" rIns="0" bIns="0" rtlCol="0" anchor="t">
            <a:normAutofit/>
          </a:bodyPr>
          <a:lstStyle/>
          <a:p>
            <a:pPr algn="l" indent="0" marL="0">
              <a:buNone/>
            </a:pPr>
            <a:r>
              <a:rPr lang="en-US" sz="1050" dirty="0">
                <a:solidFill>
                  <a:srgbClr val="6E6757"/>
                </a:solidFill>
                <a:latin typeface="Libre Franklin" pitchFamily="34" charset="0"/>
                <a:ea typeface="Libre Franklin" pitchFamily="34" charset="-122"/>
                <a:cs typeface="Libre Franklin" pitchFamily="34" charset="-120"/>
              </a:rPr>
              <a:t>IDF1</a:t>
            </a:r>
            <a:endParaRPr lang="en-US" sz="1050" dirty="0"/>
          </a:p>
        </p:txBody>
      </p:sp>
      <p:sp>
        <p:nvSpPr>
          <p:cNvPr id="11" name="Shape 9"/>
          <p:cNvSpPr/>
          <p:nvPr/>
        </p:nvSpPr>
        <p:spPr>
          <a:xfrm>
            <a:off x="1143000" y="8703022"/>
            <a:ext cx="16002000" cy="14288"/>
          </a:xfrm>
          <a:prstGeom prst="rect">
            <a:avLst/>
          </a:prstGeom>
          <a:solidFill>
            <a:srgbClr val="1A1814"/>
          </a:solidFill>
          <a:ln/>
        </p:spPr>
      </p:sp>
      <p:sp>
        <p:nvSpPr>
          <p:cNvPr id="12" name="Text 10"/>
          <p:cNvSpPr/>
          <p:nvPr/>
        </p:nvSpPr>
        <p:spPr>
          <a:xfrm>
            <a:off x="2466529" y="7274272"/>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6E6757"/>
                </a:solidFill>
                <a:latin typeface="Newsreader" pitchFamily="34" charset="0"/>
                <a:ea typeface="Newsreader" pitchFamily="34" charset="-122"/>
                <a:cs typeface="Newsreader" pitchFamily="34" charset="-120"/>
              </a:rPr>
              <a:t>.139</a:t>
            </a:r>
            <a:endParaRPr lang="en-US" sz="1500" dirty="0"/>
          </a:p>
        </p:txBody>
      </p:sp>
      <p:sp>
        <p:nvSpPr>
          <p:cNvPr id="13" name="Shape 11"/>
          <p:cNvSpPr/>
          <p:nvPr/>
        </p:nvSpPr>
        <p:spPr>
          <a:xfrm>
            <a:off x="2359819" y="7540972"/>
            <a:ext cx="609600" cy="571500"/>
          </a:xfrm>
          <a:prstGeom prst="roundRect">
            <a:avLst>
              <a:gd name="adj" fmla="val 8333"/>
            </a:avLst>
          </a:prstGeom>
          <a:solidFill>
            <a:srgbClr val="BEB6A2"/>
          </a:solidFill>
          <a:ln/>
        </p:spPr>
      </p:sp>
      <p:sp>
        <p:nvSpPr>
          <p:cNvPr id="14" name="Text 12"/>
          <p:cNvSpPr/>
          <p:nvPr/>
        </p:nvSpPr>
        <p:spPr>
          <a:xfrm>
            <a:off x="3209479" y="7026622"/>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0F7A57"/>
                </a:solidFill>
                <a:latin typeface="Newsreader" pitchFamily="34" charset="0"/>
                <a:ea typeface="Newsreader" pitchFamily="34" charset="-122"/>
                <a:cs typeface="Newsreader" pitchFamily="34" charset="-120"/>
              </a:rPr>
              <a:t>.200</a:t>
            </a:r>
            <a:endParaRPr lang="en-US" sz="1500" dirty="0"/>
          </a:p>
        </p:txBody>
      </p:sp>
      <p:sp>
        <p:nvSpPr>
          <p:cNvPr id="15" name="Shape 13"/>
          <p:cNvSpPr/>
          <p:nvPr/>
        </p:nvSpPr>
        <p:spPr>
          <a:xfrm>
            <a:off x="3102769" y="7293322"/>
            <a:ext cx="609600" cy="819150"/>
          </a:xfrm>
          <a:prstGeom prst="roundRect">
            <a:avLst>
              <a:gd name="adj" fmla="val 7813"/>
            </a:avLst>
          </a:prstGeom>
          <a:solidFill>
            <a:srgbClr val="0F7A57"/>
          </a:solidFill>
          <a:ln/>
        </p:spPr>
      </p:sp>
      <p:sp>
        <p:nvSpPr>
          <p:cNvPr id="16" name="Text 14"/>
          <p:cNvSpPr/>
          <p:nvPr/>
        </p:nvSpPr>
        <p:spPr>
          <a:xfrm>
            <a:off x="2754809" y="8322022"/>
            <a:ext cx="638696"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SORT</a:t>
            </a:r>
            <a:endParaRPr lang="en-US" sz="1650" dirty="0"/>
          </a:p>
        </p:txBody>
      </p:sp>
      <p:sp>
        <p:nvSpPr>
          <p:cNvPr id="17" name="Text 15"/>
          <p:cNvSpPr/>
          <p:nvPr/>
        </p:nvSpPr>
        <p:spPr>
          <a:xfrm>
            <a:off x="2814265" y="8603010"/>
            <a:ext cx="519782" cy="176212"/>
          </a:xfrm>
          <a:prstGeom prst="rect">
            <a:avLst/>
          </a:prstGeom>
          <a:noFill/>
          <a:ln/>
        </p:spPr>
        <p:txBody>
          <a:bodyPr wrap="square" lIns="25400" tIns="25400" rIns="25400" bIns="25400" rtlCol="0" anchor="t">
            <a:normAutofit/>
          </a:bodyPr>
          <a:lstStyle/>
          <a:p>
            <a:pPr algn="l" indent="0" marL="0">
              <a:buNone/>
            </a:pPr>
            <a:r>
              <a:rPr lang="en-US" sz="900" dirty="0">
                <a:solidFill>
                  <a:srgbClr val="A89F8C"/>
                </a:solidFill>
                <a:latin typeface="Libre Franklin" pitchFamily="34" charset="0"/>
                <a:ea typeface="Libre Franklin" pitchFamily="34" charset="-122"/>
                <a:cs typeface="Libre Franklin" pitchFamily="34" charset="-120"/>
              </a:rPr>
              <a:t>baseline</a:t>
            </a:r>
            <a:endParaRPr lang="en-US" sz="900" dirty="0"/>
          </a:p>
        </p:txBody>
      </p:sp>
      <p:sp>
        <p:nvSpPr>
          <p:cNvPr id="18" name="Text 16"/>
          <p:cNvSpPr/>
          <p:nvPr/>
        </p:nvSpPr>
        <p:spPr>
          <a:xfrm>
            <a:off x="6538466" y="6902797"/>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6E6757"/>
                </a:solidFill>
                <a:latin typeface="Newsreader" pitchFamily="34" charset="0"/>
                <a:ea typeface="Newsreader" pitchFamily="34" charset="-122"/>
                <a:cs typeface="Newsreader" pitchFamily="34" charset="-120"/>
              </a:rPr>
              <a:t>.230</a:t>
            </a:r>
            <a:endParaRPr lang="en-US" sz="1500" dirty="0"/>
          </a:p>
        </p:txBody>
      </p:sp>
      <p:sp>
        <p:nvSpPr>
          <p:cNvPr id="19" name="Shape 17"/>
          <p:cNvSpPr/>
          <p:nvPr/>
        </p:nvSpPr>
        <p:spPr>
          <a:xfrm>
            <a:off x="6431756" y="7169497"/>
            <a:ext cx="609600" cy="942975"/>
          </a:xfrm>
          <a:prstGeom prst="roundRect">
            <a:avLst>
              <a:gd name="adj" fmla="val 7813"/>
            </a:avLst>
          </a:prstGeom>
          <a:solidFill>
            <a:srgbClr val="BEB6A2"/>
          </a:solidFill>
          <a:ln/>
        </p:spPr>
      </p:sp>
      <p:sp>
        <p:nvSpPr>
          <p:cNvPr id="20" name="Text 18"/>
          <p:cNvSpPr/>
          <p:nvPr/>
        </p:nvSpPr>
        <p:spPr>
          <a:xfrm>
            <a:off x="7281416" y="6617047"/>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0F7A57"/>
                </a:solidFill>
                <a:latin typeface="Newsreader" pitchFamily="34" charset="0"/>
                <a:ea typeface="Newsreader" pitchFamily="34" charset="-122"/>
                <a:cs typeface="Newsreader" pitchFamily="34" charset="-120"/>
              </a:rPr>
              <a:t>.301</a:t>
            </a:r>
            <a:endParaRPr lang="en-US" sz="1500" dirty="0"/>
          </a:p>
        </p:txBody>
      </p:sp>
      <p:sp>
        <p:nvSpPr>
          <p:cNvPr id="21" name="Shape 19"/>
          <p:cNvSpPr/>
          <p:nvPr/>
        </p:nvSpPr>
        <p:spPr>
          <a:xfrm>
            <a:off x="7174706" y="6883747"/>
            <a:ext cx="609600" cy="1228725"/>
          </a:xfrm>
          <a:prstGeom prst="roundRect">
            <a:avLst>
              <a:gd name="adj" fmla="val 7813"/>
            </a:avLst>
          </a:prstGeom>
          <a:solidFill>
            <a:srgbClr val="0F7A57"/>
          </a:solidFill>
          <a:ln/>
        </p:spPr>
      </p:sp>
      <p:sp>
        <p:nvSpPr>
          <p:cNvPr id="22" name="Text 20"/>
          <p:cNvSpPr/>
          <p:nvPr/>
        </p:nvSpPr>
        <p:spPr>
          <a:xfrm>
            <a:off x="6644580" y="8322022"/>
            <a:ext cx="1003102"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ByteTrack</a:t>
            </a:r>
            <a:endParaRPr lang="en-US" sz="1650" dirty="0"/>
          </a:p>
        </p:txBody>
      </p:sp>
      <p:sp>
        <p:nvSpPr>
          <p:cNvPr id="23" name="Text 21"/>
          <p:cNvSpPr/>
          <p:nvPr/>
        </p:nvSpPr>
        <p:spPr>
          <a:xfrm>
            <a:off x="10610404" y="6407497"/>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6E6757"/>
                </a:solidFill>
                <a:latin typeface="Newsreader" pitchFamily="34" charset="0"/>
                <a:ea typeface="Newsreader" pitchFamily="34" charset="-122"/>
                <a:cs typeface="Newsreader" pitchFamily="34" charset="-120"/>
              </a:rPr>
              <a:t>.352</a:t>
            </a:r>
            <a:endParaRPr lang="en-US" sz="1500" dirty="0"/>
          </a:p>
        </p:txBody>
      </p:sp>
      <p:sp>
        <p:nvSpPr>
          <p:cNvPr id="24" name="Shape 22"/>
          <p:cNvSpPr/>
          <p:nvPr/>
        </p:nvSpPr>
        <p:spPr>
          <a:xfrm>
            <a:off x="10503694" y="6674197"/>
            <a:ext cx="609600" cy="1438275"/>
          </a:xfrm>
          <a:prstGeom prst="roundRect">
            <a:avLst>
              <a:gd name="adj" fmla="val 7813"/>
            </a:avLst>
          </a:prstGeom>
          <a:solidFill>
            <a:srgbClr val="BEB6A2"/>
          </a:solidFill>
          <a:ln/>
        </p:spPr>
      </p:sp>
      <p:sp>
        <p:nvSpPr>
          <p:cNvPr id="25" name="Text 23"/>
          <p:cNvSpPr/>
          <p:nvPr/>
        </p:nvSpPr>
        <p:spPr>
          <a:xfrm>
            <a:off x="11353354" y="6264622"/>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0F7A57"/>
                </a:solidFill>
                <a:latin typeface="Newsreader" pitchFamily="34" charset="0"/>
                <a:ea typeface="Newsreader" pitchFamily="34" charset="-122"/>
                <a:cs typeface="Newsreader" pitchFamily="34" charset="-120"/>
              </a:rPr>
              <a:t>.386</a:t>
            </a:r>
            <a:endParaRPr lang="en-US" sz="1500" dirty="0"/>
          </a:p>
        </p:txBody>
      </p:sp>
      <p:sp>
        <p:nvSpPr>
          <p:cNvPr id="26" name="Shape 24"/>
          <p:cNvSpPr/>
          <p:nvPr/>
        </p:nvSpPr>
        <p:spPr>
          <a:xfrm>
            <a:off x="11246644" y="6531322"/>
            <a:ext cx="609600" cy="1581150"/>
          </a:xfrm>
          <a:prstGeom prst="roundRect">
            <a:avLst>
              <a:gd name="adj" fmla="val 7813"/>
            </a:avLst>
          </a:prstGeom>
          <a:solidFill>
            <a:srgbClr val="0F7A57"/>
          </a:solidFill>
          <a:ln/>
        </p:spPr>
      </p:sp>
      <p:sp>
        <p:nvSpPr>
          <p:cNvPr id="27" name="Text 25"/>
          <p:cNvSpPr/>
          <p:nvPr/>
        </p:nvSpPr>
        <p:spPr>
          <a:xfrm>
            <a:off x="10683701" y="8322022"/>
            <a:ext cx="1068660"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BoT-SORT</a:t>
            </a:r>
            <a:endParaRPr lang="en-US" sz="1650" dirty="0"/>
          </a:p>
        </p:txBody>
      </p:sp>
      <p:sp>
        <p:nvSpPr>
          <p:cNvPr id="28" name="Shape 26"/>
          <p:cNvSpPr/>
          <p:nvPr/>
        </p:nvSpPr>
        <p:spPr>
          <a:xfrm>
            <a:off x="14889733" y="3997672"/>
            <a:ext cx="724346" cy="200025"/>
          </a:xfrm>
          <a:prstGeom prst="roundRect">
            <a:avLst>
              <a:gd name="adj" fmla="val 50000"/>
            </a:avLst>
          </a:prstGeom>
          <a:solidFill>
            <a:srgbClr val="18936A"/>
          </a:solidFill>
          <a:ln/>
        </p:spPr>
      </p:sp>
      <p:sp>
        <p:nvSpPr>
          <p:cNvPr id="29" name="Text 27"/>
          <p:cNvSpPr/>
          <p:nvPr/>
        </p:nvSpPr>
        <p:spPr>
          <a:xfrm>
            <a:off x="15004033" y="4035772"/>
            <a:ext cx="571946" cy="161925"/>
          </a:xfrm>
          <a:prstGeom prst="rect">
            <a:avLst/>
          </a:prstGeom>
          <a:noFill/>
          <a:ln/>
        </p:spPr>
        <p:txBody>
          <a:bodyPr wrap="none" lIns="25400" tIns="25400" rIns="25400" bIns="25400" rtlCol="0" anchor="t">
            <a:normAutofit/>
          </a:bodyPr>
          <a:lstStyle/>
          <a:p>
            <a:pPr algn="l" indent="0" marL="0">
              <a:buNone/>
            </a:pPr>
            <a:r>
              <a:rPr lang="en-US" sz="825" b="1" spc="66" kern="0" dirty="0">
                <a:solidFill>
                  <a:srgbClr val="FFFFFF"/>
                </a:solidFill>
                <a:latin typeface="Libre Franklin" pitchFamily="34" charset="0"/>
                <a:ea typeface="Libre Franklin" pitchFamily="34" charset="-122"/>
                <a:cs typeface="Libre Franklin" pitchFamily="34" charset="-120"/>
              </a:rPr>
              <a:t>WINNER</a:t>
            </a:r>
            <a:endParaRPr lang="en-US" sz="825" dirty="0"/>
          </a:p>
        </p:txBody>
      </p:sp>
      <p:sp>
        <p:nvSpPr>
          <p:cNvPr id="30" name="Text 28"/>
          <p:cNvSpPr/>
          <p:nvPr/>
        </p:nvSpPr>
        <p:spPr>
          <a:xfrm>
            <a:off x="14682341" y="6388447"/>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6E6757"/>
                </a:solidFill>
                <a:latin typeface="Newsreader" pitchFamily="34" charset="0"/>
                <a:ea typeface="Newsreader" pitchFamily="34" charset="-122"/>
                <a:cs typeface="Newsreader" pitchFamily="34" charset="-120"/>
              </a:rPr>
              <a:t>.356</a:t>
            </a:r>
            <a:endParaRPr lang="en-US" sz="1500" dirty="0"/>
          </a:p>
        </p:txBody>
      </p:sp>
      <p:sp>
        <p:nvSpPr>
          <p:cNvPr id="31" name="Shape 29"/>
          <p:cNvSpPr/>
          <p:nvPr/>
        </p:nvSpPr>
        <p:spPr>
          <a:xfrm>
            <a:off x="14575631" y="6655147"/>
            <a:ext cx="609600" cy="1457325"/>
          </a:xfrm>
          <a:prstGeom prst="roundRect">
            <a:avLst>
              <a:gd name="adj" fmla="val 7813"/>
            </a:avLst>
          </a:prstGeom>
          <a:gradFill rotWithShape="1">
            <a:gsLst>
              <a:gs pos="0">
                <a:srgbClr val="8A8373">
                  <a:alpha val="100000"/>
                </a:srgbClr>
              </a:gs>
              <a:gs pos="100000">
                <a:srgbClr val="6E6757">
                  <a:alpha val="100000"/>
                </a:srgbClr>
              </a:gs>
            </a:gsLst>
            <a:lin ang="5400000" scaled="0"/>
          </a:gradFill>
          <a:ln/>
        </p:spPr>
      </p:sp>
      <p:sp>
        <p:nvSpPr>
          <p:cNvPr id="32" name="Text 30"/>
          <p:cNvSpPr/>
          <p:nvPr/>
        </p:nvSpPr>
        <p:spPr>
          <a:xfrm>
            <a:off x="15425291" y="6255097"/>
            <a:ext cx="472306" cy="228600"/>
          </a:xfrm>
          <a:prstGeom prst="rect">
            <a:avLst/>
          </a:prstGeom>
          <a:noFill/>
          <a:ln/>
        </p:spPr>
        <p:txBody>
          <a:bodyPr wrap="square" lIns="25400" tIns="25400" rIns="25400" bIns="25400" rtlCol="0" anchor="t">
            <a:normAutofit/>
          </a:bodyPr>
          <a:lstStyle/>
          <a:p>
            <a:pPr algn="l" indent="0" marL="0">
              <a:buNone/>
            </a:pPr>
            <a:r>
              <a:rPr lang="en-US" sz="1500" b="1" dirty="0">
                <a:solidFill>
                  <a:srgbClr val="0F7A57"/>
                </a:solidFill>
                <a:latin typeface="Newsreader" pitchFamily="34" charset="0"/>
                <a:ea typeface="Newsreader" pitchFamily="34" charset="-122"/>
                <a:cs typeface="Newsreader" pitchFamily="34" charset="-120"/>
              </a:rPr>
              <a:t>.388</a:t>
            </a:r>
            <a:endParaRPr lang="en-US" sz="1500" dirty="0"/>
          </a:p>
        </p:txBody>
      </p:sp>
      <p:sp>
        <p:nvSpPr>
          <p:cNvPr id="33" name="Shape 31"/>
          <p:cNvSpPr/>
          <p:nvPr/>
        </p:nvSpPr>
        <p:spPr>
          <a:xfrm>
            <a:off x="15318581" y="6521797"/>
            <a:ext cx="609600" cy="1590675"/>
          </a:xfrm>
          <a:prstGeom prst="roundRect">
            <a:avLst>
              <a:gd name="adj" fmla="val 7813"/>
            </a:avLst>
          </a:prstGeom>
          <a:gradFill rotWithShape="1">
            <a:gsLst>
              <a:gs pos="0">
                <a:srgbClr val="18936A">
                  <a:alpha val="100000"/>
                </a:srgbClr>
              </a:gs>
              <a:gs pos="100000">
                <a:srgbClr val="0F7A57">
                  <a:alpha val="100000"/>
                </a:srgbClr>
              </a:gs>
            </a:gsLst>
            <a:lin ang="5400000" scaled="0"/>
          </a:gradFill>
          <a:ln/>
        </p:spPr>
      </p:sp>
      <p:sp>
        <p:nvSpPr>
          <p:cNvPr id="34" name="Text 32"/>
          <p:cNvSpPr/>
          <p:nvPr/>
        </p:nvSpPr>
        <p:spPr>
          <a:xfrm>
            <a:off x="14339709" y="8301112"/>
            <a:ext cx="1824395" cy="268560"/>
          </a:xfrm>
          <a:prstGeom prst="rect">
            <a:avLst/>
          </a:prstGeom>
          <a:noFill/>
          <a:ln/>
        </p:spPr>
        <p:txBody>
          <a:bodyPr wrap="none" lIns="25400" tIns="25400" rIns="25400" bIns="25400" rtlCol="0" anchor="t">
            <a:normAutofit/>
          </a:bodyPr>
          <a:lstStyle/>
          <a:p>
            <a:pPr algn="ctr" indent="0" marL="0">
              <a:lnSpc>
                <a:spcPct val="110000"/>
              </a:lnSpc>
              <a:buNone/>
            </a:pPr>
            <a:r>
              <a:rPr lang="en-US" sz="1650" dirty="0">
                <a:solidFill>
                  <a:srgbClr val="0F7A57"/>
                </a:solidFill>
                <a:latin typeface="Newsreader" pitchFamily="34" charset="0"/>
                <a:ea typeface="Newsreader" pitchFamily="34" charset="-122"/>
                <a:cs typeface="Newsreader" pitchFamily="34" charset="-120"/>
              </a:rPr>
              <a:t>BoT-SORT + ReID</a:t>
            </a:r>
            <a:endParaRPr lang="en-US" sz="1650" dirty="0"/>
          </a:p>
        </p:txBody>
      </p:sp>
      <p:sp>
        <p:nvSpPr>
          <p:cNvPr id="35" name="Text 33"/>
          <p:cNvSpPr/>
          <p:nvPr/>
        </p:nvSpPr>
        <p:spPr>
          <a:xfrm>
            <a:off x="1143000" y="9193560"/>
            <a:ext cx="1760220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14B40"/>
                </a:solidFill>
                <a:latin typeface="Newsreader" pitchFamily="34" charset="0"/>
                <a:ea typeface="Newsreader" pitchFamily="34" charset="-122"/>
                <a:cs typeface="Newsreader" pitchFamily="34" charset="-120"/>
              </a:rPr>
              <a:t>Vs. the SORT baseline, the winner </a:t>
            </a:r>
            <a:pPr algn="l" indent="0" marL="0">
              <a:lnSpc>
                <a:spcPct val="140000"/>
              </a:lnSpc>
              <a:buNone/>
            </a:pPr>
            <a:r>
              <a:rPr lang="en-US" sz="1650" b="1" dirty="0">
                <a:solidFill>
                  <a:srgbClr val="1A1814"/>
                </a:solidFill>
                <a:latin typeface="Newsreader" pitchFamily="34" charset="0"/>
                <a:ea typeface="Newsreader" pitchFamily="34" charset="-122"/>
                <a:cs typeface="Newsreader" pitchFamily="34" charset="-120"/>
              </a:rPr>
              <a:t>more than doubles </a:t>
            </a:r>
            <a:pPr algn="l" indent="0" marL="0">
              <a:lnSpc>
                <a:spcPct val="140000"/>
              </a:lnSpc>
              <a:buNone/>
            </a:pPr>
            <a:r>
              <a:rPr lang="en-US" sz="1650" dirty="0">
                <a:solidFill>
                  <a:srgbClr val="514B40"/>
                </a:solidFill>
                <a:latin typeface="Newsreader" pitchFamily="34" charset="0"/>
                <a:ea typeface="Newsreader" pitchFamily="34" charset="-122"/>
                <a:cs typeface="Newsreader" pitchFamily="34" charset="-120"/>
              </a:rPr>
              <a:t>true positives (11,470 → 29,216) and lifts MOTA </a:t>
            </a:r>
            <a:pPr algn="l" indent="0" marL="0">
              <a:lnSpc>
                <a:spcPct val="140000"/>
              </a:lnSpc>
              <a:buNone/>
            </a:pPr>
            <a:r>
              <a:rPr lang="en-US" sz="1650" b="1" dirty="0">
                <a:solidFill>
                  <a:srgbClr val="1A1814"/>
                </a:solidFill>
                <a:latin typeface="Newsreader" pitchFamily="34" charset="0"/>
                <a:ea typeface="Newsreader" pitchFamily="34" charset="-122"/>
                <a:cs typeface="Newsreader" pitchFamily="34" charset="-120"/>
              </a:rPr>
              <a:t>~2.6× </a:t>
            </a:r>
            <a:pPr algn="l" indent="0" marL="0">
              <a:lnSpc>
                <a:spcPct val="140000"/>
              </a:lnSpc>
              <a:buNone/>
            </a:pPr>
            <a:r>
              <a:rPr lang="en-US" sz="1650" dirty="0">
                <a:solidFill>
                  <a:srgbClr val="514B40"/>
                </a:solidFill>
                <a:latin typeface="Newsreader" pitchFamily="34" charset="0"/>
                <a:ea typeface="Newsreader" pitchFamily="34" charset="-122"/>
                <a:cs typeface="Newsreader" pitchFamily="34" charset="-120"/>
              </a:rPr>
              <a:t>(0.139 → 0.356).</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0413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10</a:t>
            </a:r>
            <a:endParaRPr lang="en-US" sz="1125" dirty="0"/>
          </a:p>
        </p:txBody>
      </p:sp>
      <p:sp>
        <p:nvSpPr>
          <p:cNvPr id="4" name="Text 2"/>
          <p:cNvSpPr/>
          <p:nvPr/>
        </p:nvSpPr>
        <p:spPr>
          <a:xfrm>
            <a:off x="1504280"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7253" y="800100"/>
            <a:ext cx="252884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READING THE NUMBERS</a:t>
            </a:r>
            <a:endParaRPr lang="en-US" sz="1125" dirty="0"/>
          </a:p>
        </p:txBody>
      </p:sp>
      <p:sp>
        <p:nvSpPr>
          <p:cNvPr id="6" name="Text 4"/>
          <p:cNvSpPr/>
          <p:nvPr/>
        </p:nvSpPr>
        <p:spPr>
          <a:xfrm>
            <a:off x="1143000" y="1381125"/>
            <a:ext cx="1152525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spc="-65" kern="0" dirty="0">
                <a:solidFill>
                  <a:srgbClr val="1A1814"/>
                </a:solidFill>
                <a:latin typeface="Newsreader" pitchFamily="34" charset="0"/>
                <a:ea typeface="Newsreader" pitchFamily="34" charset="-122"/>
                <a:cs typeface="Newsreader" pitchFamily="34" charset="-120"/>
              </a:rPr>
              <a:t>Lower isn't always better — </a:t>
            </a:r>
            <a:pPr algn="l" indent="0" marL="0">
              <a:lnSpc>
                <a:spcPct val="100000"/>
              </a:lnSpc>
              <a:buNone/>
            </a:pPr>
            <a:r>
              <a:rPr lang="en-US" sz="4350" i="1" spc="-65" kern="0" dirty="0">
                <a:solidFill>
                  <a:srgbClr val="0F7A57"/>
                </a:solidFill>
                <a:latin typeface="Newsreader" pitchFamily="34" charset="0"/>
                <a:ea typeface="Newsreader" pitchFamily="34" charset="-122"/>
                <a:cs typeface="Newsreader" pitchFamily="34" charset="-120"/>
              </a:rPr>
              <a:t>read carefully</a:t>
            </a:r>
            <a:endParaRPr lang="en-US" sz="4350" dirty="0"/>
          </a:p>
        </p:txBody>
      </p:sp>
      <p:sp>
        <p:nvSpPr>
          <p:cNvPr id="7" name="Shape 5"/>
          <p:cNvSpPr/>
          <p:nvPr/>
        </p:nvSpPr>
        <p:spPr>
          <a:xfrm>
            <a:off x="1143000" y="3995738"/>
            <a:ext cx="5143500" cy="3429000"/>
          </a:xfrm>
          <a:prstGeom prst="roundRect">
            <a:avLst>
              <a:gd name="adj" fmla="val 388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8" name="Text 6"/>
          <p:cNvSpPr/>
          <p:nvPr/>
        </p:nvSpPr>
        <p:spPr>
          <a:xfrm>
            <a:off x="1495425" y="4367213"/>
            <a:ext cx="4571810" cy="695325"/>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1A1814"/>
                </a:solidFill>
                <a:latin typeface="Newsreader" pitchFamily="34" charset="0"/>
                <a:ea typeface="Newsreader" pitchFamily="34" charset="-122"/>
                <a:cs typeface="Newsreader" pitchFamily="34" charset="-120"/>
              </a:rPr>
              <a:t>SORT's low ID-switches are </a:t>
            </a:r>
            <a:pPr algn="l" indent="0" marL="0">
              <a:lnSpc>
                <a:spcPct val="115000"/>
              </a:lnSpc>
              <a:buNone/>
            </a:pPr>
            <a:r>
              <a:rPr lang="en-US" sz="2250" b="1" i="1" dirty="0">
                <a:solidFill>
                  <a:srgbClr val="C24A35"/>
                </a:solidFill>
                <a:latin typeface="Newsreader" pitchFamily="34" charset="0"/>
                <a:ea typeface="Newsreader" pitchFamily="34" charset="-122"/>
                <a:cs typeface="Newsreader" pitchFamily="34" charset="-120"/>
              </a:rPr>
              <a:t>deceptive</a:t>
            </a:r>
            <a:endParaRPr lang="en-US" sz="2250" dirty="0"/>
          </a:p>
        </p:txBody>
      </p:sp>
      <p:sp>
        <p:nvSpPr>
          <p:cNvPr id="9" name="Text 7"/>
          <p:cNvSpPr/>
          <p:nvPr/>
        </p:nvSpPr>
        <p:spPr>
          <a:xfrm>
            <a:off x="1495425" y="5967413"/>
            <a:ext cx="4571810" cy="1123950"/>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6E6757"/>
                </a:solidFill>
                <a:latin typeface="Libre Franklin" pitchFamily="34" charset="0"/>
                <a:ea typeface="Libre Franklin" pitchFamily="34" charset="-122"/>
                <a:cs typeface="Libre Franklin" pitchFamily="34" charset="-120"/>
              </a:rPr>
              <a:t>It has few switches only because it </a:t>
            </a:r>
            <a:pPr algn="l" indent="0" marL="0">
              <a:lnSpc>
                <a:spcPct val="150000"/>
              </a:lnSpc>
              <a:buNone/>
            </a:pPr>
            <a:r>
              <a:rPr lang="en-US" sz="1425" b="1" dirty="0">
                <a:solidFill>
                  <a:srgbClr val="1A1814"/>
                </a:solidFill>
                <a:latin typeface="Libre Franklin" pitchFamily="34" charset="0"/>
                <a:ea typeface="Libre Franklin" pitchFamily="34" charset="-122"/>
                <a:cs typeface="Libre Franklin" pitchFamily="34" charset="-120"/>
              </a:rPr>
              <a:t>dropped most tracks entirely </a:t>
            </a:r>
            <a:pPr algn="l" indent="0" marL="0">
              <a:lnSpc>
                <a:spcPct val="150000"/>
              </a:lnSpc>
              <a:buNone/>
            </a:pPr>
            <a:r>
              <a:rPr lang="en-US" sz="1425" dirty="0">
                <a:solidFill>
                  <a:srgbClr val="6E6757"/>
                </a:solidFill>
                <a:latin typeface="Libre Franklin" pitchFamily="34" charset="0"/>
                <a:ea typeface="Libre Franklin" pitchFamily="34" charset="-122"/>
                <a:cs typeface="Libre Franklin" pitchFamily="34" charset="-120"/>
              </a:rPr>
              <a:t>. BoT-SORT's higher IDSW is the price of </a:t>
            </a:r>
            <a:pPr algn="l" indent="0" marL="0">
              <a:lnSpc>
                <a:spcPct val="150000"/>
              </a:lnSpc>
              <a:buNone/>
            </a:pPr>
            <a:r>
              <a:rPr lang="en-US" sz="1425" i="1" dirty="0">
                <a:solidFill>
                  <a:srgbClr val="6E6757"/>
                </a:solidFill>
                <a:latin typeface="Libre Franklin" pitchFamily="34" charset="0"/>
                <a:ea typeface="Libre Franklin" pitchFamily="34" charset="-122"/>
                <a:cs typeface="Libre Franklin" pitchFamily="34" charset="-120"/>
              </a:rPr>
              <a:t>actually maintaining </a:t>
            </a:r>
            <a:pPr algn="l" indent="0" marL="0">
              <a:lnSpc>
                <a:spcPct val="150000"/>
              </a:lnSpc>
              <a:buNone/>
            </a:pPr>
            <a:r>
              <a:rPr lang="en-US" sz="1425" dirty="0">
                <a:solidFill>
                  <a:srgbClr val="6E6757"/>
                </a:solidFill>
                <a:latin typeface="Libre Franklin" pitchFamily="34" charset="0"/>
                <a:ea typeface="Libre Franklin" pitchFamily="34" charset="-122"/>
                <a:cs typeface="Libre Franklin" pitchFamily="34" charset="-120"/>
              </a:rPr>
              <a:t>tracks across textureless frames.</a:t>
            </a:r>
            <a:endParaRPr lang="en-US" sz="1425" dirty="0"/>
          </a:p>
        </p:txBody>
      </p:sp>
      <p:sp>
        <p:nvSpPr>
          <p:cNvPr id="10" name="Shape 8"/>
          <p:cNvSpPr/>
          <p:nvPr/>
        </p:nvSpPr>
        <p:spPr>
          <a:xfrm>
            <a:off x="6572250" y="3995738"/>
            <a:ext cx="5143500" cy="3429000"/>
          </a:xfrm>
          <a:prstGeom prst="roundRect">
            <a:avLst>
              <a:gd name="adj" fmla="val 388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1" name="Text 9"/>
          <p:cNvSpPr/>
          <p:nvPr/>
        </p:nvSpPr>
        <p:spPr>
          <a:xfrm>
            <a:off x="6924675" y="4367213"/>
            <a:ext cx="4882515"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0F7A57"/>
                </a:solidFill>
                <a:latin typeface="Newsreader" pitchFamily="34" charset="0"/>
                <a:ea typeface="Newsreader" pitchFamily="34" charset="-122"/>
                <a:cs typeface="Newsreader" pitchFamily="34" charset="-120"/>
              </a:rPr>
              <a:t>~4</a:t>
            </a:r>
            <a:endParaRPr lang="en-US" sz="4200" dirty="0"/>
          </a:p>
        </p:txBody>
      </p:sp>
      <p:sp>
        <p:nvSpPr>
          <p:cNvPr id="12" name="Text 10"/>
          <p:cNvSpPr/>
          <p:nvPr/>
        </p:nvSpPr>
        <p:spPr>
          <a:xfrm>
            <a:off x="6924675" y="4942508"/>
            <a:ext cx="4882515"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8A8373"/>
                </a:solidFill>
                <a:latin typeface="Libre Franklin" pitchFamily="34" charset="0"/>
                <a:ea typeface="Libre Franklin" pitchFamily="34" charset="-122"/>
                <a:cs typeface="Libre Franklin" pitchFamily="34" charset="-120"/>
              </a:rPr>
              <a:t>FALSE POSITIVES · 21K FRAMES</a:t>
            </a:r>
            <a:endParaRPr lang="en-US" sz="1050" dirty="0"/>
          </a:p>
        </p:txBody>
      </p:sp>
      <p:sp>
        <p:nvSpPr>
          <p:cNvPr id="13" name="Text 11"/>
          <p:cNvSpPr/>
          <p:nvPr/>
        </p:nvSpPr>
        <p:spPr>
          <a:xfrm>
            <a:off x="6924675" y="6238875"/>
            <a:ext cx="4571810" cy="852488"/>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6E6757"/>
                </a:solidFill>
                <a:latin typeface="Libre Franklin" pitchFamily="34" charset="0"/>
                <a:ea typeface="Libre Franklin" pitchFamily="34" charset="-122"/>
                <a:cs typeface="Libre Franklin" pitchFamily="34" charset="-120"/>
              </a:rPr>
              <a:t>BoT-SORT keeps false positives </a:t>
            </a:r>
            <a:pPr algn="l" indent="0" marL="0">
              <a:lnSpc>
                <a:spcPct val="150000"/>
              </a:lnSpc>
              <a:buNone/>
            </a:pPr>
            <a:r>
              <a:rPr lang="en-US" sz="1425" b="1" dirty="0">
                <a:solidFill>
                  <a:srgbClr val="1A1814"/>
                </a:solidFill>
                <a:latin typeface="Libre Franklin" pitchFamily="34" charset="0"/>
                <a:ea typeface="Libre Franklin" pitchFamily="34" charset="-122"/>
                <a:cs typeface="Libre Franklin" pitchFamily="34" charset="-120"/>
              </a:rPr>
              <a:t>near zero </a:t>
            </a:r>
            <a:pPr algn="l" indent="0" marL="0">
              <a:lnSpc>
                <a:spcPct val="150000"/>
              </a:lnSpc>
              <a:buNone/>
            </a:pPr>
            <a:r>
              <a:rPr lang="en-US" sz="1425" dirty="0">
                <a:solidFill>
                  <a:srgbClr val="6E6757"/>
                </a:solidFill>
                <a:latin typeface="Libre Franklin" pitchFamily="34" charset="0"/>
                <a:ea typeface="Libre Franklin" pitchFamily="34" charset="-122"/>
                <a:cs typeface="Libre Franklin" pitchFamily="34" charset="-120"/>
              </a:rPr>
              <a:t>while maximizing true positives — it is precise, not trigger-happy.</a:t>
            </a:r>
            <a:endParaRPr lang="en-US" sz="1425" dirty="0"/>
          </a:p>
        </p:txBody>
      </p:sp>
      <p:sp>
        <p:nvSpPr>
          <p:cNvPr id="14" name="Shape 12"/>
          <p:cNvSpPr/>
          <p:nvPr/>
        </p:nvSpPr>
        <p:spPr>
          <a:xfrm>
            <a:off x="12001500" y="3995738"/>
            <a:ext cx="5143500" cy="3429000"/>
          </a:xfrm>
          <a:prstGeom prst="roundRect">
            <a:avLst>
              <a:gd name="adj" fmla="val 3889"/>
            </a:avLst>
          </a:prstGeom>
          <a:solidFill>
            <a:srgbClr val="FBEDE9"/>
          </a:solidFill>
          <a:ln w="9525">
            <a:solidFill>
              <a:srgbClr val="F0C6BB"/>
            </a:solidFill>
            <a:prstDash val="solid"/>
          </a:ln>
        </p:spPr>
      </p:sp>
      <p:sp>
        <p:nvSpPr>
          <p:cNvPr id="15" name="Text 13"/>
          <p:cNvSpPr/>
          <p:nvPr/>
        </p:nvSpPr>
        <p:spPr>
          <a:xfrm>
            <a:off x="12353925" y="4367213"/>
            <a:ext cx="4882515"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C24A35"/>
                </a:solidFill>
                <a:latin typeface="Newsreader" pitchFamily="34" charset="0"/>
                <a:ea typeface="Newsreader" pitchFamily="34" charset="-122"/>
                <a:cs typeface="Newsreader" pitchFamily="34" charset="-120"/>
              </a:rPr>
              <a:t>~32k</a:t>
            </a:r>
            <a:endParaRPr lang="en-US" sz="4200" dirty="0"/>
          </a:p>
        </p:txBody>
      </p:sp>
      <p:sp>
        <p:nvSpPr>
          <p:cNvPr id="16" name="Text 14"/>
          <p:cNvSpPr/>
          <p:nvPr/>
        </p:nvSpPr>
        <p:spPr>
          <a:xfrm>
            <a:off x="12353925" y="4942508"/>
            <a:ext cx="4882515" cy="200025"/>
          </a:xfrm>
          <a:prstGeom prst="rect">
            <a:avLst/>
          </a:prstGeom>
          <a:noFill/>
          <a:ln/>
        </p:spPr>
        <p:txBody>
          <a:bodyPr wrap="square" lIns="25400" tIns="25400" rIns="25400" bIns="25400" rtlCol="0" anchor="t">
            <a:normAutofit/>
          </a:bodyPr>
          <a:lstStyle/>
          <a:p>
            <a:pPr algn="l" indent="0" marL="0">
              <a:buNone/>
            </a:pPr>
            <a:r>
              <a:rPr lang="en-US" sz="1050" b="1" spc="84" kern="0" dirty="0">
                <a:solidFill>
                  <a:srgbClr val="C24A35"/>
                </a:solidFill>
                <a:latin typeface="Libre Franklin" pitchFamily="34" charset="0"/>
                <a:ea typeface="Libre Franklin" pitchFamily="34" charset="-122"/>
                <a:cs typeface="Libre Franklin" pitchFamily="34" charset="-120"/>
              </a:rPr>
              <a:t>FALSE NEGATIVES · EVEN THE BEST</a:t>
            </a:r>
            <a:endParaRPr lang="en-US" sz="1050" dirty="0"/>
          </a:p>
        </p:txBody>
      </p:sp>
      <p:sp>
        <p:nvSpPr>
          <p:cNvPr id="17" name="Text 15"/>
          <p:cNvSpPr/>
          <p:nvPr/>
        </p:nvSpPr>
        <p:spPr>
          <a:xfrm>
            <a:off x="12353925" y="6238875"/>
            <a:ext cx="4571810" cy="852488"/>
          </a:xfrm>
          <a:prstGeom prst="rect">
            <a:avLst/>
          </a:prstGeom>
          <a:noFill/>
          <a:ln/>
        </p:spPr>
        <p:txBody>
          <a:bodyPr wrap="square" lIns="25400" tIns="25400" rIns="25400" bIns="25400" rtlCol="0" anchor="t">
            <a:normAutofit/>
          </a:bodyPr>
          <a:lstStyle/>
          <a:p>
            <a:pPr algn="l" indent="0" marL="0">
              <a:lnSpc>
                <a:spcPct val="150000"/>
              </a:lnSpc>
              <a:buNone/>
            </a:pPr>
            <a:r>
              <a:rPr lang="en-US" sz="1425" dirty="0">
                <a:solidFill>
                  <a:srgbClr val="4A3F3B"/>
                </a:solidFill>
                <a:latin typeface="Libre Franklin" pitchFamily="34" charset="0"/>
                <a:ea typeface="Libre Franklin" pitchFamily="34" charset="-122"/>
                <a:cs typeface="Libre Franklin" pitchFamily="34" charset="-120"/>
              </a:rPr>
              <a:t>The stubborn FN floor across </a:t>
            </a:r>
            <a:pPr algn="l" indent="0" marL="0">
              <a:lnSpc>
                <a:spcPct val="150000"/>
              </a:lnSpc>
              <a:buNone/>
            </a:pPr>
            <a:r>
              <a:rPr lang="en-US" sz="1425" i="1" dirty="0">
                <a:solidFill>
                  <a:srgbClr val="4A3F3B"/>
                </a:solidFill>
                <a:latin typeface="Libre Franklin" pitchFamily="34" charset="0"/>
                <a:ea typeface="Libre Franklin" pitchFamily="34" charset="-122"/>
                <a:cs typeface="Libre Franklin" pitchFamily="34" charset="-120"/>
              </a:rPr>
              <a:t>all </a:t>
            </a:r>
            <a:pPr algn="l" indent="0" marL="0">
              <a:lnSpc>
                <a:spcPct val="150000"/>
              </a:lnSpc>
              <a:buNone/>
            </a:pPr>
            <a:r>
              <a:rPr lang="en-US" sz="1425" dirty="0">
                <a:solidFill>
                  <a:srgbClr val="4A3F3B"/>
                </a:solidFill>
                <a:latin typeface="Libre Franklin" pitchFamily="34" charset="0"/>
                <a:ea typeface="Libre Franklin" pitchFamily="34" charset="-122"/>
                <a:cs typeface="Libre Franklin" pitchFamily="34" charset="-120"/>
              </a:rPr>
              <a:t>trackers is the honest signature of thermal flicker. </a:t>
            </a:r>
            <a:pPr algn="l" indent="0" marL="0">
              <a:lnSpc>
                <a:spcPct val="150000"/>
              </a:lnSpc>
              <a:buNone/>
            </a:pPr>
            <a:r>
              <a:rPr lang="en-US" sz="1425" b="1" dirty="0">
                <a:solidFill>
                  <a:srgbClr val="1A1814"/>
                </a:solidFill>
                <a:latin typeface="Libre Franklin" pitchFamily="34" charset="0"/>
                <a:ea typeface="Libre Franklin" pitchFamily="34" charset="-122"/>
                <a:cs typeface="Libre Franklin" pitchFamily="34" charset="-120"/>
              </a:rPr>
              <a:t>The ceiling is set by detection </a:t>
            </a:r>
            <a:pPr algn="l" indent="0" marL="0">
              <a:lnSpc>
                <a:spcPct val="150000"/>
              </a:lnSpc>
              <a:buNone/>
            </a:pPr>
            <a:r>
              <a:rPr lang="en-US" sz="1425" dirty="0">
                <a:solidFill>
                  <a:srgbClr val="4A3F3B"/>
                </a:solidFill>
                <a:latin typeface="Libre Franklin" pitchFamily="34" charset="0"/>
                <a:ea typeface="Libre Franklin" pitchFamily="34" charset="-122"/>
                <a:cs typeface="Libre Franklin" pitchFamily="34" charset="-120"/>
              </a:rPr>
              <a:t>— which motivates the next layer.</a:t>
            </a:r>
            <a:endParaRPr lang="en-US" sz="1425" dirty="0"/>
          </a:p>
        </p:txBody>
      </p:sp>
      <p:sp>
        <p:nvSpPr>
          <p:cNvPr id="18" name="Text 16"/>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19" name="Text 17"/>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274439"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11</a:t>
            </a:r>
            <a:endParaRPr lang="en-US" sz="1125" dirty="0"/>
          </a:p>
        </p:txBody>
      </p:sp>
      <p:sp>
        <p:nvSpPr>
          <p:cNvPr id="4" name="Text 2"/>
          <p:cNvSpPr/>
          <p:nvPr/>
        </p:nvSpPr>
        <p:spPr>
          <a:xfrm>
            <a:off x="1474589"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687562" y="800100"/>
            <a:ext cx="2128897"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DETECTION · MLOPS</a:t>
            </a:r>
            <a:endParaRPr lang="en-US" sz="1125" dirty="0"/>
          </a:p>
        </p:txBody>
      </p:sp>
      <p:sp>
        <p:nvSpPr>
          <p:cNvPr id="6" name="Text 4"/>
          <p:cNvSpPr/>
          <p:nvPr/>
        </p:nvSpPr>
        <p:spPr>
          <a:xfrm>
            <a:off x="1143000" y="1381125"/>
            <a:ext cx="176022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spc="-65" kern="0" dirty="0">
                <a:solidFill>
                  <a:srgbClr val="1A1814"/>
                </a:solidFill>
                <a:latin typeface="Newsreader" pitchFamily="34" charset="0"/>
                <a:ea typeface="Newsreader" pitchFamily="34" charset="-122"/>
                <a:cs typeface="Newsreader" pitchFamily="34" charset="-120"/>
              </a:rPr>
              <a:t>An opinionated, reproducible harness</a:t>
            </a:r>
            <a:endParaRPr lang="en-US" sz="4350" dirty="0"/>
          </a:p>
        </p:txBody>
      </p:sp>
      <p:sp>
        <p:nvSpPr>
          <p:cNvPr id="7" name="Shape 5"/>
          <p:cNvSpPr/>
          <p:nvPr/>
        </p:nvSpPr>
        <p:spPr>
          <a:xfrm>
            <a:off x="1143000" y="4203502"/>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8" name="Text 6"/>
          <p:cNvSpPr/>
          <p:nvPr/>
        </p:nvSpPr>
        <p:spPr>
          <a:xfrm>
            <a:off x="1457325" y="4498777"/>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One uv environment</a:t>
            </a:r>
            <a:endParaRPr lang="en-US" sz="1800" dirty="0"/>
          </a:p>
        </p:txBody>
      </p:sp>
      <p:sp>
        <p:nvSpPr>
          <p:cNvPr id="9" name="Text 7"/>
          <p:cNvSpPr/>
          <p:nvPr/>
        </p:nvSpPr>
        <p:spPr>
          <a:xfrm>
            <a:off x="1457325" y="4803577"/>
            <a:ext cx="468953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All four models share it, torch pinned to CUDA 12.4 wheels — the GPU build is reproducible.</a:t>
            </a:r>
            <a:endParaRPr lang="en-US" sz="1350" dirty="0"/>
          </a:p>
        </p:txBody>
      </p:sp>
      <p:sp>
        <p:nvSpPr>
          <p:cNvPr id="10" name="Shape 8"/>
          <p:cNvSpPr/>
          <p:nvPr/>
        </p:nvSpPr>
        <p:spPr>
          <a:xfrm>
            <a:off x="6553200" y="4203502"/>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1" name="Text 9"/>
          <p:cNvSpPr/>
          <p:nvPr/>
        </p:nvSpPr>
        <p:spPr>
          <a:xfrm>
            <a:off x="6867525" y="4498777"/>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Persistent MLflow</a:t>
            </a:r>
            <a:endParaRPr lang="en-US" sz="1800" dirty="0"/>
          </a:p>
        </p:txBody>
      </p:sp>
      <p:sp>
        <p:nvSpPr>
          <p:cNvPr id="12" name="Text 10"/>
          <p:cNvSpPr/>
          <p:nvPr/>
        </p:nvSpPr>
        <p:spPr>
          <a:xfrm>
            <a:off x="6867525" y="4803577"/>
            <a:ext cx="468953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Dockerized at :5000. Two experiments kept separate — detection vs. bench — surviving restarts.</a:t>
            </a:r>
            <a:endParaRPr lang="en-US" sz="1350" dirty="0"/>
          </a:p>
        </p:txBody>
      </p:sp>
      <p:sp>
        <p:nvSpPr>
          <p:cNvPr id="13" name="Shape 11"/>
          <p:cNvSpPr/>
          <p:nvPr/>
        </p:nvSpPr>
        <p:spPr>
          <a:xfrm>
            <a:off x="11963400" y="4203502"/>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4" name="Text 12"/>
          <p:cNvSpPr/>
          <p:nvPr/>
        </p:nvSpPr>
        <p:spPr>
          <a:xfrm>
            <a:off x="12277725" y="4498777"/>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Zero-copy views</a:t>
            </a:r>
            <a:endParaRPr lang="en-US" sz="1800" dirty="0"/>
          </a:p>
        </p:txBody>
      </p:sp>
      <p:sp>
        <p:nvSpPr>
          <p:cNvPr id="15" name="Text 13"/>
          <p:cNvSpPr/>
          <p:nvPr/>
        </p:nvSpPr>
        <p:spPr>
          <a:xfrm>
            <a:off x="12277725" y="4803577"/>
            <a:ext cx="468953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The ~16 GB image set is </a:t>
            </a:r>
            <a:pPr algn="l" indent="0" marL="0">
              <a:lnSpc>
                <a:spcPct val="145000"/>
              </a:lnSpc>
              <a:buNone/>
            </a:pPr>
            <a:r>
              <a:rPr lang="en-US" sz="1350" b="1" dirty="0">
                <a:solidFill>
                  <a:srgbClr val="1A1814"/>
                </a:solidFill>
                <a:latin typeface="Libre Franklin" pitchFamily="34" charset="0"/>
                <a:ea typeface="Libre Franklin" pitchFamily="34" charset="-122"/>
                <a:cs typeface="Libre Franklin" pitchFamily="34" charset="-120"/>
              </a:rPr>
              <a:t>never copied </a:t>
            </a:r>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 whole-directory &amp; per-file symlinks satisfy each layout.</a:t>
            </a:r>
            <a:endParaRPr lang="en-US" sz="1350" dirty="0"/>
          </a:p>
        </p:txBody>
      </p:sp>
      <p:sp>
        <p:nvSpPr>
          <p:cNvPr id="16" name="Shape 14"/>
          <p:cNvSpPr/>
          <p:nvPr/>
        </p:nvSpPr>
        <p:spPr>
          <a:xfrm>
            <a:off x="1143000" y="5824538"/>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17" name="Text 15"/>
          <p:cNvSpPr/>
          <p:nvPr/>
        </p:nvSpPr>
        <p:spPr>
          <a:xfrm>
            <a:off x="1457325" y="6119813"/>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Two resolutions</a:t>
            </a:r>
            <a:endParaRPr lang="en-US" sz="1800" dirty="0"/>
          </a:p>
        </p:txBody>
      </p:sp>
      <p:sp>
        <p:nvSpPr>
          <p:cNvPr id="18" name="Text 16"/>
          <p:cNvSpPr/>
          <p:nvPr/>
        </p:nvSpPr>
        <p:spPr>
          <a:xfrm>
            <a:off x="1457325" y="6424613"/>
            <a:ext cx="468953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640 (fast) and 1024 (full detail), both ÷32. Every model timed at both to isolate resolution.</a:t>
            </a:r>
            <a:endParaRPr lang="en-US" sz="1350" dirty="0"/>
          </a:p>
        </p:txBody>
      </p:sp>
      <p:sp>
        <p:nvSpPr>
          <p:cNvPr id="19" name="Shape 17"/>
          <p:cNvSpPr/>
          <p:nvPr/>
        </p:nvSpPr>
        <p:spPr>
          <a:xfrm>
            <a:off x="6553200" y="5824538"/>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20" name="Text 18"/>
          <p:cNvSpPr/>
          <p:nvPr/>
        </p:nvSpPr>
        <p:spPr>
          <a:xfrm>
            <a:off x="6867525" y="6119813"/>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OOM is recorded</a:t>
            </a:r>
            <a:endParaRPr lang="en-US" sz="1800" dirty="0"/>
          </a:p>
        </p:txBody>
      </p:sp>
      <p:sp>
        <p:nvSpPr>
          <p:cNvPr id="21" name="Text 19"/>
          <p:cNvSpPr/>
          <p:nvPr/>
        </p:nvSpPr>
        <p:spPr>
          <a:xfrm>
            <a:off x="6867525" y="6424613"/>
            <a:ext cx="468953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Each model runs in its own process; a CUDA OOM is logged as a status, never crashing the run.</a:t>
            </a:r>
            <a:endParaRPr lang="en-US" sz="1350" dirty="0"/>
          </a:p>
        </p:txBody>
      </p:sp>
      <p:sp>
        <p:nvSpPr>
          <p:cNvPr id="22" name="Shape 20"/>
          <p:cNvSpPr/>
          <p:nvPr/>
        </p:nvSpPr>
        <p:spPr>
          <a:xfrm>
            <a:off x="11963400" y="5824538"/>
            <a:ext cx="5181600" cy="1392436"/>
          </a:xfrm>
          <a:prstGeom prst="roundRect">
            <a:avLst>
              <a:gd name="adj" fmla="val 820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23" name="Text 21"/>
          <p:cNvSpPr/>
          <p:nvPr/>
        </p:nvSpPr>
        <p:spPr>
          <a:xfrm>
            <a:off x="12277725" y="6119813"/>
            <a:ext cx="5008245"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Fault-tolerant queue</a:t>
            </a:r>
            <a:endParaRPr lang="en-US" sz="1800" dirty="0"/>
          </a:p>
        </p:txBody>
      </p:sp>
      <p:sp>
        <p:nvSpPr>
          <p:cNvPr id="24" name="Text 22"/>
          <p:cNvSpPr/>
          <p:nvPr/>
        </p:nvSpPr>
        <p:spPr>
          <a:xfrm>
            <a:off x="12277725" y="6424613"/>
            <a:ext cx="5008245" cy="286643"/>
          </a:xfrm>
          <a:prstGeom prst="rect">
            <a:avLst/>
          </a:prstGeom>
          <a:noFill/>
          <a:ln/>
        </p:spPr>
        <p:txBody>
          <a:bodyPr wrap="square" lIns="25400" tIns="25400" rIns="25400" bIns="25400" rtlCol="0" anchor="t">
            <a:normAutofit/>
          </a:bodyPr>
          <a:lstStyle/>
          <a:p>
            <a:pPr algn="l" indent="0" marL="0">
              <a:lnSpc>
                <a:spcPct val="145000"/>
              </a:lnSpc>
              <a:buNone/>
            </a:pPr>
            <a:r>
              <a:rPr lang="en-US" sz="1125" b="1" dirty="0">
                <a:solidFill>
                  <a:srgbClr val="6E6757"/>
                </a:solidFill>
                <a:latin typeface="Libre Franklin" pitchFamily="34" charset="0"/>
                <a:ea typeface="Libre Franklin" pitchFamily="34" charset="-122"/>
                <a:cs typeface="Libre Franklin" pitchFamily="34" charset="-120"/>
              </a:rPr>
              <a:t>train_all.sh </a:t>
            </a:r>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reports a failure but keeps the queue running.</a:t>
            </a:r>
            <a:endParaRPr lang="en-US" sz="1350" dirty="0"/>
          </a:p>
        </p:txBody>
      </p:sp>
      <p:sp>
        <p:nvSpPr>
          <p:cNvPr id="25" name="Text 23"/>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26" name="Text 24"/>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293712"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12</a:t>
            </a:r>
            <a:endParaRPr lang="en-US" sz="1125" dirty="0"/>
          </a:p>
        </p:txBody>
      </p:sp>
      <p:sp>
        <p:nvSpPr>
          <p:cNvPr id="4" name="Text 2"/>
          <p:cNvSpPr/>
          <p:nvPr/>
        </p:nvSpPr>
        <p:spPr>
          <a:xfrm>
            <a:off x="1493862"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06835" y="800100"/>
            <a:ext cx="209435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SPEED BENCHMARK</a:t>
            </a:r>
            <a:endParaRPr lang="en-US" sz="1125" dirty="0"/>
          </a:p>
        </p:txBody>
      </p:sp>
      <p:sp>
        <p:nvSpPr>
          <p:cNvPr id="6" name="Text 4"/>
          <p:cNvSpPr/>
          <p:nvPr/>
        </p:nvSpPr>
        <p:spPr>
          <a:xfrm>
            <a:off x="1143000" y="1362075"/>
            <a:ext cx="7653732"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spc="-61" kern="0" dirty="0">
                <a:solidFill>
                  <a:srgbClr val="1A1814"/>
                </a:solidFill>
                <a:latin typeface="Newsreader" pitchFamily="34" charset="0"/>
                <a:ea typeface="Newsreader" pitchFamily="34" charset="-122"/>
                <a:cs typeface="Newsreader" pitchFamily="34" charset="-120"/>
              </a:rPr>
              <a:t>Plan the compute before the run</a:t>
            </a:r>
            <a:endParaRPr lang="en-US" sz="4050" dirty="0"/>
          </a:p>
        </p:txBody>
      </p:sp>
      <p:sp>
        <p:nvSpPr>
          <p:cNvPr id="7" name="Text 5"/>
          <p:cNvSpPr/>
          <p:nvPr/>
        </p:nvSpPr>
        <p:spPr>
          <a:xfrm>
            <a:off x="13851359" y="1714500"/>
            <a:ext cx="3623005" cy="200025"/>
          </a:xfrm>
          <a:prstGeom prst="rect">
            <a:avLst/>
          </a:prstGeom>
          <a:noFill/>
          <a:ln/>
        </p:spPr>
        <p:txBody>
          <a:bodyPr wrap="square" lIns="25400" tIns="25400" rIns="25400" bIns="25400" rtlCol="0" anchor="t">
            <a:normAutofit/>
          </a:bodyPr>
          <a:lstStyle/>
          <a:p>
            <a:pPr algn="l" indent="0" marL="0">
              <a:buNone/>
            </a:pPr>
            <a:r>
              <a:rPr lang="en-US" sz="1050" dirty="0">
                <a:solidFill>
                  <a:srgbClr val="8A8373"/>
                </a:solidFill>
                <a:latin typeface="Libre Franklin" pitchFamily="34" charset="0"/>
                <a:ea typeface="Libre Franklin" pitchFamily="34" charset="-122"/>
                <a:cs typeface="Libre Franklin" pitchFamily="34" charset="-120"/>
              </a:rPr>
              <a:t>RTX 4070 · 1 epoch / 500-img subset → extrapolated</a:t>
            </a:r>
            <a:endParaRPr lang="en-US" sz="1050" dirty="0"/>
          </a:p>
        </p:txBody>
      </p:sp>
      <p:sp>
        <p:nvSpPr>
          <p:cNvPr id="8" name="Shape 6"/>
          <p:cNvSpPr/>
          <p:nvPr/>
        </p:nvSpPr>
        <p:spPr>
          <a:xfrm>
            <a:off x="1143000" y="2162175"/>
            <a:ext cx="16002000" cy="3886200"/>
          </a:xfrm>
          <a:prstGeom prst="roundRect">
            <a:avLst>
              <a:gd name="adj" fmla="val 3431"/>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9" name="Shape 7"/>
          <p:cNvSpPr/>
          <p:nvPr/>
        </p:nvSpPr>
        <p:spPr>
          <a:xfrm>
            <a:off x="1152525" y="2171700"/>
            <a:ext cx="15982950" cy="504825"/>
          </a:xfrm>
          <a:prstGeom prst="rect">
            <a:avLst/>
          </a:prstGeom>
          <a:solidFill>
            <a:srgbClr val="1A1814"/>
          </a:solidFill>
          <a:ln/>
        </p:spPr>
      </p:sp>
      <p:sp>
        <p:nvSpPr>
          <p:cNvPr id="10" name="Text 8"/>
          <p:cNvSpPr/>
          <p:nvPr/>
        </p:nvSpPr>
        <p:spPr>
          <a:xfrm>
            <a:off x="1381125" y="2343150"/>
            <a:ext cx="2886733" cy="200025"/>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F6F3EB"/>
                </a:solidFill>
                <a:latin typeface="Libre Franklin" pitchFamily="34" charset="0"/>
                <a:ea typeface="Libre Franklin" pitchFamily="34" charset="-122"/>
                <a:cs typeface="Libre Franklin" pitchFamily="34" charset="-120"/>
              </a:rPr>
              <a:t>Model</a:t>
            </a:r>
            <a:endParaRPr lang="en-US" sz="1050" dirty="0"/>
          </a:p>
        </p:txBody>
      </p:sp>
      <p:sp>
        <p:nvSpPr>
          <p:cNvPr id="11" name="Text 9"/>
          <p:cNvSpPr/>
          <p:nvPr/>
        </p:nvSpPr>
        <p:spPr>
          <a:xfrm>
            <a:off x="4475262" y="2343150"/>
            <a:ext cx="1845469"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Params</a:t>
            </a:r>
            <a:endParaRPr lang="en-US" sz="1050" dirty="0"/>
          </a:p>
        </p:txBody>
      </p:sp>
      <p:sp>
        <p:nvSpPr>
          <p:cNvPr id="12" name="Text 10"/>
          <p:cNvSpPr/>
          <p:nvPr/>
        </p:nvSpPr>
        <p:spPr>
          <a:xfrm>
            <a:off x="6473130" y="2343150"/>
            <a:ext cx="1595735"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Res</a:t>
            </a:r>
            <a:endParaRPr lang="en-US" sz="1050" dirty="0"/>
          </a:p>
        </p:txBody>
      </p:sp>
      <p:sp>
        <p:nvSpPr>
          <p:cNvPr id="13" name="Text 11"/>
          <p:cNvSpPr/>
          <p:nvPr/>
        </p:nvSpPr>
        <p:spPr>
          <a:xfrm>
            <a:off x="8221266" y="2343150"/>
            <a:ext cx="1595735"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img/s</a:t>
            </a:r>
            <a:endParaRPr lang="en-US" sz="1050" dirty="0"/>
          </a:p>
        </p:txBody>
      </p:sp>
      <p:sp>
        <p:nvSpPr>
          <p:cNvPr id="14" name="Text 12"/>
          <p:cNvSpPr/>
          <p:nvPr/>
        </p:nvSpPr>
        <p:spPr>
          <a:xfrm>
            <a:off x="9969401" y="2343150"/>
            <a:ext cx="2095202"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Peak VRAM</a:t>
            </a:r>
            <a:endParaRPr lang="en-US" sz="1050" dirty="0"/>
          </a:p>
        </p:txBody>
      </p:sp>
      <p:sp>
        <p:nvSpPr>
          <p:cNvPr id="15" name="Text 13"/>
          <p:cNvSpPr/>
          <p:nvPr/>
        </p:nvSpPr>
        <p:spPr>
          <a:xfrm>
            <a:off x="12217003" y="2343150"/>
            <a:ext cx="2344936"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1 epoch</a:t>
            </a:r>
            <a:endParaRPr lang="en-US" sz="1050" dirty="0"/>
          </a:p>
        </p:txBody>
      </p:sp>
      <p:sp>
        <p:nvSpPr>
          <p:cNvPr id="16" name="Text 14"/>
          <p:cNvSpPr/>
          <p:nvPr/>
        </p:nvSpPr>
        <p:spPr>
          <a:xfrm>
            <a:off x="14714339" y="2343150"/>
            <a:ext cx="2344936" cy="200025"/>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F6F3EB"/>
                </a:solidFill>
                <a:latin typeface="Libre Franklin" pitchFamily="34" charset="0"/>
                <a:ea typeface="Libre Franklin" pitchFamily="34" charset="-122"/>
                <a:cs typeface="Libre Franklin" pitchFamily="34" charset="-120"/>
              </a:rPr>
              <a:t>50 epochs</a:t>
            </a:r>
            <a:endParaRPr lang="en-US" sz="1050" dirty="0"/>
          </a:p>
        </p:txBody>
      </p:sp>
      <p:sp>
        <p:nvSpPr>
          <p:cNvPr id="17" name="Shape 15"/>
          <p:cNvSpPr/>
          <p:nvPr/>
        </p:nvSpPr>
        <p:spPr>
          <a:xfrm>
            <a:off x="1152525" y="2676525"/>
            <a:ext cx="15982950" cy="514350"/>
          </a:xfrm>
          <a:prstGeom prst="rect">
            <a:avLst/>
          </a:prstGeom>
          <a:solidFill>
            <a:srgbClr val="ECF6F1"/>
          </a:solidFill>
          <a:ln/>
        </p:spPr>
      </p:sp>
      <p:sp>
        <p:nvSpPr>
          <p:cNvPr id="18" name="Shape 16"/>
          <p:cNvSpPr/>
          <p:nvPr/>
        </p:nvSpPr>
        <p:spPr>
          <a:xfrm>
            <a:off x="1152525" y="3181350"/>
            <a:ext cx="15982950" cy="9525"/>
          </a:xfrm>
          <a:prstGeom prst="rect">
            <a:avLst/>
          </a:prstGeom>
          <a:solidFill>
            <a:srgbClr val="ECE6D9"/>
          </a:solidFill>
          <a:ln/>
        </p:spPr>
      </p:sp>
      <p:sp>
        <p:nvSpPr>
          <p:cNvPr id="19" name="Text 17"/>
          <p:cNvSpPr/>
          <p:nvPr/>
        </p:nvSpPr>
        <p:spPr>
          <a:xfrm>
            <a:off x="1381125" y="2828925"/>
            <a:ext cx="2886733" cy="238125"/>
          </a:xfrm>
          <a:prstGeom prst="rect">
            <a:avLst/>
          </a:prstGeom>
          <a:noFill/>
          <a:ln/>
        </p:spPr>
        <p:txBody>
          <a:bodyPr wrap="square" lIns="25400" tIns="25400" rIns="25400" bIns="25400" rtlCol="0" anchor="t">
            <a:normAutofit/>
          </a:bodyPr>
          <a:lstStyle/>
          <a:p>
            <a:pPr algn="l" indent="0" marL="0">
              <a:buNone/>
            </a:pPr>
            <a:r>
              <a:rPr lang="en-US" sz="1575" b="1" dirty="0">
                <a:solidFill>
                  <a:srgbClr val="0F7A57"/>
                </a:solidFill>
                <a:latin typeface="Newsreader" pitchFamily="34" charset="0"/>
                <a:ea typeface="Newsreader" pitchFamily="34" charset="-122"/>
                <a:cs typeface="Newsreader" pitchFamily="34" charset="-120"/>
              </a:rPr>
              <a:t>yolo26-s </a:t>
            </a:r>
            <a:pPr algn="l" indent="0" marL="0">
              <a:buNone/>
            </a:pPr>
            <a:r>
              <a:rPr lang="en-US" sz="900" b="1" dirty="0">
                <a:solidFill>
                  <a:srgbClr val="FFFFFF"/>
                </a:solidFill>
                <a:highlight>
                  <a:srgbClr val="18936A"/>
                </a:highlight>
                <a:latin typeface="Libre Franklin" pitchFamily="34" charset="0"/>
                <a:ea typeface="Libre Franklin" pitchFamily="34" charset="-122"/>
                <a:cs typeface="Libre Franklin" pitchFamily="34" charset="-120"/>
              </a:rPr>
              <a:t>fastest</a:t>
            </a:r>
            <a:endParaRPr lang="en-US" sz="1575" dirty="0"/>
          </a:p>
        </p:txBody>
      </p:sp>
      <p:sp>
        <p:nvSpPr>
          <p:cNvPr id="20" name="Text 18"/>
          <p:cNvSpPr/>
          <p:nvPr/>
        </p:nvSpPr>
        <p:spPr>
          <a:xfrm>
            <a:off x="4475262" y="282892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10.0 M</a:t>
            </a:r>
            <a:endParaRPr lang="en-US" sz="1575" dirty="0"/>
          </a:p>
        </p:txBody>
      </p:sp>
      <p:sp>
        <p:nvSpPr>
          <p:cNvPr id="21" name="Text 19"/>
          <p:cNvSpPr/>
          <p:nvPr/>
        </p:nvSpPr>
        <p:spPr>
          <a:xfrm>
            <a:off x="6473130" y="28289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640</a:t>
            </a:r>
            <a:endParaRPr lang="en-US" sz="1575" dirty="0"/>
          </a:p>
        </p:txBody>
      </p:sp>
      <p:sp>
        <p:nvSpPr>
          <p:cNvPr id="22" name="Text 20"/>
          <p:cNvSpPr/>
          <p:nvPr/>
        </p:nvSpPr>
        <p:spPr>
          <a:xfrm>
            <a:off x="8221266" y="2828925"/>
            <a:ext cx="1595735" cy="238125"/>
          </a:xfrm>
          <a:prstGeom prst="rect">
            <a:avLst/>
          </a:prstGeom>
          <a:noFill/>
          <a:ln/>
        </p:spPr>
        <p:txBody>
          <a:bodyPr wrap="square" lIns="25400" tIns="25400" rIns="25400" bIns="25400" rtlCol="0" anchor="t">
            <a:normAutofit/>
          </a:bodyPr>
          <a:lstStyle/>
          <a:p>
            <a:pPr algn="ctr" indent="0" marL="0">
              <a:buNone/>
            </a:pPr>
            <a:r>
              <a:rPr lang="en-US" sz="1575" b="1" dirty="0">
                <a:solidFill>
                  <a:srgbClr val="0F7A57"/>
                </a:solidFill>
                <a:latin typeface="Newsreader" pitchFamily="34" charset="0"/>
                <a:ea typeface="Newsreader" pitchFamily="34" charset="-122"/>
                <a:cs typeface="Newsreader" pitchFamily="34" charset="-120"/>
              </a:rPr>
              <a:t>32.67</a:t>
            </a:r>
            <a:endParaRPr lang="en-US" sz="1575" dirty="0"/>
          </a:p>
        </p:txBody>
      </p:sp>
      <p:sp>
        <p:nvSpPr>
          <p:cNvPr id="23" name="Text 21"/>
          <p:cNvSpPr/>
          <p:nvPr/>
        </p:nvSpPr>
        <p:spPr>
          <a:xfrm>
            <a:off x="9969401" y="282892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9.13 GB</a:t>
            </a:r>
            <a:endParaRPr lang="en-US" sz="1575" dirty="0"/>
          </a:p>
        </p:txBody>
      </p:sp>
      <p:sp>
        <p:nvSpPr>
          <p:cNvPr id="24" name="Text 22"/>
          <p:cNvSpPr/>
          <p:nvPr/>
        </p:nvSpPr>
        <p:spPr>
          <a:xfrm>
            <a:off x="12217003" y="2828925"/>
            <a:ext cx="2344936" cy="238125"/>
          </a:xfrm>
          <a:prstGeom prst="rect">
            <a:avLst/>
          </a:prstGeom>
          <a:noFill/>
          <a:ln/>
        </p:spPr>
        <p:txBody>
          <a:bodyPr wrap="square" lIns="25400" tIns="25400" rIns="25400" bIns="25400" rtlCol="0" anchor="t">
            <a:normAutofit/>
          </a:bodyPr>
          <a:lstStyle/>
          <a:p>
            <a:pPr algn="ctr" indent="0" marL="0">
              <a:buNone/>
            </a:pPr>
            <a:r>
              <a:rPr lang="en-US" sz="1575" b="1" dirty="0">
                <a:solidFill>
                  <a:srgbClr val="1A1814"/>
                </a:solidFill>
                <a:latin typeface="Newsreader" pitchFamily="34" charset="0"/>
                <a:ea typeface="Newsreader" pitchFamily="34" charset="-122"/>
                <a:cs typeface="Newsreader" pitchFamily="34" charset="-120"/>
              </a:rPr>
              <a:t>9.0 min</a:t>
            </a:r>
            <a:endParaRPr lang="en-US" sz="1575" dirty="0"/>
          </a:p>
        </p:txBody>
      </p:sp>
      <p:sp>
        <p:nvSpPr>
          <p:cNvPr id="25" name="Text 23"/>
          <p:cNvSpPr/>
          <p:nvPr/>
        </p:nvSpPr>
        <p:spPr>
          <a:xfrm>
            <a:off x="14714339" y="28289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7.52 h</a:t>
            </a:r>
            <a:endParaRPr lang="en-US" sz="1575" dirty="0"/>
          </a:p>
        </p:txBody>
      </p:sp>
      <p:sp>
        <p:nvSpPr>
          <p:cNvPr id="26" name="Shape 24"/>
          <p:cNvSpPr/>
          <p:nvPr/>
        </p:nvSpPr>
        <p:spPr>
          <a:xfrm>
            <a:off x="1152525" y="3657600"/>
            <a:ext cx="15982950" cy="9525"/>
          </a:xfrm>
          <a:prstGeom prst="rect">
            <a:avLst/>
          </a:prstGeom>
          <a:solidFill>
            <a:srgbClr val="ECE6D9"/>
          </a:solidFill>
          <a:ln/>
        </p:spPr>
      </p:sp>
      <p:sp>
        <p:nvSpPr>
          <p:cNvPr id="27" name="Text 25"/>
          <p:cNvSpPr/>
          <p:nvPr/>
        </p:nvSpPr>
        <p:spPr>
          <a:xfrm>
            <a:off x="1381125" y="332422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yolo26-s</a:t>
            </a:r>
            <a:endParaRPr lang="en-US" sz="1575" dirty="0"/>
          </a:p>
        </p:txBody>
      </p:sp>
      <p:sp>
        <p:nvSpPr>
          <p:cNvPr id="28" name="Text 26"/>
          <p:cNvSpPr/>
          <p:nvPr/>
        </p:nvSpPr>
        <p:spPr>
          <a:xfrm>
            <a:off x="4475262" y="332422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10.0 M</a:t>
            </a:r>
            <a:endParaRPr lang="en-US" sz="1575" dirty="0"/>
          </a:p>
        </p:txBody>
      </p:sp>
      <p:sp>
        <p:nvSpPr>
          <p:cNvPr id="29" name="Text 27"/>
          <p:cNvSpPr/>
          <p:nvPr/>
        </p:nvSpPr>
        <p:spPr>
          <a:xfrm>
            <a:off x="6473130" y="33242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1024</a:t>
            </a:r>
            <a:endParaRPr lang="en-US" sz="1575" dirty="0"/>
          </a:p>
        </p:txBody>
      </p:sp>
      <p:sp>
        <p:nvSpPr>
          <p:cNvPr id="30" name="Text 28"/>
          <p:cNvSpPr/>
          <p:nvPr/>
        </p:nvSpPr>
        <p:spPr>
          <a:xfrm>
            <a:off x="8221266" y="33242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26.09</a:t>
            </a:r>
            <a:endParaRPr lang="en-US" sz="1575" dirty="0"/>
          </a:p>
        </p:txBody>
      </p:sp>
      <p:sp>
        <p:nvSpPr>
          <p:cNvPr id="31" name="Text 29"/>
          <p:cNvSpPr/>
          <p:nvPr/>
        </p:nvSpPr>
        <p:spPr>
          <a:xfrm>
            <a:off x="9969401" y="332422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9.64 GB</a:t>
            </a:r>
            <a:endParaRPr lang="en-US" sz="1575" dirty="0"/>
          </a:p>
        </p:txBody>
      </p:sp>
      <p:sp>
        <p:nvSpPr>
          <p:cNvPr id="32" name="Text 30"/>
          <p:cNvSpPr/>
          <p:nvPr/>
        </p:nvSpPr>
        <p:spPr>
          <a:xfrm>
            <a:off x="12217003" y="33242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11.3 min</a:t>
            </a:r>
            <a:endParaRPr lang="en-US" sz="1575" dirty="0"/>
          </a:p>
        </p:txBody>
      </p:sp>
      <p:sp>
        <p:nvSpPr>
          <p:cNvPr id="33" name="Text 31"/>
          <p:cNvSpPr/>
          <p:nvPr/>
        </p:nvSpPr>
        <p:spPr>
          <a:xfrm>
            <a:off x="14714339" y="33242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9.41 h</a:t>
            </a:r>
            <a:endParaRPr lang="en-US" sz="1575" dirty="0"/>
          </a:p>
        </p:txBody>
      </p:sp>
      <p:sp>
        <p:nvSpPr>
          <p:cNvPr id="34" name="Shape 32"/>
          <p:cNvSpPr/>
          <p:nvPr/>
        </p:nvSpPr>
        <p:spPr>
          <a:xfrm>
            <a:off x="1152525" y="3667125"/>
            <a:ext cx="15982950" cy="476250"/>
          </a:xfrm>
          <a:prstGeom prst="rect">
            <a:avLst/>
          </a:prstGeom>
          <a:solidFill>
            <a:srgbClr val="FBFAF6"/>
          </a:solidFill>
          <a:ln/>
        </p:spPr>
      </p:sp>
      <p:sp>
        <p:nvSpPr>
          <p:cNvPr id="35" name="Shape 33"/>
          <p:cNvSpPr/>
          <p:nvPr/>
        </p:nvSpPr>
        <p:spPr>
          <a:xfrm>
            <a:off x="1152525" y="4133850"/>
            <a:ext cx="15982950" cy="9525"/>
          </a:xfrm>
          <a:prstGeom prst="rect">
            <a:avLst/>
          </a:prstGeom>
          <a:solidFill>
            <a:srgbClr val="ECE6D9"/>
          </a:solidFill>
          <a:ln/>
        </p:spPr>
      </p:sp>
      <p:sp>
        <p:nvSpPr>
          <p:cNvPr id="36" name="Text 34"/>
          <p:cNvSpPr/>
          <p:nvPr/>
        </p:nvSpPr>
        <p:spPr>
          <a:xfrm>
            <a:off x="1381125" y="380047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yolo26-l</a:t>
            </a:r>
            <a:endParaRPr lang="en-US" sz="1575" dirty="0"/>
          </a:p>
        </p:txBody>
      </p:sp>
      <p:sp>
        <p:nvSpPr>
          <p:cNvPr id="37" name="Text 35"/>
          <p:cNvSpPr/>
          <p:nvPr/>
        </p:nvSpPr>
        <p:spPr>
          <a:xfrm>
            <a:off x="4475262" y="380047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26.3 M</a:t>
            </a:r>
            <a:endParaRPr lang="en-US" sz="1575" dirty="0"/>
          </a:p>
        </p:txBody>
      </p:sp>
      <p:sp>
        <p:nvSpPr>
          <p:cNvPr id="38" name="Text 36"/>
          <p:cNvSpPr/>
          <p:nvPr/>
        </p:nvSpPr>
        <p:spPr>
          <a:xfrm>
            <a:off x="6473130" y="38004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640</a:t>
            </a:r>
            <a:endParaRPr lang="en-US" sz="1575" dirty="0"/>
          </a:p>
        </p:txBody>
      </p:sp>
      <p:sp>
        <p:nvSpPr>
          <p:cNvPr id="39" name="Text 37"/>
          <p:cNvSpPr/>
          <p:nvPr/>
        </p:nvSpPr>
        <p:spPr>
          <a:xfrm>
            <a:off x="8221266" y="38004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27.97</a:t>
            </a:r>
            <a:endParaRPr lang="en-US" sz="1575" dirty="0"/>
          </a:p>
        </p:txBody>
      </p:sp>
      <p:sp>
        <p:nvSpPr>
          <p:cNvPr id="40" name="Text 38"/>
          <p:cNvSpPr/>
          <p:nvPr/>
        </p:nvSpPr>
        <p:spPr>
          <a:xfrm>
            <a:off x="9969401" y="380047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8.87 GB</a:t>
            </a:r>
            <a:endParaRPr lang="en-US" sz="1575" dirty="0"/>
          </a:p>
        </p:txBody>
      </p:sp>
      <p:sp>
        <p:nvSpPr>
          <p:cNvPr id="41" name="Text 39"/>
          <p:cNvSpPr/>
          <p:nvPr/>
        </p:nvSpPr>
        <p:spPr>
          <a:xfrm>
            <a:off x="12217003" y="38004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10.5 min</a:t>
            </a:r>
            <a:endParaRPr lang="en-US" sz="1575" dirty="0"/>
          </a:p>
        </p:txBody>
      </p:sp>
      <p:sp>
        <p:nvSpPr>
          <p:cNvPr id="42" name="Text 40"/>
          <p:cNvSpPr/>
          <p:nvPr/>
        </p:nvSpPr>
        <p:spPr>
          <a:xfrm>
            <a:off x="14714339" y="38004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8.78 h</a:t>
            </a:r>
            <a:endParaRPr lang="en-US" sz="1575" dirty="0"/>
          </a:p>
        </p:txBody>
      </p:sp>
      <p:sp>
        <p:nvSpPr>
          <p:cNvPr id="43" name="Shape 41"/>
          <p:cNvSpPr/>
          <p:nvPr/>
        </p:nvSpPr>
        <p:spPr>
          <a:xfrm>
            <a:off x="1152525" y="4610100"/>
            <a:ext cx="15982950" cy="9525"/>
          </a:xfrm>
          <a:prstGeom prst="rect">
            <a:avLst/>
          </a:prstGeom>
          <a:solidFill>
            <a:srgbClr val="ECE6D9"/>
          </a:solidFill>
          <a:ln/>
        </p:spPr>
      </p:sp>
      <p:sp>
        <p:nvSpPr>
          <p:cNvPr id="44" name="Text 42"/>
          <p:cNvSpPr/>
          <p:nvPr/>
        </p:nvSpPr>
        <p:spPr>
          <a:xfrm>
            <a:off x="1381125" y="427672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yolo26-l</a:t>
            </a:r>
            <a:endParaRPr lang="en-US" sz="1575" dirty="0"/>
          </a:p>
        </p:txBody>
      </p:sp>
      <p:sp>
        <p:nvSpPr>
          <p:cNvPr id="45" name="Text 43"/>
          <p:cNvSpPr/>
          <p:nvPr/>
        </p:nvSpPr>
        <p:spPr>
          <a:xfrm>
            <a:off x="4475262" y="427672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26.3 M</a:t>
            </a:r>
            <a:endParaRPr lang="en-US" sz="1575" dirty="0"/>
          </a:p>
        </p:txBody>
      </p:sp>
      <p:sp>
        <p:nvSpPr>
          <p:cNvPr id="46" name="Text 44"/>
          <p:cNvSpPr/>
          <p:nvPr/>
        </p:nvSpPr>
        <p:spPr>
          <a:xfrm>
            <a:off x="6473130" y="42767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1024</a:t>
            </a:r>
            <a:endParaRPr lang="en-US" sz="1575" dirty="0"/>
          </a:p>
        </p:txBody>
      </p:sp>
      <p:sp>
        <p:nvSpPr>
          <p:cNvPr id="47" name="Text 45"/>
          <p:cNvSpPr/>
          <p:nvPr/>
        </p:nvSpPr>
        <p:spPr>
          <a:xfrm>
            <a:off x="8221266" y="42767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14.51</a:t>
            </a:r>
            <a:endParaRPr lang="en-US" sz="1575" dirty="0"/>
          </a:p>
        </p:txBody>
      </p:sp>
      <p:sp>
        <p:nvSpPr>
          <p:cNvPr id="48" name="Text 46"/>
          <p:cNvSpPr/>
          <p:nvPr/>
        </p:nvSpPr>
        <p:spPr>
          <a:xfrm>
            <a:off x="9969401" y="427672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9.74 GB</a:t>
            </a:r>
            <a:endParaRPr lang="en-US" sz="1575" dirty="0"/>
          </a:p>
        </p:txBody>
      </p:sp>
      <p:sp>
        <p:nvSpPr>
          <p:cNvPr id="49" name="Text 47"/>
          <p:cNvSpPr/>
          <p:nvPr/>
        </p:nvSpPr>
        <p:spPr>
          <a:xfrm>
            <a:off x="12217003" y="42767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20.3 min</a:t>
            </a:r>
            <a:endParaRPr lang="en-US" sz="1575" dirty="0"/>
          </a:p>
        </p:txBody>
      </p:sp>
      <p:sp>
        <p:nvSpPr>
          <p:cNvPr id="50" name="Text 48"/>
          <p:cNvSpPr/>
          <p:nvPr/>
        </p:nvSpPr>
        <p:spPr>
          <a:xfrm>
            <a:off x="14714339" y="42767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16.93 h</a:t>
            </a:r>
            <a:endParaRPr lang="en-US" sz="1575" dirty="0"/>
          </a:p>
        </p:txBody>
      </p:sp>
      <p:sp>
        <p:nvSpPr>
          <p:cNvPr id="51" name="Shape 49"/>
          <p:cNvSpPr/>
          <p:nvPr/>
        </p:nvSpPr>
        <p:spPr>
          <a:xfrm>
            <a:off x="1152525" y="4619625"/>
            <a:ext cx="15982950" cy="476250"/>
          </a:xfrm>
          <a:prstGeom prst="rect">
            <a:avLst/>
          </a:prstGeom>
          <a:solidFill>
            <a:srgbClr val="FBFAF6"/>
          </a:solidFill>
          <a:ln/>
        </p:spPr>
      </p:sp>
      <p:sp>
        <p:nvSpPr>
          <p:cNvPr id="52" name="Shape 50"/>
          <p:cNvSpPr/>
          <p:nvPr/>
        </p:nvSpPr>
        <p:spPr>
          <a:xfrm>
            <a:off x="1152525" y="5086350"/>
            <a:ext cx="15982950" cy="9525"/>
          </a:xfrm>
          <a:prstGeom prst="rect">
            <a:avLst/>
          </a:prstGeom>
          <a:solidFill>
            <a:srgbClr val="ECE6D9"/>
          </a:solidFill>
          <a:ln/>
        </p:spPr>
      </p:sp>
      <p:sp>
        <p:nvSpPr>
          <p:cNvPr id="53" name="Text 51"/>
          <p:cNvSpPr/>
          <p:nvPr/>
        </p:nvSpPr>
        <p:spPr>
          <a:xfrm>
            <a:off x="1381125" y="475297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rf-detr-s</a:t>
            </a:r>
            <a:endParaRPr lang="en-US" sz="1575" dirty="0"/>
          </a:p>
        </p:txBody>
      </p:sp>
      <p:sp>
        <p:nvSpPr>
          <p:cNvPr id="54" name="Text 52"/>
          <p:cNvSpPr/>
          <p:nvPr/>
        </p:nvSpPr>
        <p:spPr>
          <a:xfrm>
            <a:off x="4475262" y="475297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32.1 M</a:t>
            </a:r>
            <a:endParaRPr lang="en-US" sz="1575" dirty="0"/>
          </a:p>
        </p:txBody>
      </p:sp>
      <p:sp>
        <p:nvSpPr>
          <p:cNvPr id="55" name="Text 53"/>
          <p:cNvSpPr/>
          <p:nvPr/>
        </p:nvSpPr>
        <p:spPr>
          <a:xfrm>
            <a:off x="6473130" y="47529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640</a:t>
            </a:r>
            <a:endParaRPr lang="en-US" sz="1575" dirty="0"/>
          </a:p>
        </p:txBody>
      </p:sp>
      <p:sp>
        <p:nvSpPr>
          <p:cNvPr id="56" name="Text 54"/>
          <p:cNvSpPr/>
          <p:nvPr/>
        </p:nvSpPr>
        <p:spPr>
          <a:xfrm>
            <a:off x="8221266" y="47529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16.28</a:t>
            </a:r>
            <a:endParaRPr lang="en-US" sz="1575" dirty="0"/>
          </a:p>
        </p:txBody>
      </p:sp>
      <p:sp>
        <p:nvSpPr>
          <p:cNvPr id="57" name="Text 55"/>
          <p:cNvSpPr/>
          <p:nvPr/>
        </p:nvSpPr>
        <p:spPr>
          <a:xfrm>
            <a:off x="9969401" y="475297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12.17 GB</a:t>
            </a:r>
            <a:endParaRPr lang="en-US" sz="1575" dirty="0"/>
          </a:p>
        </p:txBody>
      </p:sp>
      <p:sp>
        <p:nvSpPr>
          <p:cNvPr id="58" name="Text 56"/>
          <p:cNvSpPr/>
          <p:nvPr/>
        </p:nvSpPr>
        <p:spPr>
          <a:xfrm>
            <a:off x="12217003" y="47529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18.1 min</a:t>
            </a:r>
            <a:endParaRPr lang="en-US" sz="1575" dirty="0"/>
          </a:p>
        </p:txBody>
      </p:sp>
      <p:sp>
        <p:nvSpPr>
          <p:cNvPr id="59" name="Text 57"/>
          <p:cNvSpPr/>
          <p:nvPr/>
        </p:nvSpPr>
        <p:spPr>
          <a:xfrm>
            <a:off x="14714339" y="47529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15.09 h</a:t>
            </a:r>
            <a:endParaRPr lang="en-US" sz="1575" dirty="0"/>
          </a:p>
        </p:txBody>
      </p:sp>
      <p:sp>
        <p:nvSpPr>
          <p:cNvPr id="60" name="Shape 58"/>
          <p:cNvSpPr/>
          <p:nvPr/>
        </p:nvSpPr>
        <p:spPr>
          <a:xfrm>
            <a:off x="1152525" y="5562600"/>
            <a:ext cx="15982950" cy="9525"/>
          </a:xfrm>
          <a:prstGeom prst="rect">
            <a:avLst/>
          </a:prstGeom>
          <a:solidFill>
            <a:srgbClr val="ECE6D9"/>
          </a:solidFill>
          <a:ln/>
        </p:spPr>
      </p:sp>
      <p:sp>
        <p:nvSpPr>
          <p:cNvPr id="61" name="Text 59"/>
          <p:cNvSpPr/>
          <p:nvPr/>
        </p:nvSpPr>
        <p:spPr>
          <a:xfrm>
            <a:off x="1381125" y="522922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rf-detr-l</a:t>
            </a:r>
            <a:endParaRPr lang="en-US" sz="1575" dirty="0"/>
          </a:p>
        </p:txBody>
      </p:sp>
      <p:sp>
        <p:nvSpPr>
          <p:cNvPr id="62" name="Text 60"/>
          <p:cNvSpPr/>
          <p:nvPr/>
        </p:nvSpPr>
        <p:spPr>
          <a:xfrm>
            <a:off x="4475262" y="522922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33.9 M</a:t>
            </a:r>
            <a:endParaRPr lang="en-US" sz="1575" dirty="0"/>
          </a:p>
        </p:txBody>
      </p:sp>
      <p:sp>
        <p:nvSpPr>
          <p:cNvPr id="63" name="Text 61"/>
          <p:cNvSpPr/>
          <p:nvPr/>
        </p:nvSpPr>
        <p:spPr>
          <a:xfrm>
            <a:off x="6473130" y="52292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640</a:t>
            </a:r>
            <a:endParaRPr lang="en-US" sz="1575" dirty="0"/>
          </a:p>
        </p:txBody>
      </p:sp>
      <p:sp>
        <p:nvSpPr>
          <p:cNvPr id="64" name="Text 62"/>
          <p:cNvSpPr/>
          <p:nvPr/>
        </p:nvSpPr>
        <p:spPr>
          <a:xfrm>
            <a:off x="8221266" y="522922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15.02</a:t>
            </a:r>
            <a:endParaRPr lang="en-US" sz="1575" dirty="0"/>
          </a:p>
        </p:txBody>
      </p:sp>
      <p:sp>
        <p:nvSpPr>
          <p:cNvPr id="65" name="Text 63"/>
          <p:cNvSpPr/>
          <p:nvPr/>
        </p:nvSpPr>
        <p:spPr>
          <a:xfrm>
            <a:off x="9969401" y="522922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11.29 GB</a:t>
            </a:r>
            <a:endParaRPr lang="en-US" sz="1575" dirty="0"/>
          </a:p>
        </p:txBody>
      </p:sp>
      <p:sp>
        <p:nvSpPr>
          <p:cNvPr id="66" name="Text 64"/>
          <p:cNvSpPr/>
          <p:nvPr/>
        </p:nvSpPr>
        <p:spPr>
          <a:xfrm>
            <a:off x="12217003" y="52292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19.6 min</a:t>
            </a:r>
            <a:endParaRPr lang="en-US" sz="1575" dirty="0"/>
          </a:p>
        </p:txBody>
      </p:sp>
      <p:sp>
        <p:nvSpPr>
          <p:cNvPr id="67" name="Text 65"/>
          <p:cNvSpPr/>
          <p:nvPr/>
        </p:nvSpPr>
        <p:spPr>
          <a:xfrm>
            <a:off x="14714339" y="522922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16.35 h</a:t>
            </a:r>
            <a:endParaRPr lang="en-US" sz="1575" dirty="0"/>
          </a:p>
        </p:txBody>
      </p:sp>
      <p:sp>
        <p:nvSpPr>
          <p:cNvPr id="68" name="Shape 66"/>
          <p:cNvSpPr/>
          <p:nvPr/>
        </p:nvSpPr>
        <p:spPr>
          <a:xfrm>
            <a:off x="1152525" y="5572125"/>
            <a:ext cx="15982950" cy="466725"/>
          </a:xfrm>
          <a:prstGeom prst="rect">
            <a:avLst/>
          </a:prstGeom>
          <a:solidFill>
            <a:srgbClr val="FBFAF6"/>
          </a:solidFill>
          <a:ln/>
        </p:spPr>
      </p:sp>
      <p:sp>
        <p:nvSpPr>
          <p:cNvPr id="69" name="Text 67"/>
          <p:cNvSpPr/>
          <p:nvPr/>
        </p:nvSpPr>
        <p:spPr>
          <a:xfrm>
            <a:off x="1381125" y="5705475"/>
            <a:ext cx="2886733" cy="238125"/>
          </a:xfrm>
          <a:prstGeom prst="rect">
            <a:avLst/>
          </a:prstGeom>
          <a:noFill/>
          <a:ln/>
        </p:spPr>
        <p:txBody>
          <a:bodyPr wrap="square" lIns="25400" tIns="25400" rIns="25400" bIns="25400" rtlCol="0" anchor="t">
            <a:normAutofit/>
          </a:bodyPr>
          <a:lstStyle/>
          <a:p>
            <a:pPr algn="l" indent="0" marL="0">
              <a:buNone/>
            </a:pPr>
            <a:r>
              <a:rPr lang="en-US" sz="1575" dirty="0">
                <a:solidFill>
                  <a:srgbClr val="1A1814"/>
                </a:solidFill>
                <a:latin typeface="Newsreader" pitchFamily="34" charset="0"/>
                <a:ea typeface="Newsreader" pitchFamily="34" charset="-122"/>
                <a:cs typeface="Newsreader" pitchFamily="34" charset="-120"/>
              </a:rPr>
              <a:t>rf-detr-l </a:t>
            </a:r>
            <a:pPr algn="l" indent="0" marL="0">
              <a:buNone/>
            </a:pPr>
            <a:r>
              <a:rPr lang="en-US" sz="900" b="1" dirty="0">
                <a:solidFill>
                  <a:srgbClr val="FFFFFF"/>
                </a:solidFill>
                <a:highlight>
                  <a:srgbClr val="8A8373"/>
                </a:highlight>
                <a:latin typeface="Libre Franklin" pitchFamily="34" charset="0"/>
                <a:ea typeface="Libre Franklin" pitchFamily="34" charset="-122"/>
                <a:cs typeface="Libre Franklin" pitchFamily="34" charset="-120"/>
              </a:rPr>
              <a:t>slowest</a:t>
            </a:r>
            <a:endParaRPr lang="en-US" sz="1575" dirty="0"/>
          </a:p>
        </p:txBody>
      </p:sp>
      <p:sp>
        <p:nvSpPr>
          <p:cNvPr id="70" name="Text 68"/>
          <p:cNvSpPr/>
          <p:nvPr/>
        </p:nvSpPr>
        <p:spPr>
          <a:xfrm>
            <a:off x="4475262" y="5705475"/>
            <a:ext cx="1845469"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33.9 M</a:t>
            </a:r>
            <a:endParaRPr lang="en-US" sz="1575" dirty="0"/>
          </a:p>
        </p:txBody>
      </p:sp>
      <p:sp>
        <p:nvSpPr>
          <p:cNvPr id="71" name="Text 69"/>
          <p:cNvSpPr/>
          <p:nvPr/>
        </p:nvSpPr>
        <p:spPr>
          <a:xfrm>
            <a:off x="6473130" y="57054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1024</a:t>
            </a:r>
            <a:endParaRPr lang="en-US" sz="1575" dirty="0"/>
          </a:p>
        </p:txBody>
      </p:sp>
      <p:sp>
        <p:nvSpPr>
          <p:cNvPr id="72" name="Text 70"/>
          <p:cNvSpPr/>
          <p:nvPr/>
        </p:nvSpPr>
        <p:spPr>
          <a:xfrm>
            <a:off x="8221266" y="5705475"/>
            <a:ext cx="1595735"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8.17</a:t>
            </a:r>
            <a:endParaRPr lang="en-US" sz="1575" dirty="0"/>
          </a:p>
        </p:txBody>
      </p:sp>
      <p:sp>
        <p:nvSpPr>
          <p:cNvPr id="73" name="Text 71"/>
          <p:cNvSpPr/>
          <p:nvPr/>
        </p:nvSpPr>
        <p:spPr>
          <a:xfrm>
            <a:off x="9969401" y="5705475"/>
            <a:ext cx="2095202"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8.36 GB</a:t>
            </a:r>
            <a:endParaRPr lang="en-US" sz="1575" dirty="0"/>
          </a:p>
        </p:txBody>
      </p:sp>
      <p:sp>
        <p:nvSpPr>
          <p:cNvPr id="74" name="Text 72"/>
          <p:cNvSpPr/>
          <p:nvPr/>
        </p:nvSpPr>
        <p:spPr>
          <a:xfrm>
            <a:off x="12217003" y="57054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1A1814"/>
                </a:solidFill>
                <a:latin typeface="Newsreader" pitchFamily="34" charset="0"/>
                <a:ea typeface="Newsreader" pitchFamily="34" charset="-122"/>
                <a:cs typeface="Newsreader" pitchFamily="34" charset="-120"/>
              </a:rPr>
              <a:t>36.1 min</a:t>
            </a:r>
            <a:endParaRPr lang="en-US" sz="1575" dirty="0"/>
          </a:p>
        </p:txBody>
      </p:sp>
      <p:sp>
        <p:nvSpPr>
          <p:cNvPr id="75" name="Text 73"/>
          <p:cNvSpPr/>
          <p:nvPr/>
        </p:nvSpPr>
        <p:spPr>
          <a:xfrm>
            <a:off x="14714339" y="5705475"/>
            <a:ext cx="2344936" cy="238125"/>
          </a:xfrm>
          <a:prstGeom prst="rect">
            <a:avLst/>
          </a:prstGeom>
          <a:noFill/>
          <a:ln/>
        </p:spPr>
        <p:txBody>
          <a:bodyPr wrap="square" lIns="25400" tIns="25400" rIns="25400" bIns="25400" rtlCol="0" anchor="t">
            <a:normAutofit/>
          </a:bodyPr>
          <a:lstStyle/>
          <a:p>
            <a:pPr algn="ctr" indent="0" marL="0">
              <a:buNone/>
            </a:pPr>
            <a:r>
              <a:rPr lang="en-US" sz="1575" dirty="0">
                <a:solidFill>
                  <a:srgbClr val="8A8373"/>
                </a:solidFill>
                <a:latin typeface="Newsreader" pitchFamily="34" charset="0"/>
                <a:ea typeface="Newsreader" pitchFamily="34" charset="-122"/>
                <a:cs typeface="Newsreader" pitchFamily="34" charset="-120"/>
              </a:rPr>
              <a:t>30.06 h</a:t>
            </a:r>
            <a:endParaRPr lang="en-US" sz="1575" dirty="0"/>
          </a:p>
        </p:txBody>
      </p:sp>
      <p:sp>
        <p:nvSpPr>
          <p:cNvPr id="76" name="Text 74"/>
          <p:cNvSpPr/>
          <p:nvPr/>
        </p:nvSpPr>
        <p:spPr>
          <a:xfrm>
            <a:off x="1143000" y="6296025"/>
            <a:ext cx="17602200" cy="318120"/>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0F7A57"/>
                </a:solidFill>
                <a:latin typeface="Newsreader" pitchFamily="34" charset="0"/>
                <a:ea typeface="Newsreader" pitchFamily="34" charset="-122"/>
                <a:cs typeface="Newsreader" pitchFamily="34" charset="-120"/>
              </a:rPr>
              <a:t>▸ </a:t>
            </a:r>
            <a:pPr algn="l" indent="0" marL="0">
              <a:lnSpc>
                <a:spcPct val="140000"/>
              </a:lnSpc>
              <a:buNone/>
            </a:pPr>
            <a:r>
              <a:rPr lang="en-US" sz="1575" dirty="0">
                <a:solidFill>
                  <a:srgbClr val="514B40"/>
                </a:solidFill>
                <a:latin typeface="Newsreader" pitchFamily="34" charset="0"/>
                <a:ea typeface="Newsreader" pitchFamily="34" charset="-122"/>
                <a:cs typeface="Newsreader" pitchFamily="34" charset="-120"/>
              </a:rPr>
              <a:t>YOLO26-s @640 is </a:t>
            </a:r>
            <a:pPr algn="l" indent="0" marL="0">
              <a:lnSpc>
                <a:spcPct val="140000"/>
              </a:lnSpc>
              <a:buNone/>
            </a:pPr>
            <a:r>
              <a:rPr lang="en-US" sz="1575" b="1" dirty="0">
                <a:solidFill>
                  <a:srgbClr val="1A1814"/>
                </a:solidFill>
                <a:latin typeface="Newsreader" pitchFamily="34" charset="0"/>
                <a:ea typeface="Newsreader" pitchFamily="34" charset="-122"/>
                <a:cs typeface="Newsreader" pitchFamily="34" charset="-120"/>
              </a:rPr>
              <a:t>~4× faster </a:t>
            </a:r>
            <a:pPr algn="l" indent="0" marL="0">
              <a:lnSpc>
                <a:spcPct val="140000"/>
              </a:lnSpc>
              <a:buNone/>
            </a:pPr>
            <a:r>
              <a:rPr lang="en-US" sz="1575" dirty="0">
                <a:solidFill>
                  <a:srgbClr val="514B40"/>
                </a:solidFill>
                <a:latin typeface="Newsreader" pitchFamily="34" charset="0"/>
                <a:ea typeface="Newsreader" pitchFamily="34" charset="-122"/>
                <a:cs typeface="Newsreader" pitchFamily="34" charset="-120"/>
              </a:rPr>
              <a:t>than RF-DETR-L @1024; going 640 → 1024 roughly </a:t>
            </a:r>
            <a:pPr algn="l" indent="0" marL="0">
              <a:lnSpc>
                <a:spcPct val="140000"/>
              </a:lnSpc>
              <a:buNone/>
            </a:pPr>
            <a:r>
              <a:rPr lang="en-US" sz="1575" b="1" dirty="0">
                <a:solidFill>
                  <a:srgbClr val="1A1814"/>
                </a:solidFill>
                <a:latin typeface="Newsreader" pitchFamily="34" charset="0"/>
                <a:ea typeface="Newsreader" pitchFamily="34" charset="-122"/>
                <a:cs typeface="Newsreader" pitchFamily="34" charset="-120"/>
              </a:rPr>
              <a:t>doubles the cost </a:t>
            </a:r>
            <a:pPr algn="l" indent="0" marL="0">
              <a:lnSpc>
                <a:spcPct val="140000"/>
              </a:lnSpc>
              <a:buNone/>
            </a:pPr>
            <a:r>
              <a:rPr lang="en-US" sz="1575" dirty="0">
                <a:solidFill>
                  <a:srgbClr val="514B40"/>
                </a:solidFill>
                <a:latin typeface="Newsreader" pitchFamily="34" charset="0"/>
                <a:ea typeface="Newsreader" pitchFamily="34" charset="-122"/>
                <a:cs typeface="Newsreader" pitchFamily="34" charset="-120"/>
              </a:rPr>
              <a:t>for every architecture.</a:t>
            </a:r>
            <a:endParaRPr lang="en-US" sz="15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297954"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13</a:t>
            </a:r>
            <a:endParaRPr lang="en-US" sz="1125" dirty="0"/>
          </a:p>
        </p:txBody>
      </p:sp>
      <p:sp>
        <p:nvSpPr>
          <p:cNvPr id="4" name="Text 2"/>
          <p:cNvSpPr/>
          <p:nvPr/>
        </p:nvSpPr>
        <p:spPr>
          <a:xfrm>
            <a:off x="1498104"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1077" y="800100"/>
            <a:ext cx="231610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DETECTOR ACCURACY</a:t>
            </a:r>
            <a:endParaRPr lang="en-US" sz="1125" dirty="0"/>
          </a:p>
        </p:txBody>
      </p:sp>
      <p:sp>
        <p:nvSpPr>
          <p:cNvPr id="6" name="Text 4"/>
          <p:cNvSpPr/>
          <p:nvPr/>
        </p:nvSpPr>
        <p:spPr>
          <a:xfrm>
            <a:off x="1143000" y="1362075"/>
            <a:ext cx="17602200"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spc="-61" kern="0" dirty="0">
                <a:solidFill>
                  <a:srgbClr val="1A1814"/>
                </a:solidFill>
                <a:latin typeface="Newsreader" pitchFamily="34" charset="0"/>
                <a:ea typeface="Newsreader" pitchFamily="34" charset="-122"/>
                <a:cs typeface="Newsreader" pitchFamily="34" charset="-120"/>
              </a:rPr>
              <a:t>Each lever adds accuracy on the last</a:t>
            </a:r>
            <a:endParaRPr lang="en-US" sz="4050" dirty="0"/>
          </a:p>
        </p:txBody>
      </p:sp>
      <p:sp>
        <p:nvSpPr>
          <p:cNvPr id="7" name="Text 5"/>
          <p:cNvSpPr/>
          <p:nvPr/>
        </p:nvSpPr>
        <p:spPr>
          <a:xfrm>
            <a:off x="1143000" y="2162175"/>
            <a:ext cx="1950861" cy="200025"/>
          </a:xfrm>
          <a:prstGeom prst="rect">
            <a:avLst/>
          </a:prstGeom>
          <a:noFill/>
          <a:ln/>
        </p:spPr>
        <p:txBody>
          <a:bodyPr wrap="square" lIns="25400" tIns="25400" rIns="25400" bIns="25400" rtlCol="0" anchor="t">
            <a:normAutofit/>
          </a:bodyPr>
          <a:lstStyle/>
          <a:p>
            <a:pPr algn="l" indent="0" marL="0">
              <a:buNone/>
            </a:pPr>
            <a:r>
              <a:rPr lang="en-US" sz="1050" b="1" spc="105" kern="0" dirty="0">
                <a:solidFill>
                  <a:srgbClr val="6E6757"/>
                </a:solidFill>
                <a:latin typeface="Libre Franklin" pitchFamily="34" charset="0"/>
                <a:ea typeface="Libre Franklin" pitchFamily="34" charset="-122"/>
                <a:cs typeface="Libre Franklin" pitchFamily="34" charset="-120"/>
              </a:rPr>
              <a:t>MAP@50 · VALIDATION</a:t>
            </a:r>
            <a:endParaRPr lang="en-US" sz="1050" dirty="0"/>
          </a:p>
        </p:txBody>
      </p:sp>
      <p:sp>
        <p:nvSpPr>
          <p:cNvPr id="8" name="Text 6"/>
          <p:cNvSpPr/>
          <p:nvPr/>
        </p:nvSpPr>
        <p:spPr>
          <a:xfrm>
            <a:off x="1143000" y="4031903"/>
            <a:ext cx="1623521"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YOLO26-s · 640</a:t>
            </a:r>
            <a:endParaRPr lang="en-US" sz="1650" dirty="0"/>
          </a:p>
        </p:txBody>
      </p:sp>
      <p:sp>
        <p:nvSpPr>
          <p:cNvPr id="9" name="Text 7"/>
          <p:cNvSpPr/>
          <p:nvPr/>
        </p:nvSpPr>
        <p:spPr>
          <a:xfrm>
            <a:off x="9517633" y="4031903"/>
            <a:ext cx="639812"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6E6757"/>
                </a:solidFill>
                <a:latin typeface="Newsreader" pitchFamily="34" charset="0"/>
                <a:ea typeface="Newsreader" pitchFamily="34" charset="-122"/>
                <a:cs typeface="Newsreader" pitchFamily="34" charset="-120"/>
              </a:rPr>
              <a:t>0.071</a:t>
            </a:r>
            <a:endParaRPr lang="en-US" sz="1650" dirty="0"/>
          </a:p>
        </p:txBody>
      </p:sp>
      <p:sp>
        <p:nvSpPr>
          <p:cNvPr id="10" name="Shape 8"/>
          <p:cNvSpPr/>
          <p:nvPr/>
        </p:nvSpPr>
        <p:spPr>
          <a:xfrm>
            <a:off x="1143000" y="4317653"/>
            <a:ext cx="8938245" cy="285750"/>
          </a:xfrm>
          <a:prstGeom prst="roundRect">
            <a:avLst>
              <a:gd name="adj" fmla="val 20000"/>
            </a:avLst>
          </a:prstGeom>
          <a:solidFill>
            <a:srgbClr val="E8E2D5"/>
          </a:solidFill>
          <a:ln/>
        </p:spPr>
      </p:sp>
      <p:sp>
        <p:nvSpPr>
          <p:cNvPr id="11" name="Shape 9"/>
          <p:cNvSpPr/>
          <p:nvPr/>
        </p:nvSpPr>
        <p:spPr>
          <a:xfrm>
            <a:off x="1143000" y="4317653"/>
            <a:ext cx="3396481" cy="285750"/>
          </a:xfrm>
          <a:prstGeom prst="roundRect">
            <a:avLst>
              <a:gd name="adj" fmla="val 20000"/>
            </a:avLst>
          </a:prstGeom>
          <a:solidFill>
            <a:srgbClr val="BEB6A2"/>
          </a:solidFill>
          <a:ln/>
        </p:spPr>
      </p:sp>
      <p:sp>
        <p:nvSpPr>
          <p:cNvPr id="12" name="Text 10"/>
          <p:cNvSpPr/>
          <p:nvPr/>
        </p:nvSpPr>
        <p:spPr>
          <a:xfrm>
            <a:off x="1143000" y="4832003"/>
            <a:ext cx="1592744"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YOLO26-l · 640</a:t>
            </a:r>
            <a:endParaRPr lang="en-US" sz="1650" dirty="0"/>
          </a:p>
        </p:txBody>
      </p:sp>
      <p:sp>
        <p:nvSpPr>
          <p:cNvPr id="13" name="Text 11"/>
          <p:cNvSpPr/>
          <p:nvPr/>
        </p:nvSpPr>
        <p:spPr>
          <a:xfrm>
            <a:off x="9517633" y="4832003"/>
            <a:ext cx="639812"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6E6757"/>
                </a:solidFill>
                <a:latin typeface="Newsreader" pitchFamily="34" charset="0"/>
                <a:ea typeface="Newsreader" pitchFamily="34" charset="-122"/>
                <a:cs typeface="Newsreader" pitchFamily="34" charset="-120"/>
              </a:rPr>
              <a:t>0.107</a:t>
            </a:r>
            <a:endParaRPr lang="en-US" sz="1650" dirty="0"/>
          </a:p>
        </p:txBody>
      </p:sp>
      <p:sp>
        <p:nvSpPr>
          <p:cNvPr id="14" name="Shape 12"/>
          <p:cNvSpPr/>
          <p:nvPr/>
        </p:nvSpPr>
        <p:spPr>
          <a:xfrm>
            <a:off x="1143000" y="5117753"/>
            <a:ext cx="8938245" cy="285750"/>
          </a:xfrm>
          <a:prstGeom prst="roundRect">
            <a:avLst>
              <a:gd name="adj" fmla="val 20000"/>
            </a:avLst>
          </a:prstGeom>
          <a:solidFill>
            <a:srgbClr val="E8E2D5"/>
          </a:solidFill>
          <a:ln/>
        </p:spPr>
      </p:sp>
      <p:sp>
        <p:nvSpPr>
          <p:cNvPr id="15" name="Shape 13"/>
          <p:cNvSpPr/>
          <p:nvPr/>
        </p:nvSpPr>
        <p:spPr>
          <a:xfrm>
            <a:off x="1143000" y="5117753"/>
            <a:ext cx="5139482" cy="285750"/>
          </a:xfrm>
          <a:prstGeom prst="roundRect">
            <a:avLst>
              <a:gd name="adj" fmla="val 20000"/>
            </a:avLst>
          </a:prstGeom>
          <a:solidFill>
            <a:srgbClr val="7FB59E"/>
          </a:solidFill>
          <a:ln/>
        </p:spPr>
      </p:sp>
      <p:sp>
        <p:nvSpPr>
          <p:cNvPr id="16" name="Text 14"/>
          <p:cNvSpPr/>
          <p:nvPr/>
        </p:nvSpPr>
        <p:spPr>
          <a:xfrm>
            <a:off x="1143000" y="5632103"/>
            <a:ext cx="1723303" cy="247650"/>
          </a:xfrm>
          <a:prstGeom prst="rect">
            <a:avLst/>
          </a:prstGeom>
          <a:noFill/>
          <a:ln/>
        </p:spPr>
        <p:txBody>
          <a:bodyPr wrap="square" lIns="25400" tIns="25400" rIns="25400" bIns="25400" rtlCol="0" anchor="t">
            <a:normAutofit/>
          </a:bodyPr>
          <a:lstStyle/>
          <a:p>
            <a:pPr algn="l" indent="0" marL="0">
              <a:buNone/>
            </a:pPr>
            <a:r>
              <a:rPr lang="en-US" sz="1650" dirty="0">
                <a:solidFill>
                  <a:srgbClr val="1A1814"/>
                </a:solidFill>
                <a:latin typeface="Newsreader" pitchFamily="34" charset="0"/>
                <a:ea typeface="Newsreader" pitchFamily="34" charset="-122"/>
                <a:cs typeface="Newsreader" pitchFamily="34" charset="-120"/>
              </a:rPr>
              <a:t>YOLO26-l · 1024</a:t>
            </a:r>
            <a:endParaRPr lang="en-US" sz="1650" dirty="0"/>
          </a:p>
        </p:txBody>
      </p:sp>
      <p:sp>
        <p:nvSpPr>
          <p:cNvPr id="17" name="Text 15"/>
          <p:cNvSpPr/>
          <p:nvPr/>
        </p:nvSpPr>
        <p:spPr>
          <a:xfrm>
            <a:off x="9517633" y="5632103"/>
            <a:ext cx="639812"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6E6757"/>
                </a:solidFill>
                <a:latin typeface="Newsreader" pitchFamily="34" charset="0"/>
                <a:ea typeface="Newsreader" pitchFamily="34" charset="-122"/>
                <a:cs typeface="Newsreader" pitchFamily="34" charset="-120"/>
              </a:rPr>
              <a:t>0.134</a:t>
            </a:r>
            <a:endParaRPr lang="en-US" sz="1650" dirty="0"/>
          </a:p>
        </p:txBody>
      </p:sp>
      <p:sp>
        <p:nvSpPr>
          <p:cNvPr id="18" name="Shape 16"/>
          <p:cNvSpPr/>
          <p:nvPr/>
        </p:nvSpPr>
        <p:spPr>
          <a:xfrm>
            <a:off x="1143000" y="5917853"/>
            <a:ext cx="8938245" cy="285750"/>
          </a:xfrm>
          <a:prstGeom prst="roundRect">
            <a:avLst>
              <a:gd name="adj" fmla="val 20000"/>
            </a:avLst>
          </a:prstGeom>
          <a:solidFill>
            <a:srgbClr val="E8E2D5"/>
          </a:solidFill>
          <a:ln/>
        </p:spPr>
      </p:sp>
      <p:sp>
        <p:nvSpPr>
          <p:cNvPr id="19" name="Shape 17"/>
          <p:cNvSpPr/>
          <p:nvPr/>
        </p:nvSpPr>
        <p:spPr>
          <a:xfrm>
            <a:off x="1143000" y="5917853"/>
            <a:ext cx="6435477" cy="285750"/>
          </a:xfrm>
          <a:prstGeom prst="roundRect">
            <a:avLst>
              <a:gd name="adj" fmla="val 20000"/>
            </a:avLst>
          </a:prstGeom>
          <a:solidFill>
            <a:srgbClr val="18936A"/>
          </a:solidFill>
          <a:ln/>
        </p:spPr>
      </p:sp>
      <p:sp>
        <p:nvSpPr>
          <p:cNvPr id="20" name="Text 18"/>
          <p:cNvSpPr/>
          <p:nvPr/>
        </p:nvSpPr>
        <p:spPr>
          <a:xfrm>
            <a:off x="1143000" y="6432203"/>
            <a:ext cx="1887505"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0F7A57"/>
                </a:solidFill>
                <a:latin typeface="Newsreader" pitchFamily="34" charset="0"/>
                <a:ea typeface="Newsreader" pitchFamily="34" charset="-122"/>
                <a:cs typeface="Newsreader" pitchFamily="34" charset="-120"/>
              </a:rPr>
              <a:t>RF-DETR-l · 1024</a:t>
            </a:r>
            <a:endParaRPr lang="en-US" sz="1650" dirty="0"/>
          </a:p>
        </p:txBody>
      </p:sp>
      <p:sp>
        <p:nvSpPr>
          <p:cNvPr id="21" name="Text 19"/>
          <p:cNvSpPr/>
          <p:nvPr/>
        </p:nvSpPr>
        <p:spPr>
          <a:xfrm>
            <a:off x="9517633" y="6432203"/>
            <a:ext cx="639812"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0F7A57"/>
                </a:solidFill>
                <a:latin typeface="Newsreader" pitchFamily="34" charset="0"/>
                <a:ea typeface="Newsreader" pitchFamily="34" charset="-122"/>
                <a:cs typeface="Newsreader" pitchFamily="34" charset="-120"/>
              </a:rPr>
              <a:t>0.186</a:t>
            </a:r>
            <a:endParaRPr lang="en-US" sz="1650" dirty="0"/>
          </a:p>
        </p:txBody>
      </p:sp>
      <p:sp>
        <p:nvSpPr>
          <p:cNvPr id="22" name="Shape 20"/>
          <p:cNvSpPr/>
          <p:nvPr/>
        </p:nvSpPr>
        <p:spPr>
          <a:xfrm>
            <a:off x="1143000" y="6717953"/>
            <a:ext cx="8938245" cy="285750"/>
          </a:xfrm>
          <a:prstGeom prst="roundRect">
            <a:avLst>
              <a:gd name="adj" fmla="val 20000"/>
            </a:avLst>
          </a:prstGeom>
          <a:solidFill>
            <a:srgbClr val="E8E2D5"/>
          </a:solidFill>
          <a:ln/>
        </p:spPr>
      </p:sp>
      <p:sp>
        <p:nvSpPr>
          <p:cNvPr id="23" name="Shape 21"/>
          <p:cNvSpPr/>
          <p:nvPr/>
        </p:nvSpPr>
        <p:spPr>
          <a:xfrm>
            <a:off x="1143000" y="6717953"/>
            <a:ext cx="8938245" cy="285750"/>
          </a:xfrm>
          <a:prstGeom prst="roundRect">
            <a:avLst>
              <a:gd name="adj" fmla="val 20000"/>
            </a:avLst>
          </a:prstGeom>
          <a:gradFill rotWithShape="1">
            <a:gsLst>
              <a:gs pos="0">
                <a:srgbClr val="18936A">
                  <a:alpha val="100000"/>
                </a:srgbClr>
              </a:gs>
              <a:gs pos="100000">
                <a:srgbClr val="0F7A57">
                  <a:alpha val="100000"/>
                </a:srgbClr>
              </a:gs>
            </a:gsLst>
            <a:lin ang="0" scaled="0"/>
          </a:gradFill>
          <a:ln/>
        </p:spPr>
      </p:sp>
      <p:sp>
        <p:nvSpPr>
          <p:cNvPr id="24" name="Shape 22"/>
          <p:cNvSpPr/>
          <p:nvPr/>
        </p:nvSpPr>
        <p:spPr>
          <a:xfrm>
            <a:off x="10538445" y="3625230"/>
            <a:ext cx="6606555" cy="1045815"/>
          </a:xfrm>
          <a:prstGeom prst="roundRect">
            <a:avLst>
              <a:gd name="adj" fmla="val 1092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25" name="Text 23"/>
          <p:cNvSpPr/>
          <p:nvPr/>
        </p:nvSpPr>
        <p:spPr>
          <a:xfrm>
            <a:off x="10814670" y="3863355"/>
            <a:ext cx="810816" cy="323850"/>
          </a:xfrm>
          <a:prstGeom prst="rect">
            <a:avLst/>
          </a:prstGeom>
          <a:noFill/>
          <a:ln/>
        </p:spPr>
        <p:txBody>
          <a:bodyPr wrap="square" lIns="25400" tIns="25400" rIns="25400" bIns="25400" rtlCol="0" anchor="t">
            <a:normAutofit/>
          </a:bodyPr>
          <a:lstStyle/>
          <a:p>
            <a:pPr algn="l" indent="0" marL="0">
              <a:buNone/>
            </a:pPr>
            <a:r>
              <a:rPr lang="en-US" sz="2250" b="1" dirty="0">
                <a:solidFill>
                  <a:srgbClr val="0F7A57"/>
                </a:solidFill>
                <a:latin typeface="Newsreader" pitchFamily="34" charset="0"/>
                <a:ea typeface="Newsreader" pitchFamily="34" charset="-122"/>
                <a:cs typeface="Newsreader" pitchFamily="34" charset="-120"/>
              </a:rPr>
              <a:t>+50%</a:t>
            </a:r>
            <a:endParaRPr lang="en-US" sz="2250" dirty="0"/>
          </a:p>
        </p:txBody>
      </p:sp>
      <p:sp>
        <p:nvSpPr>
          <p:cNvPr id="26" name="Text 24"/>
          <p:cNvSpPr/>
          <p:nvPr/>
        </p:nvSpPr>
        <p:spPr>
          <a:xfrm>
            <a:off x="11663586" y="3920505"/>
            <a:ext cx="1357327"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1A1814"/>
                </a:solidFill>
                <a:latin typeface="Newsreader" pitchFamily="34" charset="0"/>
                <a:ea typeface="Newsreader" pitchFamily="34" charset="-122"/>
                <a:cs typeface="Newsreader" pitchFamily="34" charset="-120"/>
              </a:rPr>
              <a:t>Bigger model</a:t>
            </a:r>
            <a:endParaRPr lang="en-US" sz="1650" dirty="0"/>
          </a:p>
        </p:txBody>
      </p:sp>
      <p:sp>
        <p:nvSpPr>
          <p:cNvPr id="27" name="Text 25"/>
          <p:cNvSpPr/>
          <p:nvPr/>
        </p:nvSpPr>
        <p:spPr>
          <a:xfrm>
            <a:off x="10814670" y="4206255"/>
            <a:ext cx="6659515"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6E6757"/>
                </a:solidFill>
                <a:latin typeface="Libre Franklin" pitchFamily="34" charset="0"/>
                <a:ea typeface="Libre Franklin" pitchFamily="34" charset="-122"/>
                <a:cs typeface="Libre Franklin" pitchFamily="34" charset="-120"/>
              </a:rPr>
              <a:t>YOLO26 s → l @640 (0.071 → 0.107)</a:t>
            </a:r>
            <a:endParaRPr lang="en-US" sz="1275" dirty="0"/>
          </a:p>
        </p:txBody>
      </p:sp>
      <p:sp>
        <p:nvSpPr>
          <p:cNvPr id="28" name="Shape 26"/>
          <p:cNvSpPr/>
          <p:nvPr/>
        </p:nvSpPr>
        <p:spPr>
          <a:xfrm>
            <a:off x="10538445" y="4823445"/>
            <a:ext cx="6606555" cy="1045815"/>
          </a:xfrm>
          <a:prstGeom prst="roundRect">
            <a:avLst>
              <a:gd name="adj" fmla="val 10929"/>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sp>
        <p:nvSpPr>
          <p:cNvPr id="29" name="Text 27"/>
          <p:cNvSpPr/>
          <p:nvPr/>
        </p:nvSpPr>
        <p:spPr>
          <a:xfrm>
            <a:off x="10814670" y="5061570"/>
            <a:ext cx="810816" cy="323850"/>
          </a:xfrm>
          <a:prstGeom prst="rect">
            <a:avLst/>
          </a:prstGeom>
          <a:noFill/>
          <a:ln/>
        </p:spPr>
        <p:txBody>
          <a:bodyPr wrap="square" lIns="25400" tIns="25400" rIns="25400" bIns="25400" rtlCol="0" anchor="t">
            <a:normAutofit/>
          </a:bodyPr>
          <a:lstStyle/>
          <a:p>
            <a:pPr algn="l" indent="0" marL="0">
              <a:buNone/>
            </a:pPr>
            <a:r>
              <a:rPr lang="en-US" sz="2250" b="1" dirty="0">
                <a:solidFill>
                  <a:srgbClr val="0F7A57"/>
                </a:solidFill>
                <a:latin typeface="Newsreader" pitchFamily="34" charset="0"/>
                <a:ea typeface="Newsreader" pitchFamily="34" charset="-122"/>
                <a:cs typeface="Newsreader" pitchFamily="34" charset="-120"/>
              </a:rPr>
              <a:t>+25%</a:t>
            </a:r>
            <a:endParaRPr lang="en-US" sz="2250" dirty="0"/>
          </a:p>
        </p:txBody>
      </p:sp>
      <p:sp>
        <p:nvSpPr>
          <p:cNvPr id="30" name="Text 28"/>
          <p:cNvSpPr/>
          <p:nvPr/>
        </p:nvSpPr>
        <p:spPr>
          <a:xfrm>
            <a:off x="11663586" y="5118720"/>
            <a:ext cx="1819156"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1A1814"/>
                </a:solidFill>
                <a:latin typeface="Newsreader" pitchFamily="34" charset="0"/>
                <a:ea typeface="Newsreader" pitchFamily="34" charset="-122"/>
                <a:cs typeface="Newsreader" pitchFamily="34" charset="-120"/>
              </a:rPr>
              <a:t>Higher resolution</a:t>
            </a:r>
            <a:endParaRPr lang="en-US" sz="1650" dirty="0"/>
          </a:p>
        </p:txBody>
      </p:sp>
      <p:sp>
        <p:nvSpPr>
          <p:cNvPr id="31" name="Text 29"/>
          <p:cNvSpPr/>
          <p:nvPr/>
        </p:nvSpPr>
        <p:spPr>
          <a:xfrm>
            <a:off x="10814670" y="5404470"/>
            <a:ext cx="6659515"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6E6757"/>
                </a:solidFill>
                <a:latin typeface="Libre Franklin" pitchFamily="34" charset="0"/>
                <a:ea typeface="Libre Franklin" pitchFamily="34" charset="-122"/>
                <a:cs typeface="Libre Franklin" pitchFamily="34" charset="-120"/>
              </a:rPr>
              <a:t>YOLO26-l 640 → 1024 (0.107 → 0.134)</a:t>
            </a:r>
            <a:endParaRPr lang="en-US" sz="1275" dirty="0"/>
          </a:p>
        </p:txBody>
      </p:sp>
      <p:sp>
        <p:nvSpPr>
          <p:cNvPr id="32" name="Shape 30"/>
          <p:cNvSpPr/>
          <p:nvPr/>
        </p:nvSpPr>
        <p:spPr>
          <a:xfrm>
            <a:off x="10538445" y="6021660"/>
            <a:ext cx="6606555" cy="1055340"/>
          </a:xfrm>
          <a:prstGeom prst="roundRect">
            <a:avLst>
              <a:gd name="adj" fmla="val 10831"/>
            </a:avLst>
          </a:prstGeom>
          <a:solidFill>
            <a:srgbClr val="ECF6F1"/>
          </a:solidFill>
          <a:ln w="14288">
            <a:solidFill>
              <a:srgbClr val="18936A"/>
            </a:solidFill>
            <a:prstDash val="solid"/>
          </a:ln>
        </p:spPr>
      </p:sp>
      <p:sp>
        <p:nvSpPr>
          <p:cNvPr id="33" name="Text 31"/>
          <p:cNvSpPr/>
          <p:nvPr/>
        </p:nvSpPr>
        <p:spPr>
          <a:xfrm>
            <a:off x="10819433" y="6264548"/>
            <a:ext cx="810816" cy="323850"/>
          </a:xfrm>
          <a:prstGeom prst="rect">
            <a:avLst/>
          </a:prstGeom>
          <a:noFill/>
          <a:ln/>
        </p:spPr>
        <p:txBody>
          <a:bodyPr wrap="square" lIns="25400" tIns="25400" rIns="25400" bIns="25400" rtlCol="0" anchor="t">
            <a:normAutofit/>
          </a:bodyPr>
          <a:lstStyle/>
          <a:p>
            <a:pPr algn="l" indent="0" marL="0">
              <a:buNone/>
            </a:pPr>
            <a:r>
              <a:rPr lang="en-US" sz="2250" b="1" dirty="0">
                <a:solidFill>
                  <a:srgbClr val="0F7A57"/>
                </a:solidFill>
                <a:latin typeface="Newsreader" pitchFamily="34" charset="0"/>
                <a:ea typeface="Newsreader" pitchFamily="34" charset="-122"/>
                <a:cs typeface="Newsreader" pitchFamily="34" charset="-120"/>
              </a:rPr>
              <a:t>+39%</a:t>
            </a:r>
            <a:endParaRPr lang="en-US" sz="2250" dirty="0"/>
          </a:p>
        </p:txBody>
      </p:sp>
      <p:sp>
        <p:nvSpPr>
          <p:cNvPr id="34" name="Text 32"/>
          <p:cNvSpPr/>
          <p:nvPr/>
        </p:nvSpPr>
        <p:spPr>
          <a:xfrm>
            <a:off x="11668348" y="6321698"/>
            <a:ext cx="1268313" cy="247650"/>
          </a:xfrm>
          <a:prstGeom prst="rect">
            <a:avLst/>
          </a:prstGeom>
          <a:noFill/>
          <a:ln/>
        </p:spPr>
        <p:txBody>
          <a:bodyPr wrap="square" lIns="25400" tIns="25400" rIns="25400" bIns="25400" rtlCol="0" anchor="t">
            <a:normAutofit/>
          </a:bodyPr>
          <a:lstStyle/>
          <a:p>
            <a:pPr algn="l" indent="0" marL="0">
              <a:buNone/>
            </a:pPr>
            <a:r>
              <a:rPr lang="en-US" sz="1650" b="1" dirty="0">
                <a:solidFill>
                  <a:srgbClr val="0F7A57"/>
                </a:solidFill>
                <a:latin typeface="Newsreader" pitchFamily="34" charset="0"/>
                <a:ea typeface="Newsreader" pitchFamily="34" charset="-122"/>
                <a:cs typeface="Newsreader" pitchFamily="34" charset="-120"/>
              </a:rPr>
              <a:t>Architecture</a:t>
            </a:r>
            <a:endParaRPr lang="en-US" sz="1650" dirty="0"/>
          </a:p>
        </p:txBody>
      </p:sp>
      <p:sp>
        <p:nvSpPr>
          <p:cNvPr id="35" name="Text 33"/>
          <p:cNvSpPr/>
          <p:nvPr/>
        </p:nvSpPr>
        <p:spPr>
          <a:xfrm>
            <a:off x="10819433" y="6607448"/>
            <a:ext cx="6649038"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3F5249"/>
                </a:solidFill>
                <a:latin typeface="Libre Franklin" pitchFamily="34" charset="0"/>
                <a:ea typeface="Libre Franklin" pitchFamily="34" charset="-122"/>
                <a:cs typeface="Libre Franklin" pitchFamily="34" charset="-120"/>
              </a:rPr>
              <a:t>RF-DETR-L @1024 — best overall (0.186)</a:t>
            </a:r>
            <a:endParaRPr lang="en-US" sz="1275" dirty="0"/>
          </a:p>
        </p:txBody>
      </p:sp>
      <p:sp>
        <p:nvSpPr>
          <p:cNvPr id="36" name="Shape 34"/>
          <p:cNvSpPr/>
          <p:nvPr/>
        </p:nvSpPr>
        <p:spPr>
          <a:xfrm>
            <a:off x="1143000" y="8768730"/>
            <a:ext cx="16002000" cy="718170"/>
          </a:xfrm>
          <a:prstGeom prst="roundRect">
            <a:avLst>
              <a:gd name="adj" fmla="val 15915"/>
            </a:avLst>
          </a:prstGeom>
          <a:solidFill>
            <a:srgbClr val="FBEDE9"/>
          </a:solidFill>
          <a:ln w="9525">
            <a:solidFill>
              <a:srgbClr val="F0C6BB"/>
            </a:solidFill>
            <a:prstDash val="solid"/>
          </a:ln>
        </p:spPr>
      </p:sp>
      <p:sp>
        <p:nvSpPr>
          <p:cNvPr id="37" name="Text 35"/>
          <p:cNvSpPr/>
          <p:nvPr/>
        </p:nvSpPr>
        <p:spPr>
          <a:xfrm>
            <a:off x="1438275" y="8987805"/>
            <a:ext cx="15891510" cy="318120"/>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C24A35"/>
                </a:solidFill>
                <a:latin typeface="Newsreader" pitchFamily="34" charset="0"/>
                <a:ea typeface="Newsreader" pitchFamily="34" charset="-122"/>
                <a:cs typeface="Newsreader" pitchFamily="34" charset="-120"/>
              </a:rPr>
              <a:t>But all scores are low </a:t>
            </a:r>
            <a:pPr algn="l" indent="0" marL="0">
              <a:lnSpc>
                <a:spcPct val="140000"/>
              </a:lnSpc>
              <a:buNone/>
            </a:pPr>
            <a:r>
              <a:rPr lang="en-US" sz="1575" dirty="0">
                <a:solidFill>
                  <a:srgbClr val="4A3F3B"/>
                </a:solidFill>
                <a:highlight>
                  <a:srgbClr val="FBEDE9"/>
                </a:highlight>
                <a:latin typeface="Newsreader" pitchFamily="34" charset="0"/>
                <a:ea typeface="Newsreader" pitchFamily="34" charset="-122"/>
                <a:cs typeface="Newsreader" pitchFamily="34" charset="-120"/>
              </a:rPr>
              <a:t>— even the best mAP@50 sits under 0.2. This is the </a:t>
            </a:r>
            <a:pPr algn="l" indent="0" marL="0">
              <a:lnSpc>
                <a:spcPct val="140000"/>
              </a:lnSpc>
              <a:buNone/>
            </a:pPr>
            <a:r>
              <a:rPr lang="en-US" sz="1575" i="1" dirty="0">
                <a:solidFill>
                  <a:srgbClr val="1A1814"/>
                </a:solidFill>
                <a:latin typeface="Newsreader" pitchFamily="34" charset="0"/>
                <a:ea typeface="Newsreader" pitchFamily="34" charset="-122"/>
                <a:cs typeface="Newsreader" pitchFamily="34" charset="-120"/>
              </a:rPr>
              <a:t>detection bottleneck </a:t>
            </a:r>
            <a:pPr algn="l" indent="0" marL="0">
              <a:lnSpc>
                <a:spcPct val="140000"/>
              </a:lnSpc>
              <a:buNone/>
            </a:pPr>
            <a:r>
              <a:rPr lang="en-US" sz="1575" dirty="0">
                <a:solidFill>
                  <a:srgbClr val="4A3F3B"/>
                </a:solidFill>
                <a:highlight>
                  <a:srgbClr val="FBEDE9"/>
                </a:highlight>
                <a:latin typeface="Newsreader" pitchFamily="34" charset="0"/>
                <a:ea typeface="Newsreader" pitchFamily="34" charset="-122"/>
                <a:cs typeface="Newsreader" pitchFamily="34" charset="-120"/>
              </a:rPr>
              <a:t>that sets the ~32k false-negative floor seen in tracking.</a:t>
            </a:r>
            <a:endParaRPr lang="en-US" sz="15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028700"/>
            <a:ext cx="16002000" cy="9525"/>
          </a:xfrm>
          <a:prstGeom prst="rect">
            <a:avLst/>
          </a:prstGeom>
          <a:solidFill>
            <a:srgbClr val="1A1814"/>
          </a:solidFill>
          <a:ln/>
        </p:spPr>
      </p:sp>
      <p:sp>
        <p:nvSpPr>
          <p:cNvPr id="3" name="Text 1"/>
          <p:cNvSpPr/>
          <p:nvPr/>
        </p:nvSpPr>
        <p:spPr>
          <a:xfrm>
            <a:off x="1143000" y="704850"/>
            <a:ext cx="30041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14</a:t>
            </a:r>
            <a:endParaRPr lang="en-US" sz="1125" dirty="0"/>
          </a:p>
        </p:txBody>
      </p:sp>
      <p:sp>
        <p:nvSpPr>
          <p:cNvPr id="4" name="Text 2"/>
          <p:cNvSpPr/>
          <p:nvPr/>
        </p:nvSpPr>
        <p:spPr>
          <a:xfrm>
            <a:off x="1500560" y="70485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3533" y="704850"/>
            <a:ext cx="1922048"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WHERE THEY FAIL</a:t>
            </a:r>
            <a:endParaRPr lang="en-US" sz="1125" dirty="0"/>
          </a:p>
        </p:txBody>
      </p:sp>
      <p:sp>
        <p:nvSpPr>
          <p:cNvPr id="6" name="Text 4"/>
          <p:cNvSpPr/>
          <p:nvPr/>
        </p:nvSpPr>
        <p:spPr>
          <a:xfrm>
            <a:off x="1143000" y="1247775"/>
            <a:ext cx="1341120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58" kern="0" dirty="0">
                <a:solidFill>
                  <a:srgbClr val="1A1814"/>
                </a:solidFill>
                <a:latin typeface="Newsreader" pitchFamily="34" charset="0"/>
                <a:ea typeface="Newsreader" pitchFamily="34" charset="-122"/>
                <a:cs typeface="Newsreader" pitchFamily="34" charset="-120"/>
              </a:rPr>
              <a:t>The battle is </a:t>
            </a:r>
            <a:pPr algn="l" indent="0" marL="0">
              <a:lnSpc>
                <a:spcPct val="100000"/>
              </a:lnSpc>
              <a:buNone/>
            </a:pPr>
            <a:r>
              <a:rPr lang="en-US" sz="3900" i="1" spc="-58" kern="0" dirty="0">
                <a:solidFill>
                  <a:srgbClr val="0F7A57"/>
                </a:solidFill>
                <a:latin typeface="Newsreader" pitchFamily="34" charset="0"/>
                <a:ea typeface="Newsreader" pitchFamily="34" charset="-122"/>
                <a:cs typeface="Newsreader" pitchFamily="34" charset="-120"/>
              </a:rPr>
              <a:t>detection vs. background </a:t>
            </a:r>
            <a:pPr algn="l" indent="0" marL="0">
              <a:lnSpc>
                <a:spcPct val="100000"/>
              </a:lnSpc>
              <a:buNone/>
            </a:pPr>
            <a:r>
              <a:rPr lang="en-US" sz="3900" spc="-58" kern="0" dirty="0">
                <a:solidFill>
                  <a:srgbClr val="1A1814"/>
                </a:solidFill>
                <a:latin typeface="Newsreader" pitchFamily="34" charset="0"/>
                <a:ea typeface="Newsreader" pitchFamily="34" charset="-122"/>
                <a:cs typeface="Newsreader" pitchFamily="34" charset="-120"/>
              </a:rPr>
              <a:t>— not classification</a:t>
            </a:r>
            <a:endParaRPr lang="en-US" sz="3900" dirty="0"/>
          </a:p>
        </p:txBody>
      </p:sp>
      <p:sp>
        <p:nvSpPr>
          <p:cNvPr id="7" name="Shape 5"/>
          <p:cNvSpPr/>
          <p:nvPr/>
        </p:nvSpPr>
        <p:spPr>
          <a:xfrm>
            <a:off x="1143000" y="2009775"/>
            <a:ext cx="5168875" cy="6793260"/>
          </a:xfrm>
          <a:prstGeom prst="roundRect">
            <a:avLst>
              <a:gd name="adj" fmla="val 2211"/>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pic>
        <p:nvPicPr>
          <p:cNvPr id="8" name="Image 0" descr="preencoded.png">    </p:cNvPr>
          <p:cNvPicPr>
            <a:picLocks noChangeAspect="1"/>
          </p:cNvPicPr>
          <p:nvPr/>
        </p:nvPicPr>
        <p:blipFill>
          <a:blip r:embed="rId1"/>
          <a:srcRect l="0" r="0" t="0" b="0"/>
          <a:stretch/>
        </p:blipFill>
        <p:spPr>
          <a:xfrm>
            <a:off x="1631900" y="3834780"/>
            <a:ext cx="4191000" cy="3143250"/>
          </a:xfrm>
          <a:prstGeom prst="rect">
            <a:avLst/>
          </a:prstGeom>
        </p:spPr>
      </p:pic>
      <p:sp>
        <p:nvSpPr>
          <p:cNvPr id="9" name="Text 6"/>
          <p:cNvSpPr/>
          <p:nvPr/>
        </p:nvSpPr>
        <p:spPr>
          <a:xfrm>
            <a:off x="1143000" y="8917335"/>
            <a:ext cx="5685763" cy="238125"/>
          </a:xfrm>
          <a:prstGeom prst="rect">
            <a:avLst/>
          </a:prstGeom>
          <a:noFill/>
          <a:ln/>
        </p:spPr>
        <p:txBody>
          <a:bodyPr wrap="square" lIns="25400" tIns="25400" rIns="25400" bIns="25400" rtlCol="0" anchor="t">
            <a:normAutofit/>
          </a:bodyPr>
          <a:lstStyle/>
          <a:p>
            <a:pPr algn="l" indent="0" marL="0">
              <a:buNone/>
            </a:pPr>
            <a:r>
              <a:rPr lang="en-US" sz="1575" b="1" dirty="0">
                <a:solidFill>
                  <a:srgbClr val="1A1814"/>
                </a:solidFill>
                <a:latin typeface="Newsreader" pitchFamily="34" charset="0"/>
                <a:ea typeface="Newsreader" pitchFamily="34" charset="-122"/>
                <a:cs typeface="Newsreader" pitchFamily="34" charset="-120"/>
              </a:rPr>
              <a:t>YOLO26-s · 640 </a:t>
            </a:r>
            <a:pPr algn="l" indent="0" marL="0">
              <a:buNone/>
            </a:pPr>
            <a:r>
              <a:rPr lang="en-US" sz="1575" i="1" dirty="0">
                <a:solidFill>
                  <a:srgbClr val="A89F8C"/>
                </a:solidFill>
                <a:latin typeface="Newsreader" pitchFamily="34" charset="0"/>
                <a:ea typeface="Newsreader" pitchFamily="34" charset="-122"/>
                <a:cs typeface="Newsreader" pitchFamily="34" charset="-120"/>
              </a:rPr>
              <a:t>— weakest</a:t>
            </a:r>
            <a:endParaRPr lang="en-US" sz="1575" dirty="0"/>
          </a:p>
        </p:txBody>
      </p:sp>
      <p:sp>
        <p:nvSpPr>
          <p:cNvPr id="10" name="Text 7"/>
          <p:cNvSpPr/>
          <p:nvPr/>
        </p:nvSpPr>
        <p:spPr>
          <a:xfrm>
            <a:off x="1143000" y="9155460"/>
            <a:ext cx="5323941" cy="464790"/>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6E6757"/>
                </a:solidFill>
                <a:latin typeface="Libre Franklin" pitchFamily="34" charset="0"/>
                <a:ea typeface="Libre Franklin" pitchFamily="34" charset="-122"/>
                <a:cs typeface="Libre Franklin" pitchFamily="34" charset="-120"/>
              </a:rPr>
              <a:t>Boar recall 0.13, red 0.01, roe 0.00 — almost everything falls into the background column.</a:t>
            </a:r>
            <a:endParaRPr lang="en-US" sz="1200" dirty="0"/>
          </a:p>
        </p:txBody>
      </p:sp>
      <p:sp>
        <p:nvSpPr>
          <p:cNvPr id="11" name="Shape 8"/>
          <p:cNvSpPr/>
          <p:nvPr/>
        </p:nvSpPr>
        <p:spPr>
          <a:xfrm>
            <a:off x="6559525" y="2009775"/>
            <a:ext cx="5168875" cy="6793260"/>
          </a:xfrm>
          <a:prstGeom prst="roundRect">
            <a:avLst>
              <a:gd name="adj" fmla="val 2211"/>
            </a:avLst>
          </a:prstGeom>
          <a:solidFill>
            <a:srgbClr val="FFFFFF"/>
          </a:solidFill>
          <a:ln w="9525">
            <a:solidFill>
              <a:srgbClr val="DCD5C4"/>
            </a:solidFill>
            <a:prstDash val="solid"/>
          </a:ln>
          <a:effectLst>
            <a:outerShdw sx="100000" sy="100000" kx="0" ky="0" algn="bl" rotWithShape="0" blurRad="19050" dist="9525" dir="5400000">
              <a:srgbClr val="1A1814">
                <a:alpha val="4000"/>
              </a:srgbClr>
            </a:outerShdw>
          </a:effectLst>
        </p:spPr>
      </p:sp>
      <p:pic>
        <p:nvPicPr>
          <p:cNvPr id="12" name="Image 1" descr="preencoded.png">    </p:cNvPr>
          <p:cNvPicPr>
            <a:picLocks noChangeAspect="1"/>
          </p:cNvPicPr>
          <p:nvPr/>
        </p:nvPicPr>
        <p:blipFill>
          <a:blip r:embed="rId2"/>
          <a:srcRect l="0" r="0" t="0" b="0"/>
          <a:stretch/>
        </p:blipFill>
        <p:spPr>
          <a:xfrm>
            <a:off x="7048426" y="3834780"/>
            <a:ext cx="4191000" cy="3143250"/>
          </a:xfrm>
          <a:prstGeom prst="rect">
            <a:avLst/>
          </a:prstGeom>
        </p:spPr>
      </p:pic>
      <p:sp>
        <p:nvSpPr>
          <p:cNvPr id="13" name="Text 9"/>
          <p:cNvSpPr/>
          <p:nvPr/>
        </p:nvSpPr>
        <p:spPr>
          <a:xfrm>
            <a:off x="6559525" y="8917335"/>
            <a:ext cx="5685763" cy="238125"/>
          </a:xfrm>
          <a:prstGeom prst="rect">
            <a:avLst/>
          </a:prstGeom>
          <a:noFill/>
          <a:ln/>
        </p:spPr>
        <p:txBody>
          <a:bodyPr wrap="square" lIns="25400" tIns="25400" rIns="25400" bIns="25400" rtlCol="0" anchor="t">
            <a:normAutofit/>
          </a:bodyPr>
          <a:lstStyle/>
          <a:p>
            <a:pPr algn="l" indent="0" marL="0">
              <a:buNone/>
            </a:pPr>
            <a:r>
              <a:rPr lang="en-US" sz="1575" b="1" dirty="0">
                <a:solidFill>
                  <a:srgbClr val="1A1814"/>
                </a:solidFill>
                <a:latin typeface="Newsreader" pitchFamily="34" charset="0"/>
                <a:ea typeface="Newsreader" pitchFamily="34" charset="-122"/>
                <a:cs typeface="Newsreader" pitchFamily="34" charset="-120"/>
              </a:rPr>
              <a:t>YOLO26-l · 1024 </a:t>
            </a:r>
            <a:pPr algn="l" indent="0" marL="0">
              <a:buNone/>
            </a:pPr>
            <a:r>
              <a:rPr lang="en-US" sz="1575" i="1" dirty="0">
                <a:solidFill>
                  <a:srgbClr val="A89F8C"/>
                </a:solidFill>
                <a:latin typeface="Newsreader" pitchFamily="34" charset="0"/>
                <a:ea typeface="Newsreader" pitchFamily="34" charset="-122"/>
                <a:cs typeface="Newsreader" pitchFamily="34" charset="-120"/>
              </a:rPr>
              <a:t>— best YOLO</a:t>
            </a:r>
            <a:endParaRPr lang="en-US" sz="1575" dirty="0"/>
          </a:p>
        </p:txBody>
      </p:sp>
      <p:sp>
        <p:nvSpPr>
          <p:cNvPr id="14" name="Text 10"/>
          <p:cNvSpPr/>
          <p:nvPr/>
        </p:nvSpPr>
        <p:spPr>
          <a:xfrm>
            <a:off x="6559525" y="9155460"/>
            <a:ext cx="5323941" cy="464790"/>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6E6757"/>
                </a:solidFill>
                <a:latin typeface="Libre Franklin" pitchFamily="34" charset="0"/>
                <a:ea typeface="Libre Franklin" pitchFamily="34" charset="-122"/>
                <a:cs typeface="Libre Franklin" pitchFamily="34" charset="-120"/>
              </a:rPr>
              <a:t>Boar recall climbs to 0.22, red deer to 0.18 — size + resolution light up the diagonal.</a:t>
            </a:r>
            <a:endParaRPr lang="en-US" sz="1200" dirty="0"/>
          </a:p>
        </p:txBody>
      </p:sp>
      <p:sp>
        <p:nvSpPr>
          <p:cNvPr id="15" name="Shape 11"/>
          <p:cNvSpPr/>
          <p:nvPr/>
        </p:nvSpPr>
        <p:spPr>
          <a:xfrm>
            <a:off x="11976050" y="2009775"/>
            <a:ext cx="5168950" cy="7006605"/>
          </a:xfrm>
          <a:prstGeom prst="roundRect">
            <a:avLst>
              <a:gd name="adj" fmla="val 2211"/>
            </a:avLst>
          </a:prstGeom>
          <a:solidFill>
            <a:srgbClr val="ECF6F1"/>
          </a:solidFill>
          <a:ln w="14288">
            <a:solidFill>
              <a:srgbClr val="18936A"/>
            </a:solidFill>
            <a:prstDash val="solid"/>
          </a:ln>
        </p:spPr>
      </p:sp>
      <p:pic>
        <p:nvPicPr>
          <p:cNvPr id="16" name="Image 2" descr="preencoded.png">    </p:cNvPr>
          <p:cNvPicPr>
            <a:picLocks noChangeAspect="1"/>
          </p:cNvPicPr>
          <p:nvPr/>
        </p:nvPicPr>
        <p:blipFill>
          <a:blip r:embed="rId3"/>
          <a:srcRect l="0" r="0" t="0" b="0"/>
          <a:stretch/>
        </p:blipFill>
        <p:spPr>
          <a:xfrm>
            <a:off x="12465025" y="3941415"/>
            <a:ext cx="4191000" cy="3143250"/>
          </a:xfrm>
          <a:prstGeom prst="rect">
            <a:avLst/>
          </a:prstGeom>
        </p:spPr>
      </p:pic>
      <p:sp>
        <p:nvSpPr>
          <p:cNvPr id="17" name="Text 12"/>
          <p:cNvSpPr/>
          <p:nvPr/>
        </p:nvSpPr>
        <p:spPr>
          <a:xfrm>
            <a:off x="11976050" y="9130680"/>
            <a:ext cx="5685845" cy="238125"/>
          </a:xfrm>
          <a:prstGeom prst="rect">
            <a:avLst/>
          </a:prstGeom>
          <a:noFill/>
          <a:ln/>
        </p:spPr>
        <p:txBody>
          <a:bodyPr wrap="square" lIns="25400" tIns="25400" rIns="25400" bIns="25400" rtlCol="0" anchor="t">
            <a:normAutofit/>
          </a:bodyPr>
          <a:lstStyle/>
          <a:p>
            <a:pPr algn="l" indent="0" marL="0">
              <a:buNone/>
            </a:pPr>
            <a:r>
              <a:rPr lang="en-US" sz="1575" b="1" dirty="0">
                <a:solidFill>
                  <a:srgbClr val="0F7A57"/>
                </a:solidFill>
                <a:latin typeface="Newsreader" pitchFamily="34" charset="0"/>
                <a:ea typeface="Newsreader" pitchFamily="34" charset="-122"/>
                <a:cs typeface="Newsreader" pitchFamily="34" charset="-120"/>
              </a:rPr>
              <a:t>RF-DETR-l · 1024 </a:t>
            </a:r>
            <a:pPr algn="l" indent="0" marL="0">
              <a:buNone/>
            </a:pPr>
            <a:r>
              <a:rPr lang="en-US" sz="1575" i="1" dirty="0">
                <a:solidFill>
                  <a:srgbClr val="0F7A57"/>
                </a:solidFill>
                <a:latin typeface="Newsreader" pitchFamily="34" charset="0"/>
                <a:ea typeface="Newsreader" pitchFamily="34" charset="-122"/>
                <a:cs typeface="Newsreader" pitchFamily="34" charset="-120"/>
              </a:rPr>
              <a:t>— best overall</a:t>
            </a:r>
            <a:endParaRPr lang="en-US" sz="1575" dirty="0"/>
          </a:p>
        </p:txBody>
      </p:sp>
      <p:sp>
        <p:nvSpPr>
          <p:cNvPr id="18" name="Text 13"/>
          <p:cNvSpPr/>
          <p:nvPr/>
        </p:nvSpPr>
        <p:spPr>
          <a:xfrm>
            <a:off x="11976050" y="9368805"/>
            <a:ext cx="5685845" cy="25144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3F5249"/>
                </a:solidFill>
                <a:latin typeface="Libre Franklin" pitchFamily="34" charset="0"/>
                <a:ea typeface="Libre Franklin" pitchFamily="34" charset="-122"/>
                <a:cs typeface="Libre Franklin" pitchFamily="34" charset="-120"/>
              </a:rPr>
              <a:t>Boar 0.37, red deer 0.34 — strongest diagonal, but </a:t>
            </a:r>
            <a:pPr algn="l" indent="0" marL="0">
              <a:lnSpc>
                <a:spcPct val="140000"/>
              </a:lnSpc>
              <a:buNone/>
            </a:pPr>
            <a:r>
              <a:rPr lang="en-US" sz="1200" b="1" dirty="0">
                <a:solidFill>
                  <a:srgbClr val="C24A35"/>
                </a:solidFill>
                <a:latin typeface="Libre Franklin" pitchFamily="34" charset="0"/>
                <a:ea typeface="Libre Franklin" pitchFamily="34" charset="-122"/>
                <a:cs typeface="Libre Franklin" pitchFamily="34" charset="-120"/>
              </a:rPr>
              <a:t>Roe deer still 0.00</a:t>
            </a:r>
            <a:pPr algn="l" indent="0" marL="0">
              <a:lnSpc>
                <a:spcPct val="140000"/>
              </a:lnSpc>
              <a:buNone/>
            </a:pPr>
            <a:r>
              <a:rPr lang="en-US" sz="1200" dirty="0">
                <a:solidFill>
                  <a:srgbClr val="3F5249"/>
                </a:solidFill>
                <a:latin typeface="Libre Franklin" pitchFamily="34" charset="0"/>
                <a:ea typeface="Libre Franklin" pitchFamily="34" charset="-122"/>
                <a:cs typeface="Libre Franklin" pitchFamily="34" charset="-120"/>
              </a:rPr>
              <a:t>.</a:t>
            </a:r>
            <a:endParaRPr lang="en-US" sz="1200" dirty="0"/>
          </a:p>
        </p:txBody>
      </p:sp>
      <p:sp>
        <p:nvSpPr>
          <p:cNvPr id="19" name="Text 14"/>
          <p:cNvSpPr/>
          <p:nvPr/>
        </p:nvSpPr>
        <p:spPr>
          <a:xfrm>
            <a:off x="1143000" y="99012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BAMBI WILDLIFE MOT</a:t>
            </a:r>
            <a:endParaRPr lang="en-US" sz="900" dirty="0"/>
          </a:p>
        </p:txBody>
      </p:sp>
      <p:sp>
        <p:nvSpPr>
          <p:cNvPr id="20" name="Text 15"/>
          <p:cNvSpPr/>
          <p:nvPr/>
        </p:nvSpPr>
        <p:spPr>
          <a:xfrm>
            <a:off x="15177195" y="99012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A89F8C"/>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814"/>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5A5446"/>
          </a:solidFill>
          <a:ln/>
        </p:spPr>
      </p:sp>
      <p:sp>
        <p:nvSpPr>
          <p:cNvPr id="3" name="Text 1"/>
          <p:cNvSpPr/>
          <p:nvPr/>
        </p:nvSpPr>
        <p:spPr>
          <a:xfrm>
            <a:off x="1143000" y="800100"/>
            <a:ext cx="299442"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6FC79E"/>
                </a:solidFill>
                <a:latin typeface="Libre Franklin" pitchFamily="34" charset="0"/>
                <a:ea typeface="Libre Franklin" pitchFamily="34" charset="-122"/>
                <a:cs typeface="Libre Franklin" pitchFamily="34" charset="-120"/>
              </a:rPr>
              <a:t>15</a:t>
            </a:r>
            <a:endParaRPr lang="en-US" sz="1125" dirty="0"/>
          </a:p>
        </p:txBody>
      </p:sp>
      <p:sp>
        <p:nvSpPr>
          <p:cNvPr id="4" name="Text 2"/>
          <p:cNvSpPr/>
          <p:nvPr/>
        </p:nvSpPr>
        <p:spPr>
          <a:xfrm>
            <a:off x="1499592"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6E6757"/>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2565" y="800100"/>
            <a:ext cx="1512935"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F6F3EB"/>
                </a:solidFill>
                <a:latin typeface="Libre Franklin" pitchFamily="34" charset="0"/>
                <a:ea typeface="Libre Franklin" pitchFamily="34" charset="-122"/>
                <a:cs typeface="Libre Franklin" pitchFamily="34" charset="-120"/>
              </a:rPr>
              <a:t>CONCLUSIONS</a:t>
            </a:r>
            <a:endParaRPr lang="en-US" sz="1125" dirty="0"/>
          </a:p>
        </p:txBody>
      </p:sp>
      <p:sp>
        <p:nvSpPr>
          <p:cNvPr id="6" name="Text 4"/>
          <p:cNvSpPr/>
          <p:nvPr/>
        </p:nvSpPr>
        <p:spPr>
          <a:xfrm>
            <a:off x="1143000" y="1381125"/>
            <a:ext cx="176022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spc="-65" kern="0" dirty="0">
                <a:solidFill>
                  <a:srgbClr val="F6F3EB"/>
                </a:solidFill>
                <a:latin typeface="Newsreader" pitchFamily="34" charset="0"/>
                <a:ea typeface="Newsreader" pitchFamily="34" charset="-122"/>
                <a:cs typeface="Newsreader" pitchFamily="34" charset="-120"/>
              </a:rPr>
              <a:t>Both halves point the same way</a:t>
            </a:r>
            <a:endParaRPr lang="en-US" sz="4350" dirty="0"/>
          </a:p>
        </p:txBody>
      </p:sp>
      <p:sp>
        <p:nvSpPr>
          <p:cNvPr id="7" name="Shape 5"/>
          <p:cNvSpPr/>
          <p:nvPr/>
        </p:nvSpPr>
        <p:spPr>
          <a:xfrm>
            <a:off x="1143000" y="3900488"/>
            <a:ext cx="5143500" cy="3619500"/>
          </a:xfrm>
          <a:prstGeom prst="roundRect">
            <a:avLst>
              <a:gd name="adj" fmla="val 3684"/>
            </a:avLst>
          </a:prstGeom>
          <a:solidFill>
            <a:srgbClr val="F6F3EB">
              <a:alpha val="5000"/>
            </a:srgbClr>
          </a:solidFill>
          <a:ln w="9525">
            <a:solidFill>
              <a:srgbClr val="5A5446"/>
            </a:solidFill>
            <a:prstDash val="solid"/>
          </a:ln>
        </p:spPr>
      </p:sp>
      <p:sp>
        <p:nvSpPr>
          <p:cNvPr id="8" name="Text 6"/>
          <p:cNvSpPr/>
          <p:nvPr/>
        </p:nvSpPr>
        <p:spPr>
          <a:xfrm>
            <a:off x="1476375" y="4252913"/>
            <a:ext cx="4924425" cy="185738"/>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6FC79E"/>
                </a:solidFill>
                <a:latin typeface="Libre Franklin" pitchFamily="34" charset="0"/>
                <a:ea typeface="Libre Franklin" pitchFamily="34" charset="-122"/>
                <a:cs typeface="Libre Franklin" pitchFamily="34" charset="-120"/>
              </a:rPr>
              <a:t>TRACKING</a:t>
            </a:r>
            <a:endParaRPr lang="en-US" sz="975" dirty="0"/>
          </a:p>
        </p:txBody>
      </p:sp>
      <p:sp>
        <p:nvSpPr>
          <p:cNvPr id="9" name="Text 7"/>
          <p:cNvSpPr/>
          <p:nvPr/>
        </p:nvSpPr>
        <p:spPr>
          <a:xfrm>
            <a:off x="1476375" y="4533900"/>
            <a:ext cx="4611052" cy="695325"/>
          </a:xfrm>
          <a:prstGeom prst="rect">
            <a:avLst/>
          </a:prstGeom>
          <a:noFill/>
          <a:ln/>
        </p:spPr>
        <p:txBody>
          <a:bodyPr wrap="square" lIns="25400" tIns="25400" rIns="25400" bIns="25400" rtlCol="0" anchor="t">
            <a:normAutofit/>
          </a:bodyPr>
          <a:lstStyle/>
          <a:p>
            <a:pPr algn="l" indent="0" marL="0">
              <a:lnSpc>
                <a:spcPct val="115000"/>
              </a:lnSpc>
              <a:buNone/>
            </a:pPr>
            <a:r>
              <a:rPr lang="en-US" sz="2250" dirty="0">
                <a:solidFill>
                  <a:srgbClr val="F6F3EB"/>
                </a:solidFill>
                <a:latin typeface="Newsreader" pitchFamily="34" charset="0"/>
                <a:ea typeface="Newsreader" pitchFamily="34" charset="-122"/>
                <a:cs typeface="Newsreader" pitchFamily="34" charset="-120"/>
              </a:rPr>
              <a:t>BoT-SORT + ReID, per-sequence resets</a:t>
            </a:r>
            <a:endParaRPr lang="en-US" sz="2250" dirty="0"/>
          </a:p>
        </p:txBody>
      </p:sp>
      <p:sp>
        <p:nvSpPr>
          <p:cNvPr id="10" name="Text 8"/>
          <p:cNvSpPr/>
          <p:nvPr/>
        </p:nvSpPr>
        <p:spPr>
          <a:xfrm>
            <a:off x="1476375" y="6653213"/>
            <a:ext cx="4611052"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C9C3B6"/>
                </a:solidFill>
                <a:latin typeface="Libre Franklin" pitchFamily="34" charset="0"/>
                <a:ea typeface="Libre Franklin" pitchFamily="34" charset="-122"/>
                <a:cs typeface="Libre Franklin" pitchFamily="34" charset="-120"/>
              </a:rPr>
              <a:t>Best config (MOTA 0.356, IDF1 0.388) — but every tracker hits the same </a:t>
            </a:r>
            <a:pPr algn="l" indent="0" marL="0">
              <a:lnSpc>
                <a:spcPct val="150000"/>
              </a:lnSpc>
              <a:buNone/>
            </a:pPr>
            <a:r>
              <a:rPr lang="en-US" sz="1350" b="1" dirty="0">
                <a:solidFill>
                  <a:srgbClr val="F6F3EB"/>
                </a:solidFill>
                <a:latin typeface="Libre Franklin" pitchFamily="34" charset="0"/>
                <a:ea typeface="Libre Franklin" pitchFamily="34" charset="-122"/>
                <a:cs typeface="Libre Franklin" pitchFamily="34" charset="-120"/>
              </a:rPr>
              <a:t>~32k FN wall</a:t>
            </a:r>
            <a:pPr algn="l" indent="0" marL="0">
              <a:lnSpc>
                <a:spcPct val="150000"/>
              </a:lnSpc>
              <a:buNone/>
            </a:pPr>
            <a:r>
              <a:rPr lang="en-US" sz="1350" dirty="0">
                <a:solidFill>
                  <a:srgbClr val="C9C3B6"/>
                </a:solidFill>
                <a:latin typeface="Libre Franklin" pitchFamily="34" charset="0"/>
                <a:ea typeface="Libre Franklin" pitchFamily="34" charset="-122"/>
                <a:cs typeface="Libre Franklin" pitchFamily="34" charset="-120"/>
              </a:rPr>
              <a:t>, a detection ceiling.</a:t>
            </a:r>
            <a:endParaRPr lang="en-US" sz="1350" dirty="0"/>
          </a:p>
        </p:txBody>
      </p:sp>
      <p:sp>
        <p:nvSpPr>
          <p:cNvPr id="11" name="Shape 9"/>
          <p:cNvSpPr/>
          <p:nvPr/>
        </p:nvSpPr>
        <p:spPr>
          <a:xfrm>
            <a:off x="6572250" y="3900488"/>
            <a:ext cx="5143500" cy="3619500"/>
          </a:xfrm>
          <a:prstGeom prst="roundRect">
            <a:avLst>
              <a:gd name="adj" fmla="val 3684"/>
            </a:avLst>
          </a:prstGeom>
          <a:solidFill>
            <a:srgbClr val="F6F3EB">
              <a:alpha val="5000"/>
            </a:srgbClr>
          </a:solidFill>
          <a:ln w="9525">
            <a:solidFill>
              <a:srgbClr val="5A5446"/>
            </a:solidFill>
            <a:prstDash val="solid"/>
          </a:ln>
        </p:spPr>
      </p:sp>
      <p:sp>
        <p:nvSpPr>
          <p:cNvPr id="12" name="Text 10"/>
          <p:cNvSpPr/>
          <p:nvPr/>
        </p:nvSpPr>
        <p:spPr>
          <a:xfrm>
            <a:off x="6905625" y="4252913"/>
            <a:ext cx="4924425" cy="185738"/>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6FC79E"/>
                </a:solidFill>
                <a:latin typeface="Libre Franklin" pitchFamily="34" charset="0"/>
                <a:ea typeface="Libre Franklin" pitchFamily="34" charset="-122"/>
                <a:cs typeface="Libre Franklin" pitchFamily="34" charset="-120"/>
              </a:rPr>
              <a:t>DETECTION</a:t>
            </a:r>
            <a:endParaRPr lang="en-US" sz="975" dirty="0"/>
          </a:p>
        </p:txBody>
      </p:sp>
      <p:sp>
        <p:nvSpPr>
          <p:cNvPr id="13" name="Text 11"/>
          <p:cNvSpPr/>
          <p:nvPr/>
        </p:nvSpPr>
        <p:spPr>
          <a:xfrm>
            <a:off x="6905625" y="4533900"/>
            <a:ext cx="4924425"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dirty="0">
                <a:solidFill>
                  <a:srgbClr val="F6F3EB"/>
                </a:solidFill>
                <a:latin typeface="Newsreader" pitchFamily="34" charset="0"/>
                <a:ea typeface="Newsreader" pitchFamily="34" charset="-122"/>
                <a:cs typeface="Newsreader" pitchFamily="34" charset="-120"/>
              </a:rPr>
              <a:t>Ranking is unambiguous</a:t>
            </a:r>
            <a:endParaRPr lang="en-US" sz="2250" dirty="0"/>
          </a:p>
        </p:txBody>
      </p:sp>
      <p:sp>
        <p:nvSpPr>
          <p:cNvPr id="14" name="Text 12"/>
          <p:cNvSpPr/>
          <p:nvPr/>
        </p:nvSpPr>
        <p:spPr>
          <a:xfrm>
            <a:off x="6905625" y="6653213"/>
            <a:ext cx="4611052"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C9C3B6"/>
                </a:solidFill>
                <a:latin typeface="Libre Franklin" pitchFamily="34" charset="0"/>
                <a:ea typeface="Libre Franklin" pitchFamily="34" charset="-122"/>
                <a:cs typeface="Libre Franklin" pitchFamily="34" charset="-120"/>
              </a:rPr>
              <a:t>RF-DETR-L &gt; YOLO26-l@1024 &gt; -l@640 &gt; -s@640. </a:t>
            </a:r>
            <a:pPr algn="l" indent="0" marL="0">
              <a:lnSpc>
                <a:spcPct val="150000"/>
              </a:lnSpc>
              <a:buNone/>
            </a:pPr>
            <a:r>
              <a:rPr lang="en-US" sz="1350" b="1" dirty="0">
                <a:solidFill>
                  <a:srgbClr val="F6F3EB"/>
                </a:solidFill>
                <a:latin typeface="Libre Franklin" pitchFamily="34" charset="0"/>
                <a:ea typeface="Libre Franklin" pitchFamily="34" charset="-122"/>
                <a:cs typeface="Libre Franklin" pitchFamily="34" charset="-120"/>
              </a:rPr>
              <a:t>Size, resolution, transformer </a:t>
            </a:r>
            <a:pPr algn="l" indent="0" marL="0">
              <a:lnSpc>
                <a:spcPct val="150000"/>
              </a:lnSpc>
              <a:buNone/>
            </a:pPr>
            <a:r>
              <a:rPr lang="en-US" sz="1350" dirty="0">
                <a:solidFill>
                  <a:srgbClr val="C9C3B6"/>
                </a:solidFill>
                <a:latin typeface="Libre Franklin" pitchFamily="34" charset="0"/>
                <a:ea typeface="Libre Franklin" pitchFamily="34" charset="-122"/>
                <a:cs typeface="Libre Franklin" pitchFamily="34" charset="-120"/>
              </a:rPr>
              <a:t>— in that order of payoff.</a:t>
            </a:r>
            <a:endParaRPr lang="en-US" sz="1350" dirty="0"/>
          </a:p>
        </p:txBody>
      </p:sp>
      <p:sp>
        <p:nvSpPr>
          <p:cNvPr id="15" name="Shape 13"/>
          <p:cNvSpPr/>
          <p:nvPr/>
        </p:nvSpPr>
        <p:spPr>
          <a:xfrm>
            <a:off x="12001500" y="3900488"/>
            <a:ext cx="5143500" cy="3619500"/>
          </a:xfrm>
          <a:prstGeom prst="roundRect">
            <a:avLst>
              <a:gd name="adj" fmla="val 3684"/>
            </a:avLst>
          </a:prstGeom>
          <a:solidFill>
            <a:srgbClr val="C24A35">
              <a:alpha val="12000"/>
            </a:srgbClr>
          </a:solidFill>
          <a:ln w="9525">
            <a:solidFill>
              <a:srgbClr val="C24A35"/>
            </a:solidFill>
            <a:prstDash val="solid"/>
          </a:ln>
        </p:spPr>
      </p:sp>
      <p:sp>
        <p:nvSpPr>
          <p:cNvPr id="16" name="Text 14"/>
          <p:cNvSpPr/>
          <p:nvPr/>
        </p:nvSpPr>
        <p:spPr>
          <a:xfrm>
            <a:off x="12334875" y="4252913"/>
            <a:ext cx="4924425" cy="185738"/>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E8957F"/>
                </a:solidFill>
                <a:latin typeface="Libre Franklin" pitchFamily="34" charset="0"/>
                <a:ea typeface="Libre Franklin" pitchFamily="34" charset="-122"/>
                <a:cs typeface="Libre Franklin" pitchFamily="34" charset="-120"/>
              </a:rPr>
              <a:t>THE BINDING CONSTRAINT</a:t>
            </a:r>
            <a:endParaRPr lang="en-US" sz="975" dirty="0"/>
          </a:p>
        </p:txBody>
      </p:sp>
      <p:sp>
        <p:nvSpPr>
          <p:cNvPr id="17" name="Text 15"/>
          <p:cNvSpPr/>
          <p:nvPr/>
        </p:nvSpPr>
        <p:spPr>
          <a:xfrm>
            <a:off x="12334875" y="4533900"/>
            <a:ext cx="4924425"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dirty="0">
                <a:solidFill>
                  <a:srgbClr val="F6F3EB"/>
                </a:solidFill>
                <a:latin typeface="Newsreader" pitchFamily="34" charset="0"/>
                <a:ea typeface="Newsreader" pitchFamily="34" charset="-122"/>
                <a:cs typeface="Newsreader" pitchFamily="34" charset="-120"/>
              </a:rPr>
              <a:t>Missed detections &amp; Roe deer</a:t>
            </a:r>
            <a:endParaRPr lang="en-US" sz="2250" dirty="0"/>
          </a:p>
        </p:txBody>
      </p:sp>
      <p:sp>
        <p:nvSpPr>
          <p:cNvPr id="18" name="Text 16"/>
          <p:cNvSpPr/>
          <p:nvPr/>
        </p:nvSpPr>
        <p:spPr>
          <a:xfrm>
            <a:off x="12334875" y="6396038"/>
            <a:ext cx="4611052" cy="80962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D8C9C3"/>
                </a:solidFill>
                <a:latin typeface="Libre Franklin" pitchFamily="34" charset="0"/>
                <a:ea typeface="Libre Franklin" pitchFamily="34" charset="-122"/>
                <a:cs typeface="Libre Franklin" pitchFamily="34" charset="-120"/>
              </a:rPr>
              <a:t>Animals read as background, and Roe deer is effectively undetectable. </a:t>
            </a:r>
            <a:pPr algn="l" indent="0" marL="0">
              <a:lnSpc>
                <a:spcPct val="150000"/>
              </a:lnSpc>
              <a:buNone/>
            </a:pPr>
            <a:r>
              <a:rPr lang="en-US" sz="1350" b="1" dirty="0">
                <a:solidFill>
                  <a:srgbClr val="F6F3EB"/>
                </a:solidFill>
                <a:latin typeface="Libre Franklin" pitchFamily="34" charset="0"/>
                <a:ea typeface="Libre Franklin" pitchFamily="34" charset="-122"/>
                <a:cs typeface="Libre Franklin" pitchFamily="34" charset="-120"/>
              </a:rPr>
              <a:t>Class imbalance is the limit </a:t>
            </a:r>
            <a:pPr algn="l" indent="0" marL="0">
              <a:lnSpc>
                <a:spcPct val="150000"/>
              </a:lnSpc>
              <a:buNone/>
            </a:pPr>
            <a:r>
              <a:rPr lang="en-US" sz="1350" dirty="0">
                <a:solidFill>
                  <a:srgbClr val="D8C9C3"/>
                </a:solidFill>
                <a:latin typeface="Libre Franklin" pitchFamily="34" charset="0"/>
                <a:ea typeface="Libre Franklin" pitchFamily="34" charset="-122"/>
                <a:cs typeface="Libre Franklin" pitchFamily="34" charset="-120"/>
              </a:rPr>
              <a:t>, not the model.</a:t>
            </a:r>
            <a:endParaRPr lang="en-US" sz="1350" dirty="0"/>
          </a:p>
        </p:txBody>
      </p:sp>
      <p:sp>
        <p:nvSpPr>
          <p:cNvPr id="19" name="Text 17"/>
          <p:cNvSpPr/>
          <p:nvPr/>
        </p:nvSpPr>
        <p:spPr>
          <a:xfrm>
            <a:off x="1143000" y="9710738"/>
            <a:ext cx="1844859"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6E6757"/>
                </a:solidFill>
                <a:latin typeface="Libre Franklin" pitchFamily="34" charset="0"/>
                <a:ea typeface="Libre Franklin" pitchFamily="34" charset="-122"/>
                <a:cs typeface="Libre Franklin" pitchFamily="34" charset="-120"/>
              </a:rPr>
              <a:t>BAMBI WILDLIFE MOT</a:t>
            </a:r>
            <a:endParaRPr lang="en-US" sz="900" dirty="0"/>
          </a:p>
        </p:txBody>
      </p:sp>
      <p:sp>
        <p:nvSpPr>
          <p:cNvPr id="20" name="Text 18"/>
          <p:cNvSpPr/>
          <p:nvPr/>
        </p:nvSpPr>
        <p:spPr>
          <a:xfrm>
            <a:off x="15177195" y="9710738"/>
            <a:ext cx="2164586" cy="176212"/>
          </a:xfrm>
          <a:prstGeom prst="rect">
            <a:avLst/>
          </a:prstGeom>
          <a:noFill/>
          <a:ln/>
        </p:spPr>
        <p:txBody>
          <a:bodyPr wrap="square" lIns="25400" tIns="25400" rIns="25400" bIns="25400" rtlCol="0" anchor="t">
            <a:normAutofit/>
          </a:bodyPr>
          <a:lstStyle/>
          <a:p>
            <a:pPr algn="l" indent="0" marL="0">
              <a:buNone/>
            </a:pPr>
            <a:r>
              <a:rPr lang="en-US" sz="900" b="1" spc="180" kern="0" dirty="0">
                <a:solidFill>
                  <a:srgbClr val="6E6757"/>
                </a:solidFill>
                <a:latin typeface="Libre Franklin" pitchFamily="34" charset="0"/>
                <a:ea typeface="Libre Franklin" pitchFamily="34" charset="-122"/>
                <a:cs typeface="Libre Franklin" pitchFamily="34" charset="-120"/>
              </a:rPr>
              <a:t>FH OÖ HAGENBERG · CIV4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B"/>
        </a:solidFill>
      </p:bgPr>
    </p:bg>
    <p:spTree>
      <p:nvGrpSpPr>
        <p:cNvPr id="1" name=""/>
        <p:cNvGrpSpPr/>
        <p:nvPr/>
      </p:nvGrpSpPr>
      <p:grpSpPr>
        <a:xfrm>
          <a:off x="0" y="0"/>
          <a:ext cx="0" cy="0"/>
          <a:chOff x="0" y="0"/>
          <a:chExt cx="0" cy="0"/>
        </a:xfrm>
      </p:grpSpPr>
      <p:sp>
        <p:nvSpPr>
          <p:cNvPr id="2" name="Shape 0"/>
          <p:cNvSpPr/>
          <p:nvPr/>
        </p:nvSpPr>
        <p:spPr>
          <a:xfrm>
            <a:off x="1143000" y="1123950"/>
            <a:ext cx="16002000" cy="9525"/>
          </a:xfrm>
          <a:prstGeom prst="rect">
            <a:avLst/>
          </a:prstGeom>
          <a:solidFill>
            <a:srgbClr val="1A1814"/>
          </a:solidFill>
          <a:ln/>
        </p:spPr>
      </p:sp>
      <p:sp>
        <p:nvSpPr>
          <p:cNvPr id="3" name="Text 1"/>
          <p:cNvSpPr/>
          <p:nvPr/>
        </p:nvSpPr>
        <p:spPr>
          <a:xfrm>
            <a:off x="1143000" y="800100"/>
            <a:ext cx="30063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16</a:t>
            </a:r>
            <a:endParaRPr lang="en-US" sz="1125" dirty="0"/>
          </a:p>
        </p:txBody>
      </p:sp>
      <p:sp>
        <p:nvSpPr>
          <p:cNvPr id="4" name="Text 2"/>
          <p:cNvSpPr/>
          <p:nvPr/>
        </p:nvSpPr>
        <p:spPr>
          <a:xfrm>
            <a:off x="1500783" y="800100"/>
            <a:ext cx="155823"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C2BAA8"/>
                </a:solidFill>
                <a:latin typeface="Libre Franklin" pitchFamily="34" charset="0"/>
                <a:ea typeface="Libre Franklin" pitchFamily="34" charset="-122"/>
                <a:cs typeface="Libre Franklin" pitchFamily="34" charset="-120"/>
              </a:rPr>
              <a:t>/</a:t>
            </a:r>
            <a:endParaRPr lang="en-US" sz="1125" dirty="0"/>
          </a:p>
        </p:txBody>
      </p:sp>
      <p:sp>
        <p:nvSpPr>
          <p:cNvPr id="5" name="Text 3"/>
          <p:cNvSpPr/>
          <p:nvPr/>
        </p:nvSpPr>
        <p:spPr>
          <a:xfrm>
            <a:off x="1713756" y="800100"/>
            <a:ext cx="1528651"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1A1814"/>
                </a:solidFill>
                <a:latin typeface="Libre Franklin" pitchFamily="34" charset="0"/>
                <a:ea typeface="Libre Franklin" pitchFamily="34" charset="-122"/>
                <a:cs typeface="Libre Franklin" pitchFamily="34" charset="-120"/>
              </a:rPr>
              <a:t>FUTURE WORK</a:t>
            </a:r>
            <a:endParaRPr lang="en-US" sz="1125" dirty="0"/>
          </a:p>
        </p:txBody>
      </p:sp>
      <p:sp>
        <p:nvSpPr>
          <p:cNvPr id="6" name="Text 4"/>
          <p:cNvSpPr/>
          <p:nvPr/>
        </p:nvSpPr>
        <p:spPr>
          <a:xfrm>
            <a:off x="1143000" y="1381125"/>
            <a:ext cx="1760220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63" kern="0" dirty="0">
                <a:solidFill>
                  <a:srgbClr val="1A1814"/>
                </a:solidFill>
                <a:latin typeface="Newsreader" pitchFamily="34" charset="0"/>
                <a:ea typeface="Newsreader" pitchFamily="34" charset="-122"/>
                <a:cs typeface="Newsreader" pitchFamily="34" charset="-120"/>
              </a:rPr>
              <a:t>Where we go next</a:t>
            </a:r>
            <a:endParaRPr lang="en-US" sz="4200" dirty="0"/>
          </a:p>
        </p:txBody>
      </p:sp>
      <p:sp>
        <p:nvSpPr>
          <p:cNvPr id="7" name="Shape 5"/>
          <p:cNvSpPr/>
          <p:nvPr/>
        </p:nvSpPr>
        <p:spPr>
          <a:xfrm>
            <a:off x="1143000" y="2295525"/>
            <a:ext cx="5168875" cy="1449586"/>
          </a:xfrm>
          <a:prstGeom prst="roundRect">
            <a:avLst>
              <a:gd name="adj" fmla="val 919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8" name="Text 6"/>
          <p:cNvSpPr/>
          <p:nvPr/>
        </p:nvSpPr>
        <p:spPr>
          <a:xfrm>
            <a:off x="1457325" y="2609850"/>
            <a:ext cx="4994248"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Attack class imbalance</a:t>
            </a:r>
            <a:endParaRPr lang="en-US" sz="1800" dirty="0"/>
          </a:p>
        </p:txBody>
      </p:sp>
      <p:sp>
        <p:nvSpPr>
          <p:cNvPr id="9" name="Text 7"/>
          <p:cNvSpPr/>
          <p:nvPr/>
        </p:nvSpPr>
        <p:spPr>
          <a:xfrm>
            <a:off x="1457325" y="2933700"/>
            <a:ext cx="4676432"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Oversample / augment Roe &amp; Red deer or add a class-balanced loss — the single highest-leverage fix.</a:t>
            </a:r>
            <a:endParaRPr lang="en-US" sz="1350" dirty="0"/>
          </a:p>
        </p:txBody>
      </p:sp>
      <p:sp>
        <p:nvSpPr>
          <p:cNvPr id="10" name="Shape 8"/>
          <p:cNvSpPr/>
          <p:nvPr/>
        </p:nvSpPr>
        <p:spPr>
          <a:xfrm>
            <a:off x="6559525" y="2295525"/>
            <a:ext cx="5168875" cy="1449586"/>
          </a:xfrm>
          <a:prstGeom prst="roundRect">
            <a:avLst>
              <a:gd name="adj" fmla="val 919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1" name="Text 9"/>
          <p:cNvSpPr/>
          <p:nvPr/>
        </p:nvSpPr>
        <p:spPr>
          <a:xfrm>
            <a:off x="6873850" y="2609850"/>
            <a:ext cx="4994248"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Push detection further</a:t>
            </a:r>
            <a:endParaRPr lang="en-US" sz="1800" dirty="0"/>
          </a:p>
        </p:txBody>
      </p:sp>
      <p:sp>
        <p:nvSpPr>
          <p:cNvPr id="12" name="Text 10"/>
          <p:cNvSpPr/>
          <p:nvPr/>
        </p:nvSpPr>
        <p:spPr>
          <a:xfrm>
            <a:off x="6873850" y="2933700"/>
            <a:ext cx="4676432"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Heavy thermal-contrast augmentation, longer schedules, and finish the RF-DETR-S &amp; full RF-DETR-L runs.</a:t>
            </a:r>
            <a:endParaRPr lang="en-US" sz="1350" dirty="0"/>
          </a:p>
        </p:txBody>
      </p:sp>
      <p:sp>
        <p:nvSpPr>
          <p:cNvPr id="13" name="Shape 11"/>
          <p:cNvSpPr/>
          <p:nvPr/>
        </p:nvSpPr>
        <p:spPr>
          <a:xfrm>
            <a:off x="11976050" y="2295525"/>
            <a:ext cx="5168950" cy="1449586"/>
          </a:xfrm>
          <a:prstGeom prst="roundRect">
            <a:avLst>
              <a:gd name="adj" fmla="val 9199"/>
            </a:avLst>
          </a:prstGeom>
          <a:solidFill>
            <a:srgbClr val="FFFFFF"/>
          </a:solidFill>
          <a:ln w="9525">
            <a:solidFill>
              <a:srgbClr val="DCD5C4"/>
            </a:solidFill>
            <a:prstDash val="solid"/>
          </a:ln>
          <a:effectLst>
            <a:outerShdw sx="100000" sy="100000" kx="0" ky="0" algn="bl" rotWithShape="0" blurRad="28575" dist="9525" dir="5400000">
              <a:srgbClr val="1A1814">
                <a:alpha val="5000"/>
              </a:srgbClr>
            </a:outerShdw>
          </a:effectLst>
        </p:spPr>
      </p:sp>
      <p:sp>
        <p:nvSpPr>
          <p:cNvPr id="14" name="Text 12"/>
          <p:cNvSpPr/>
          <p:nvPr/>
        </p:nvSpPr>
        <p:spPr>
          <a:xfrm>
            <a:off x="12290375" y="2609850"/>
            <a:ext cx="4994330" cy="266700"/>
          </a:xfrm>
          <a:prstGeom prst="rect">
            <a:avLst/>
          </a:prstGeom>
          <a:noFill/>
          <a:ln/>
        </p:spPr>
        <p:txBody>
          <a:bodyPr wrap="square" lIns="25400" tIns="25400" rIns="25400" bIns="25400" rtlCol="0" anchor="t">
            <a:normAutofit/>
          </a:bodyPr>
          <a:lstStyle/>
          <a:p>
            <a:pPr algn="l" indent="0" marL="0">
              <a:buNone/>
            </a:pPr>
            <a:r>
              <a:rPr lang="en-US" sz="1800" b="1" dirty="0">
                <a:solidFill>
                  <a:srgbClr val="0F7A57"/>
                </a:solidFill>
                <a:latin typeface="Newsreader" pitchFamily="34" charset="0"/>
                <a:ea typeface="Newsreader" pitchFamily="34" charset="-122"/>
                <a:cs typeface="Newsreader" pitchFamily="34" charset="-120"/>
              </a:rPr>
              <a:t>Close the loop</a:t>
            </a:r>
            <a:endParaRPr lang="en-US" sz="1800" dirty="0"/>
          </a:p>
        </p:txBody>
      </p:sp>
      <p:sp>
        <p:nvSpPr>
          <p:cNvPr id="15" name="Text 13"/>
          <p:cNvSpPr/>
          <p:nvPr/>
        </p:nvSpPr>
        <p:spPr>
          <a:xfrm>
            <a:off x="12290375" y="2933700"/>
            <a:ext cx="4676509"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6E6757"/>
                </a:solidFill>
                <a:latin typeface="Libre Franklin" pitchFamily="34" charset="0"/>
                <a:ea typeface="Libre Franklin" pitchFamily="34" charset="-122"/>
                <a:cs typeface="Libre Franklin" pitchFamily="34" charset="-120"/>
              </a:rPr>
              <a:t>Feed the best detector into BoT-SORT + ReID to attack the ~32k false-negative floor.</a:t>
            </a:r>
            <a:endParaRPr lang="en-US" sz="1350" dirty="0"/>
          </a:p>
        </p:txBody>
      </p:sp>
      <p:sp>
        <p:nvSpPr>
          <p:cNvPr id="16" name="Shape 14"/>
          <p:cNvSpPr/>
          <p:nvPr/>
        </p:nvSpPr>
        <p:spPr>
          <a:xfrm>
            <a:off x="1143000" y="7947720"/>
            <a:ext cx="16002000" cy="28575"/>
          </a:xfrm>
          <a:prstGeom prst="rect">
            <a:avLst/>
          </a:prstGeom>
          <a:solidFill>
            <a:srgbClr val="1A1814"/>
          </a:solidFill>
          <a:ln/>
        </p:spPr>
      </p:sp>
      <p:sp>
        <p:nvSpPr>
          <p:cNvPr id="17" name="Text 15"/>
          <p:cNvSpPr/>
          <p:nvPr/>
        </p:nvSpPr>
        <p:spPr>
          <a:xfrm>
            <a:off x="1143000" y="8262045"/>
            <a:ext cx="9429750" cy="209550"/>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F7A57"/>
                </a:solidFill>
                <a:latin typeface="Libre Franklin" pitchFamily="34" charset="0"/>
                <a:ea typeface="Libre Franklin" pitchFamily="34" charset="-122"/>
                <a:cs typeface="Libre Franklin" pitchFamily="34" charset="-120"/>
              </a:rPr>
              <a:t>THANK YOU</a:t>
            </a:r>
            <a:endParaRPr lang="en-US" sz="1125" dirty="0"/>
          </a:p>
        </p:txBody>
      </p:sp>
      <p:sp>
        <p:nvSpPr>
          <p:cNvPr id="18" name="Text 16"/>
          <p:cNvSpPr/>
          <p:nvPr/>
        </p:nvSpPr>
        <p:spPr>
          <a:xfrm>
            <a:off x="1143000" y="8566845"/>
            <a:ext cx="8829675" cy="958155"/>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1A1814"/>
                </a:solidFill>
                <a:latin typeface="Newsreader" pitchFamily="34" charset="0"/>
                <a:ea typeface="Newsreader" pitchFamily="34" charset="-122"/>
                <a:cs typeface="Newsreader" pitchFamily="34" charset="-120"/>
              </a:rPr>
              <a:t>Detection — not tracking — is the bottleneck on thermal aerial wildlife.</a:t>
            </a:r>
            <a:endParaRPr lang="en-US" sz="3450" dirty="0"/>
          </a:p>
        </p:txBody>
      </p:sp>
      <p:sp>
        <p:nvSpPr>
          <p:cNvPr id="19" name="Text 17"/>
          <p:cNvSpPr/>
          <p:nvPr/>
        </p:nvSpPr>
        <p:spPr>
          <a:xfrm>
            <a:off x="14967421" y="8805863"/>
            <a:ext cx="2177579" cy="457200"/>
          </a:xfrm>
          <a:prstGeom prst="rect">
            <a:avLst/>
          </a:prstGeom>
          <a:noFill/>
          <a:ln/>
        </p:spPr>
        <p:txBody>
          <a:bodyPr wrap="square" lIns="25400" tIns="25400" rIns="25400" bIns="25400" rtlCol="0" anchor="t">
            <a:normAutofit/>
          </a:bodyPr>
          <a:lstStyle/>
          <a:p>
            <a:pPr algn="r" indent="0" marL="0">
              <a:buNone/>
            </a:pPr>
            <a:r>
              <a:rPr lang="en-US" sz="1650" i="1" dirty="0">
                <a:solidFill>
                  <a:srgbClr val="8A8373"/>
                </a:solidFill>
                <a:latin typeface="Newsreader" pitchFamily="34" charset="0"/>
                <a:ea typeface="Newsreader" pitchFamily="34" charset="-122"/>
                <a:cs typeface="Newsreader" pitchFamily="34" charset="-120"/>
              </a:rPr>
              <a:t>By </a:t>
            </a:r>
            <a:pPr algn="r" indent="0" marL="0">
              <a:buNone/>
            </a:pPr>
            <a:r>
              <a:rPr lang="en-US" sz="1650" dirty="0">
                <a:solidFill>
                  <a:srgbClr val="1A1814"/>
                </a:solidFill>
                <a:latin typeface="Newsreader" pitchFamily="34" charset="0"/>
                <a:ea typeface="Newsreader" pitchFamily="34" charset="-122"/>
                <a:cs typeface="Newsreader" pitchFamily="34" charset="-120"/>
              </a:rPr>
              <a:t>Yasin · Ghaderian Danjuma · Buinitskii</a:t>
            </a:r>
            <a:endParaRPr lang="en-US" sz="1650" dirty="0"/>
          </a:p>
        </p:txBody>
      </p:sp>
      <p:sp>
        <p:nvSpPr>
          <p:cNvPr id="20" name="Text 18"/>
          <p:cNvSpPr/>
          <p:nvPr/>
        </p:nvSpPr>
        <p:spPr>
          <a:xfrm>
            <a:off x="14833483" y="9339263"/>
            <a:ext cx="2311517" cy="185738"/>
          </a:xfrm>
          <a:prstGeom prst="rect">
            <a:avLst/>
          </a:prstGeom>
          <a:noFill/>
          <a:ln/>
        </p:spPr>
        <p:txBody>
          <a:bodyPr wrap="square" lIns="25400" tIns="25400" rIns="25400" bIns="25400" rtlCol="0" anchor="t">
            <a:normAutofit/>
          </a:bodyPr>
          <a:lstStyle/>
          <a:p>
            <a:pPr algn="r" indent="0" marL="0">
              <a:buNone/>
            </a:pPr>
            <a:r>
              <a:rPr lang="en-US" sz="975" spc="195" kern="0" dirty="0">
                <a:solidFill>
                  <a:srgbClr val="8A8373"/>
                </a:solidFill>
                <a:latin typeface="Libre Franklin" pitchFamily="34" charset="0"/>
                <a:ea typeface="Libre Franklin" pitchFamily="34" charset="-122"/>
                <a:cs typeface="Libre Franklin" pitchFamily="34" charset="-120"/>
              </a:rPr>
              <a:t>FH OÖ HAGENBERG · CIV4</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2026-06-21T12:18:18Z</dcterms:created>
  <dcterms:modified xsi:type="dcterms:W3CDTF">2026-06-21T12:18:18Z</dcterms:modified>
</cp:coreProperties>
</file>